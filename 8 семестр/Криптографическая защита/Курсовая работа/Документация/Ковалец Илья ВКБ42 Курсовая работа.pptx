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2" r:id="rId6"/>
    <p:sldId id="260" r:id="rId7"/>
    <p:sldId id="265" r:id="rId8"/>
    <p:sldId id="266" r:id="rId9"/>
    <p:sldId id="263" r:id="rId10"/>
    <p:sldId id="267" r:id="rId11"/>
    <p:sldId id="264" r:id="rId12"/>
  </p:sldIdLst>
  <p:sldSz cx="9144000" cy="5143500" type="screen16x9"/>
  <p:notesSz cx="6858000" cy="9144000"/>
  <p:embeddedFontLst>
    <p:embeddedFont>
      <p:font typeface="Montserrat" panose="00000500000000000000" pitchFamily="2" charset="-52"/>
      <p:regular r:id="rId14"/>
      <p:bold r:id="rId15"/>
      <p:italic r:id="rId16"/>
      <p:boldItalic r:id="rId17"/>
    </p:embeddedFont>
    <p:embeddedFont>
      <p:font typeface="Montserrat ExtraBold" panose="00000900000000000000" pitchFamily="2" charset="-52"/>
      <p:bold r:id="rId18"/>
      <p:boldItalic r:id="rId19"/>
    </p:embeddedFont>
    <p:embeddedFont>
      <p:font typeface="Montserrat ExtraLight" panose="00000300000000000000" pitchFamily="2" charset="-52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B8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8C818E-1582-44B4-9038-F3F28A22BE85}">
  <a:tblStyle styleId="{7A8C818E-1582-44B4-9038-F3F28A22BE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2902334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2902334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ubTitle" idx="1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ubTitle" idx="1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title" idx="2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3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ubTitle" idx="1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title" idx="2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3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5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6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1431684" y="1627724"/>
            <a:ext cx="6280631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/>
              <a:t>Программная реализация шифра Энигма</a:t>
            </a:r>
            <a:endParaRPr sz="3200"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2044199" y="2685507"/>
            <a:ext cx="5055600" cy="14346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Выполнил: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студент группы ВКБ42 Ковалец И. А.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ru-RU" b="1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Проверили: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зав. кафедрой Сафарьян О. А.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ст. преподаватель Алферова И. А.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941649" y="4533268"/>
            <a:ext cx="3260700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г. Ростов-на-Дону</a:t>
            </a:r>
            <a:br>
              <a:rPr lang="ru-RU" sz="16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</a:br>
            <a:r>
              <a:rPr lang="ru-RU" sz="16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2026</a:t>
            </a:r>
            <a:endParaRPr sz="1600" b="0"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Объект</a:t>
            </a:r>
            <a:r>
              <a:rPr lang="en-US" dirty="0"/>
              <a:t>,</a:t>
            </a:r>
            <a:r>
              <a:rPr lang="ru-RU" dirty="0"/>
              <a:t> предмет и цели работы</a:t>
            </a:r>
            <a:endParaRPr dirty="0"/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606622" y="1051800"/>
            <a:ext cx="8303771" cy="38672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2"/>
                </a:solidFill>
                <a:latin typeface="Montserrat ExtraBold" panose="00000900000000000000" pitchFamily="2" charset="-52"/>
              </a:rPr>
              <a:t>Объектом</a:t>
            </a:r>
            <a:r>
              <a:rPr lang="ru-RU" sz="1200" dirty="0"/>
              <a:t> курсовой работы является формальный период развития криптографии, в частности шифровальная машина Энигма в её трёхроторной модификации, включая механизмы поворота роторов, защёлки, двойного шага, а также коммутационную панель и рефлектор.</a:t>
            </a:r>
          </a:p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2"/>
                </a:solidFill>
                <a:latin typeface="Montserrat ExtraBold" panose="00000900000000000000" pitchFamily="2" charset="-52"/>
              </a:rPr>
              <a:t>Предметом</a:t>
            </a:r>
            <a:r>
              <a:rPr lang="ru-RU" sz="1200"/>
              <a:t> является изучение истории и разработка программного средства – симулятора шифровальной машины Энигма, позволяющего выполнять шифрование и дешифрование сообщений с настраиваемыми параметрами и визуализировать процесс. </a:t>
            </a:r>
            <a:endParaRPr lang="ru-RU" sz="1200" dirty="0"/>
          </a:p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2"/>
                </a:solidFill>
                <a:latin typeface="Montserrat ExtraBold" panose="00000900000000000000" pitchFamily="2" charset="-52"/>
              </a:rPr>
              <a:t>Целью</a:t>
            </a:r>
            <a:r>
              <a:rPr lang="ru-RU" sz="1200" dirty="0"/>
              <a:t> является разработка программного средства, демонстрирующего работу трёхроторной машины Энигма с поддержкой полной механики, обеспечивающего корректное шифрование и дешифрование текста, а также наглядное отображение текущего состояния роторов.</a:t>
            </a:r>
          </a:p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Для достижения поставленной цели были решены следующие </a:t>
            </a:r>
            <a:r>
              <a:rPr lang="ru-RU" sz="1200" dirty="0">
                <a:solidFill>
                  <a:schemeClr val="tx2"/>
                </a:solidFill>
                <a:latin typeface="Montserrat ExtraBold" panose="00000900000000000000" pitchFamily="2" charset="-52"/>
              </a:rPr>
              <a:t>задачи</a:t>
            </a:r>
            <a:r>
              <a:rPr lang="ru-RU" sz="1200" dirty="0"/>
              <a:t>:</a:t>
            </a:r>
            <a:endParaRPr lang="ru-RU" sz="1200" dirty="0">
              <a:solidFill>
                <a:schemeClr val="tx2"/>
              </a:solidFill>
            </a:endParaRPr>
          </a:p>
          <a:p>
            <a:pPr marL="685800" lvl="1" indent="-2286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Провелся теоретический анализ устройства и принципов работы шифровальной машины Энигма: роторы, рефлектор, шаговый механизм, коммутационная панель;</a:t>
            </a:r>
          </a:p>
          <a:p>
            <a:pPr marL="685800" lvl="1" indent="-2286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Разработано программное приложение, реализующее шифрование и дешифрование на основе трёхроторной модели Энигмы с поддержкой настройки всех ключевых параметров;</a:t>
            </a:r>
          </a:p>
          <a:p>
            <a:pPr marL="685800" lvl="1" indent="-2286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Проверено программное средство на работоспособность, продемонстрировав корректность шифрования и дешифрования на тестовых примерах;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cxnSp>
        <p:nvCxnSpPr>
          <p:cNvPr id="172" name="Google Shape;172;p3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>
            <a:spLocks noGrp="1"/>
          </p:cNvSpPr>
          <p:nvPr>
            <p:ph type="ctrTitle"/>
          </p:nvPr>
        </p:nvSpPr>
        <p:spPr>
          <a:xfrm>
            <a:off x="4218755" y="250644"/>
            <a:ext cx="4671615" cy="644700"/>
          </a:xfrm>
          <a:prstGeom prst="rect">
            <a:avLst/>
          </a:prstGeom>
          <a:effectLst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dirty="0">
                <a:solidFill>
                  <a:schemeClr val="tx2"/>
                </a:solidFill>
              </a:rPr>
              <a:t>Актуальность работы</a:t>
            </a:r>
            <a:endParaRPr sz="2800" b="0" dirty="0"/>
          </a:p>
        </p:txBody>
      </p:sp>
      <p:sp>
        <p:nvSpPr>
          <p:cNvPr id="6" name="Google Shape;171;p39">
            <a:extLst>
              <a:ext uri="{FF2B5EF4-FFF2-40B4-BE49-F238E27FC236}">
                <a16:creationId xmlns:a16="http://schemas.microsoft.com/office/drawing/2014/main" id="{0377378C-DAB6-E92C-EF5C-46C25C0F5CE9}"/>
              </a:ext>
            </a:extLst>
          </p:cNvPr>
          <p:cNvSpPr txBox="1">
            <a:spLocks/>
          </p:cNvSpPr>
          <p:nvPr/>
        </p:nvSpPr>
        <p:spPr>
          <a:xfrm>
            <a:off x="3900967" y="1081470"/>
            <a:ext cx="4989403" cy="386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1" indent="0" algn="l">
              <a:spcAft>
                <a:spcPts val="600"/>
              </a:spcAft>
            </a:pPr>
            <a:r>
              <a:rPr lang="ru-RU" sz="1200" dirty="0"/>
              <a:t>Актуальность данной работы обусловлена непреходящим значением исторического опыта для развития современных систем защиты информации. Шифровальная машина «Энигма» представляет собой не просто исторический артефакт, а сложную криптографическую систему, анализ которой позволяет проследить эволюцию принципов симметричного шифрования и методов криптоанализа. </a:t>
            </a:r>
          </a:p>
          <a:p>
            <a:pPr marL="0" lvl="1" indent="0" algn="l">
              <a:spcAft>
                <a:spcPts val="600"/>
              </a:spcAft>
            </a:pPr>
            <a:r>
              <a:rPr lang="ru-RU" sz="1200" dirty="0"/>
              <a:t>Изучение её устройства и программная реконструкция механизмов работы дают возможность наглядно продемонстрировать классические подходы к обеспечению конфиденциальности, а также понять природу уязвимостей, которые необходимо учитывать при проектировании современных криптосистем.</a:t>
            </a:r>
          </a:p>
        </p:txBody>
      </p:sp>
      <p:cxnSp>
        <p:nvCxnSpPr>
          <p:cNvPr id="2" name="Google Shape;216;p44">
            <a:extLst>
              <a:ext uri="{FF2B5EF4-FFF2-40B4-BE49-F238E27FC236}">
                <a16:creationId xmlns:a16="http://schemas.microsoft.com/office/drawing/2014/main" id="{BC79298B-45BC-959A-7293-01DE7A297A79}"/>
              </a:ext>
            </a:extLst>
          </p:cNvPr>
          <p:cNvCxnSpPr/>
          <p:nvPr/>
        </p:nvCxnSpPr>
        <p:spPr>
          <a:xfrm>
            <a:off x="5930709" y="269811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2249851" y="1657235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4739898" y="2502110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WinForms</a:t>
            </a:r>
            <a:endParaRPr dirty="0"/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2249848" y="2502110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C#</a:t>
            </a:r>
            <a:endParaRPr dirty="0"/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4739901" y="1657235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187" name="Google Shape;187;p40"/>
          <p:cNvCxnSpPr/>
          <p:nvPr/>
        </p:nvCxnSpPr>
        <p:spPr>
          <a:xfrm>
            <a:off x="3084751" y="2432695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5574801" y="2432695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194;p41">
            <a:extLst>
              <a:ext uri="{FF2B5EF4-FFF2-40B4-BE49-F238E27FC236}">
                <a16:creationId xmlns:a16="http://schemas.microsoft.com/office/drawing/2014/main" id="{821A86CF-22FE-8D1C-0983-4185B321EFB7}"/>
              </a:ext>
            </a:extLst>
          </p:cNvPr>
          <p:cNvSpPr txBox="1">
            <a:spLocks/>
          </p:cNvSpPr>
          <p:nvPr/>
        </p:nvSpPr>
        <p:spPr>
          <a:xfrm>
            <a:off x="854327" y="743163"/>
            <a:ext cx="7435339" cy="6447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u-RU" sz="2800" dirty="0">
                <a:solidFill>
                  <a:schemeClr val="tx2"/>
                </a:solidFill>
              </a:rPr>
              <a:t>Используемый стек технологий</a:t>
            </a:r>
            <a:endParaRPr lang="ru-RU" sz="2800" dirty="0"/>
          </a:p>
        </p:txBody>
      </p:sp>
      <p:pic>
        <p:nvPicPr>
          <p:cNvPr id="9" name="Рисунок 8" descr="Picture background">
            <a:extLst>
              <a:ext uri="{FF2B5EF4-FFF2-40B4-BE49-F238E27FC236}">
                <a16:creationId xmlns:a16="http://schemas.microsoft.com/office/drawing/2014/main" id="{04DDABBE-7A58-A7F3-5D1C-2CA9A3B62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656" y="3119924"/>
            <a:ext cx="1283943" cy="1445774"/>
          </a:xfrm>
          <a:prstGeom prst="rect">
            <a:avLst/>
          </a:prstGeom>
        </p:spPr>
      </p:pic>
      <p:pic>
        <p:nvPicPr>
          <p:cNvPr id="17" name="Рисунок 16" descr="Picture background">
            <a:extLst>
              <a:ext uri="{FF2B5EF4-FFF2-40B4-BE49-F238E27FC236}">
                <a16:creationId xmlns:a16="http://schemas.microsoft.com/office/drawing/2014/main" id="{731C103A-E80F-28CE-CAFC-EF0A96FBF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014" y="3119924"/>
            <a:ext cx="1448773" cy="14487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136718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1"/>
                </a:solidFill>
              </a:rPr>
              <a:t>Архитектура программной реализации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879ED8-66A5-FDBC-FC47-4A2D23DBE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019" y="319522"/>
            <a:ext cx="1501485" cy="45044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25F62E-A0EE-99CB-9E5B-1AF8E9F9A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218" y="1438645"/>
            <a:ext cx="3582426" cy="3290833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4F40BD45-CCF0-9BAD-06F9-365B44536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>
            <a:spLocks noGrp="1"/>
          </p:cNvSpPr>
          <p:nvPr>
            <p:ph type="subTitle" idx="1"/>
          </p:nvPr>
        </p:nvSpPr>
        <p:spPr>
          <a:xfrm>
            <a:off x="2186521" y="4504356"/>
            <a:ext cx="4770955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Страница настройки параметров машины</a:t>
            </a:r>
            <a:endParaRPr b="1" dirty="0"/>
          </a:p>
        </p:txBody>
      </p:sp>
      <p:sp>
        <p:nvSpPr>
          <p:cNvPr id="4" name="Google Shape;194;p41">
            <a:extLst>
              <a:ext uri="{FF2B5EF4-FFF2-40B4-BE49-F238E27FC236}">
                <a16:creationId xmlns:a16="http://schemas.microsoft.com/office/drawing/2014/main" id="{9EB697BA-2526-375B-D58E-EA6C1C9D812E}"/>
              </a:ext>
            </a:extLst>
          </p:cNvPr>
          <p:cNvSpPr txBox="1">
            <a:spLocks/>
          </p:cNvSpPr>
          <p:nvPr/>
        </p:nvSpPr>
        <p:spPr>
          <a:xfrm>
            <a:off x="2299855" y="250644"/>
            <a:ext cx="6590515" cy="6447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sz="3000" b="1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u-RU" sz="2800" b="0" dirty="0">
                <a:solidFill>
                  <a:schemeClr val="tx2"/>
                </a:solidFill>
              </a:rPr>
              <a:t>Результаты работы программы</a:t>
            </a:r>
            <a:endParaRPr lang="ru-RU" sz="2800" b="0" dirty="0"/>
          </a:p>
        </p:txBody>
      </p:sp>
      <p:cxnSp>
        <p:nvCxnSpPr>
          <p:cNvPr id="5" name="Google Shape;216;p44">
            <a:extLst>
              <a:ext uri="{FF2B5EF4-FFF2-40B4-BE49-F238E27FC236}">
                <a16:creationId xmlns:a16="http://schemas.microsoft.com/office/drawing/2014/main" id="{67502F36-DD23-1617-2521-C7B7C61F96B6}"/>
              </a:ext>
            </a:extLst>
          </p:cNvPr>
          <p:cNvCxnSpPr/>
          <p:nvPr/>
        </p:nvCxnSpPr>
        <p:spPr>
          <a:xfrm>
            <a:off x="5930709" y="269811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F789C9-4273-53B4-B4DD-17C9D914C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211" y="914511"/>
            <a:ext cx="5209577" cy="34908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EBCE410-2A8E-2E01-BB43-6054F6209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09" y="313407"/>
            <a:ext cx="4629300" cy="941400"/>
          </a:xfrm>
        </p:spPr>
        <p:txBody>
          <a:bodyPr/>
          <a:lstStyle/>
          <a:p>
            <a:r>
              <a:rPr lang="ru-RU" dirty="0"/>
              <a:t>Полное шифрование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D83C30-0F32-1D94-E211-4D3A4BB16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509" y="1060592"/>
            <a:ext cx="5579962" cy="3715762"/>
          </a:xfrm>
          <a:prstGeom prst="rect">
            <a:avLst/>
          </a:prstGeom>
        </p:spPr>
      </p:pic>
      <p:cxnSp>
        <p:nvCxnSpPr>
          <p:cNvPr id="8" name="Google Shape;222;p45">
            <a:extLst>
              <a:ext uri="{FF2B5EF4-FFF2-40B4-BE49-F238E27FC236}">
                <a16:creationId xmlns:a16="http://schemas.microsoft.com/office/drawing/2014/main" id="{110283C5-E5F8-4A7F-CA36-C23E17A9082A}"/>
              </a:ext>
            </a:extLst>
          </p:cNvPr>
          <p:cNvCxnSpPr/>
          <p:nvPr/>
        </p:nvCxnSpPr>
        <p:spPr>
          <a:xfrm>
            <a:off x="541291" y="325647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440422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4;p41">
            <a:extLst>
              <a:ext uri="{FF2B5EF4-FFF2-40B4-BE49-F238E27FC236}">
                <a16:creationId xmlns:a16="http://schemas.microsoft.com/office/drawing/2014/main" id="{97ABD906-2563-A6DC-8727-396488ADF683}"/>
              </a:ext>
            </a:extLst>
          </p:cNvPr>
          <p:cNvSpPr txBox="1">
            <a:spLocks/>
          </p:cNvSpPr>
          <p:nvPr/>
        </p:nvSpPr>
        <p:spPr>
          <a:xfrm>
            <a:off x="2299855" y="250644"/>
            <a:ext cx="6590515" cy="6447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sz="3000" b="1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r"/>
            <a:r>
              <a:rPr lang="ru-RU" sz="2800" b="0" dirty="0">
                <a:solidFill>
                  <a:schemeClr val="tx2"/>
                </a:solidFill>
              </a:rPr>
              <a:t>Поэтапное шифрование</a:t>
            </a:r>
            <a:endParaRPr lang="ru-RU" sz="2800" b="0" dirty="0"/>
          </a:p>
        </p:txBody>
      </p:sp>
      <p:cxnSp>
        <p:nvCxnSpPr>
          <p:cNvPr id="7" name="Google Shape;216;p44">
            <a:extLst>
              <a:ext uri="{FF2B5EF4-FFF2-40B4-BE49-F238E27FC236}">
                <a16:creationId xmlns:a16="http://schemas.microsoft.com/office/drawing/2014/main" id="{4DE1A485-D834-7D8F-8C6D-8592B6900B91}"/>
              </a:ext>
            </a:extLst>
          </p:cNvPr>
          <p:cNvCxnSpPr/>
          <p:nvPr/>
        </p:nvCxnSpPr>
        <p:spPr>
          <a:xfrm>
            <a:off x="5930709" y="269811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848F48-9948-7EEA-22F1-B157B3ABE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610" y="1129040"/>
            <a:ext cx="5406780" cy="360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Полное и поэтапное расшифрование</a:t>
            </a:r>
            <a:endParaRPr dirty="0"/>
          </a:p>
        </p:txBody>
      </p:sp>
      <p:cxnSp>
        <p:nvCxnSpPr>
          <p:cNvPr id="222" name="Google Shape;222;p4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528155-11C7-5721-E1FD-D7FF4F126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73" y="1386425"/>
            <a:ext cx="4448028" cy="295353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301305F-ECA2-5255-F006-E30599793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299" y="1963230"/>
            <a:ext cx="4448028" cy="29585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94;p41">
            <a:extLst>
              <a:ext uri="{FF2B5EF4-FFF2-40B4-BE49-F238E27FC236}">
                <a16:creationId xmlns:a16="http://schemas.microsoft.com/office/drawing/2014/main" id="{57CC1D8A-7B7C-1070-96C0-A3733D5A12C6}"/>
              </a:ext>
            </a:extLst>
          </p:cNvPr>
          <p:cNvSpPr txBox="1">
            <a:spLocks/>
          </p:cNvSpPr>
          <p:nvPr/>
        </p:nvSpPr>
        <p:spPr>
          <a:xfrm>
            <a:off x="2299855" y="250644"/>
            <a:ext cx="6590515" cy="6447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sz="3000" b="1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r"/>
            <a:r>
              <a:rPr lang="ru-RU" sz="2800" b="0" dirty="0">
                <a:solidFill>
                  <a:schemeClr val="tx2"/>
                </a:solidFill>
              </a:rPr>
              <a:t>Режим машинки</a:t>
            </a:r>
            <a:endParaRPr lang="ru-RU" sz="2800" b="0" dirty="0"/>
          </a:p>
        </p:txBody>
      </p:sp>
      <p:cxnSp>
        <p:nvCxnSpPr>
          <p:cNvPr id="12" name="Google Shape;216;p44">
            <a:extLst>
              <a:ext uri="{FF2B5EF4-FFF2-40B4-BE49-F238E27FC236}">
                <a16:creationId xmlns:a16="http://schemas.microsoft.com/office/drawing/2014/main" id="{4DD8950A-7763-73E5-B2F3-0EB3BC04B2B3}"/>
              </a:ext>
            </a:extLst>
          </p:cNvPr>
          <p:cNvCxnSpPr/>
          <p:nvPr/>
        </p:nvCxnSpPr>
        <p:spPr>
          <a:xfrm>
            <a:off x="5930709" y="269811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022693D-311F-3835-DA2A-EA5BBCECE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95" y="835776"/>
            <a:ext cx="5251317" cy="333790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D7347-F570-B655-0E82-9B47012AA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524" y="1867954"/>
            <a:ext cx="4762846" cy="302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802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Заключение</a:t>
            </a:r>
            <a:endParaRPr dirty="0"/>
          </a:p>
        </p:txBody>
      </p:sp>
      <p:cxnSp>
        <p:nvCxnSpPr>
          <p:cNvPr id="234" name="Google Shape;234;p46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4" name="Google Shape;171;p39">
            <a:extLst>
              <a:ext uri="{FF2B5EF4-FFF2-40B4-BE49-F238E27FC236}">
                <a16:creationId xmlns:a16="http://schemas.microsoft.com/office/drawing/2014/main" id="{CCFC2C14-7EE1-53F2-08FB-62D112640C74}"/>
              </a:ext>
            </a:extLst>
          </p:cNvPr>
          <p:cNvSpPr txBox="1">
            <a:spLocks/>
          </p:cNvSpPr>
          <p:nvPr/>
        </p:nvSpPr>
        <p:spPr>
          <a:xfrm>
            <a:off x="938501" y="1081470"/>
            <a:ext cx="7951870" cy="386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1" indent="0" algn="l">
              <a:spcAft>
                <a:spcPts val="600"/>
              </a:spcAft>
            </a:pPr>
            <a:r>
              <a:rPr lang="ru-RU" sz="1600" dirty="0"/>
              <a:t>Итогом курсовой работы стало создание работоспособного и информативного программного средства, сочетающего теоретическую основу с практической демонстрацией. Приложение успешно моделирует работу трёхроторной шифровальной машины Энигма, позволяет пользователю наглядно наблюдать все этапы преобразования символа и может быть использовано в образовательных целях для изучения истории криптографии и принципов работы роторных шифровальных устройств.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362</Words>
  <Application>Microsoft Office PowerPoint</Application>
  <PresentationFormat>Экран (16:9)</PresentationFormat>
  <Paragraphs>33</Paragraphs>
  <Slides>11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Montserrat ExtraLight</vt:lpstr>
      <vt:lpstr>Montserrat</vt:lpstr>
      <vt:lpstr>Montserrat ExtraBold</vt:lpstr>
      <vt:lpstr>Arial</vt:lpstr>
      <vt:lpstr>Futuristic Background by Slidesgo</vt:lpstr>
      <vt:lpstr>Программная реализация шифра Энигма</vt:lpstr>
      <vt:lpstr>Объект, предмет и цели работы</vt:lpstr>
      <vt:lpstr>Актуальность работы</vt:lpstr>
      <vt:lpstr>01</vt:lpstr>
      <vt:lpstr>Архитектура программной реализации</vt:lpstr>
      <vt:lpstr>Презентация PowerPoint</vt:lpstr>
      <vt:lpstr>Полное шифрование</vt:lpstr>
      <vt:lpstr>Презентация PowerPoint</vt:lpstr>
      <vt:lpstr>Полное и поэтапное расшифрование</vt:lpstr>
      <vt:lpstr>Презентация PowerPoint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Ковалец ПК</cp:lastModifiedBy>
  <cp:revision>7</cp:revision>
  <dcterms:modified xsi:type="dcterms:W3CDTF">2026-05-22T10:17:41Z</dcterms:modified>
</cp:coreProperties>
</file>