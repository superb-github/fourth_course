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7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B948508-DBA4-4AF8-9FAB-F6404D5E2924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8D7F83B-AE22-41F7-BD0B-BC2DA557F5C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6C3A7-A758-4A57-ACD1-E10A00650B84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3D8B2-9982-4B49-A490-2DC3839113B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0EB9E-DF58-4D5C-9581-935C2B9B208A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951C3-7AB3-44EC-9CCB-6813A2CA910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DF0BA-1EE0-4DAE-A545-8A6A02984DD7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D9B12-CA3A-4D30-8585-DB478A48BD7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9E32E-5932-4500-B3FC-4B5A9A114CA1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D533D-0219-4AC3-9F34-05F68548C7D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409BD-81C2-4EAA-AE1B-4B62970E4E97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27337C-61F1-4D10-94FD-BD71C5EE338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E45DE-2CB5-4E0F-892F-FB93193AF939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CF489-7A9A-4543-8849-2BD73C888D7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01C6C-6886-42C2-A5D4-4D7112DCB042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7572C-DA1B-4BA2-99AB-4295F34CC65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5E1C1-3EA9-4E27-9EAD-62C8BDB7EA4F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47D42-176D-48C7-84DF-2C690A8511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1AD6F3-E802-43EE-AA6E-F896CA3D44B9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C3B9D-6425-41E4-B7E1-9B5D802069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06A57-F001-43F8-AF9A-5BB8F8552E92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3DBC6-82FA-4B76-B930-FDE7092E0CB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CEC6A-8505-4BFA-A251-37B585A1F153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77E5F-9A91-4695-ABF9-376D7AB4925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DD499E-C8FB-4457-8F65-D1715EA6F296}" type="datetimeFigureOut">
              <a:rPr lang="ru-RU"/>
              <a:pPr>
                <a:defRPr/>
              </a:pPr>
              <a:t>20.02.2024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B13FF46-ED01-4943-A8B3-1663AE5EB8A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12888" y="3119438"/>
            <a:ext cx="9144000" cy="1655762"/>
          </a:xfrm>
        </p:spPr>
        <p:txBody>
          <a:bodyPr/>
          <a:lstStyle/>
          <a:p>
            <a:pPr eaLnBrk="1" hangingPunct="1"/>
            <a:r>
              <a:rPr lang="ru-RU" sz="2800" b="1" smtClean="0"/>
              <a:t>Криптосистема Диффи-Хеллмана</a:t>
            </a:r>
          </a:p>
          <a:p>
            <a:pPr eaLnBrk="1" hangingPunct="1"/>
            <a:r>
              <a:rPr lang="ru-RU" sz="2800" b="1" smtClean="0"/>
              <a:t>Криптосистема Эль-Гамаля</a:t>
            </a:r>
            <a:r>
              <a:rPr lang="ru-RU" sz="280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9"/>
          <p:cNvSpPr txBox="1">
            <a:spLocks noChangeArrowheads="1"/>
          </p:cNvSpPr>
          <p:nvPr/>
        </p:nvSpPr>
        <p:spPr bwMode="auto">
          <a:xfrm>
            <a:off x="609600" y="952500"/>
            <a:ext cx="11071225" cy="558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ru-RU" b="1" i="1" dirty="0"/>
              <a:t>Формирование общего ключа</a:t>
            </a:r>
          </a:p>
          <a:p>
            <a:pPr eaLnBrk="0" hangingPunct="0"/>
            <a:endParaRPr lang="ru-RU" b="1" i="1" dirty="0"/>
          </a:p>
          <a:p>
            <a:pPr eaLnBrk="0" hangingPunct="0"/>
            <a:r>
              <a:rPr lang="ru-RU" dirty="0"/>
              <a:t>Пусть два пользователя, которых условно назовем, пользователь 1 и пользователь 2, желают сформировать общий ключ для алгоритма симметричного шифрования. Вначале они должны выбрать большое простое число Р и некоторое специальное число А, 1 &lt; A &lt; P-1, такое, что все числа из интервала [1, 2, ..., Р-1] могут быть представлены как различные степени А </a:t>
            </a:r>
            <a:r>
              <a:rPr lang="ru-RU" dirty="0" err="1"/>
              <a:t>mod</a:t>
            </a:r>
            <a:r>
              <a:rPr lang="ru-RU" dirty="0"/>
              <a:t> Р. Эти числа должны быть известны всем абонентам системы и могут выбираться открыто. Это будут так называемые общие параметры.</a:t>
            </a:r>
          </a:p>
          <a:p>
            <a:pPr eaLnBrk="0" hangingPunct="0"/>
            <a:endParaRPr lang="ru-RU" altLang="ru-RU" dirty="0"/>
          </a:p>
          <a:p>
            <a:r>
              <a:rPr lang="ru-RU" altLang="ru-RU" dirty="0"/>
              <a:t>Затем первый пользователь выбирает число Х1 (X1&lt;P), которое желательно формировать с помощью датчика случайных чисел. Это будет закрытый ключ первого пользователя, и он должен держаться в секрете. На основе закрытого ключа пользователь 1 вычисляет</a:t>
            </a:r>
          </a:p>
          <a:p>
            <a:endParaRPr lang="ru-RU" altLang="ru-RU" dirty="0"/>
          </a:p>
          <a:p>
            <a:endParaRPr lang="ru-RU" altLang="ru-RU" dirty="0"/>
          </a:p>
          <a:p>
            <a:endParaRPr lang="ru-RU" altLang="ru-RU" dirty="0"/>
          </a:p>
          <a:p>
            <a:r>
              <a:rPr lang="ru-RU" altLang="ru-RU" dirty="0"/>
              <a:t>число, которое он посылает второму абоненту.</a:t>
            </a:r>
          </a:p>
          <a:p>
            <a:r>
              <a:rPr lang="ru-RU" altLang="ru-RU" dirty="0"/>
              <a:t>Аналогично поступает и второй пользователь, генерируя Х2 и вычисляя</a:t>
            </a:r>
          </a:p>
          <a:p>
            <a:endParaRPr lang="ru-RU" altLang="ru-RU" dirty="0"/>
          </a:p>
          <a:p>
            <a:endParaRPr lang="ru-RU" altLang="ru-RU" dirty="0"/>
          </a:p>
          <a:p>
            <a:r>
              <a:rPr lang="ru-RU" altLang="ru-RU" dirty="0"/>
              <a:t>Это значение пользователь 2 отправляет первому пользователю.</a:t>
            </a:r>
          </a:p>
        </p:txBody>
      </p:sp>
      <p:pic>
        <p:nvPicPr>
          <p:cNvPr id="15363" name="Рисунок 3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6838" y="4542423"/>
            <a:ext cx="1980900" cy="319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Рисунок 3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6838" y="5779699"/>
            <a:ext cx="2107201" cy="384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/>
          <p:cNvSpPr txBox="1">
            <a:spLocks noChangeArrowheads="1"/>
          </p:cNvSpPr>
          <p:nvPr/>
        </p:nvSpPr>
        <p:spPr bwMode="auto">
          <a:xfrm>
            <a:off x="504825" y="573088"/>
            <a:ext cx="113093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b="1"/>
              <a:t>Из чисел Y1 и Y2, а также своих закрытых ключей каждый из абонентов может сформировать общий секретный ключ Z для сеанса симметричного шифрования. Вот как это должен сделать первый пользователь:</a:t>
            </a:r>
            <a:r>
              <a:rPr lang="ru-RU"/>
              <a:t> </a:t>
            </a:r>
          </a:p>
        </p:txBody>
      </p:sp>
      <p:pic>
        <p:nvPicPr>
          <p:cNvPr id="16388" name="Рисунок 3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05300" y="1662113"/>
            <a:ext cx="3295650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568325" y="2424113"/>
            <a:ext cx="11095038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Никто другой кроме пользователя 1 этого сделать не может, так как число Х1 секретно. Второй пользователь может получить то же самое число Z, используя свой закрытый ключ и открытый ключ своего абонента следующим образом:</a:t>
            </a:r>
          </a:p>
        </p:txBody>
      </p:sp>
      <p:pic>
        <p:nvPicPr>
          <p:cNvPr id="16390" name="Рисунок 3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3581400"/>
            <a:ext cx="3109913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5"/>
          <p:cNvSpPr txBox="1">
            <a:spLocks noChangeArrowheads="1"/>
          </p:cNvSpPr>
          <p:nvPr/>
        </p:nvSpPr>
        <p:spPr bwMode="auto">
          <a:xfrm>
            <a:off x="549275" y="762000"/>
            <a:ext cx="11195050" cy="531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Если весь протокол формирования общего секретного ключа выполнен верно, значения Z у одного и второго абонента должны получиться одинаковыми. </a:t>
            </a:r>
          </a:p>
          <a:p>
            <a:endParaRPr lang="ru-RU"/>
          </a:p>
          <a:p>
            <a:r>
              <a:rPr lang="ru-RU"/>
              <a:t>Причем, что самое важное, противник, не зная секретных чисел Х1 и Х2, не сможет вычислить число Z. </a:t>
            </a:r>
          </a:p>
          <a:p>
            <a:endParaRPr lang="ru-RU"/>
          </a:p>
          <a:p>
            <a:r>
              <a:rPr lang="ru-RU"/>
              <a:t>Не зная Х1 и Х2, злоумышленник может попытаться вычислить Z, используя только передаваемые открыто Р, А, Y1 и Y2. </a:t>
            </a:r>
          </a:p>
          <a:p>
            <a:endParaRPr lang="ru-RU"/>
          </a:p>
          <a:p>
            <a:r>
              <a:rPr lang="ru-RU"/>
              <a:t>Безопасность формирования общего ключа в алгоритме Диффи-Хеллмана вытекает из того факта, что, хотя относительно легко вычислить экспоненты по модулю простого числа, очень трудно вычислить дискретные логарифмы. </a:t>
            </a:r>
          </a:p>
          <a:p>
            <a:endParaRPr lang="ru-RU"/>
          </a:p>
          <a:p>
            <a:r>
              <a:rPr lang="ru-RU"/>
              <a:t>Для больших простых чисел размером сотни и тысячи бит задача считается неразрешимой, так как требует колоссальных затрат вычислительных ресурсов.								</a:t>
            </a:r>
          </a:p>
          <a:p>
            <a:r>
              <a:rPr lang="ru-RU"/>
              <a:t>Пользователи 1 и 2 могут использовать значение Z в качестве секретного ключа для шифрования и расшифрования данных. Таким же образом любая пара абонентов может вычислить секретный ключ, известный только им.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7"/>
          <p:cNvSpPr txBox="1">
            <a:spLocks noChangeArrowheads="1"/>
          </p:cNvSpPr>
          <p:nvPr/>
        </p:nvSpPr>
        <p:spPr bwMode="auto">
          <a:xfrm>
            <a:off x="742950" y="398463"/>
            <a:ext cx="10683875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Схема Эль-Гамаля</a:t>
            </a:r>
            <a:r>
              <a:rPr lang="ru-RU"/>
              <a:t>-  криптосистема с открытым ключом, основанная на трудности вычисления дискретных логарифмов в конечном поле. Криптосистема включает в себя алгоритм шифрования и алгоритм цифровой подписи.</a:t>
            </a:r>
          </a:p>
          <a:p>
            <a:endParaRPr lang="ru-RU"/>
          </a:p>
          <a:p>
            <a:r>
              <a:rPr lang="ru-RU" i="1"/>
              <a:t>Генерация ключей:</a:t>
            </a:r>
            <a:r>
              <a:rPr lang="ru-RU"/>
              <a:t> </a:t>
            </a:r>
          </a:p>
          <a:p>
            <a:endParaRPr lang="ru-RU"/>
          </a:p>
        </p:txBody>
      </p:sp>
      <p:pic>
        <p:nvPicPr>
          <p:cNvPr id="18437" name="Рисунок 4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5000" y="2260600"/>
            <a:ext cx="10453688" cy="281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Рисунок 5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1400" y="330200"/>
            <a:ext cx="9898063" cy="607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Рисунок 5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3400" y="284163"/>
            <a:ext cx="8983663" cy="614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65</Words>
  <Application>Microsoft Office PowerPoint</Application>
  <PresentationFormat>Широкоэкранный</PresentationFormat>
  <Paragraphs>30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2</dc:title>
  <dc:creator>RePack by Diakov</dc:creator>
  <cp:lastModifiedBy>Пользователь</cp:lastModifiedBy>
  <cp:revision>21</cp:revision>
  <dcterms:created xsi:type="dcterms:W3CDTF">2016-08-26T08:24:06Z</dcterms:created>
  <dcterms:modified xsi:type="dcterms:W3CDTF">2024-02-20T06:44:22Z</dcterms:modified>
</cp:coreProperties>
</file>