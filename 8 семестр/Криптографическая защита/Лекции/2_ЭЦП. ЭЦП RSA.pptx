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type="ctrTitle"/>
          </p:nvPr>
        </p:nvSpPr>
        <p:spPr>
          <a:xfrm>
            <a:off x="1143000" y="2590800"/>
            <a:ext cx="7086600" cy="10128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53882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1" type="subTitle"/>
          </p:nvPr>
        </p:nvSpPr>
        <p:spPr>
          <a:xfrm>
            <a:off x="1295400" y="3581400"/>
            <a:ext cx="6705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ctr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  <a:defRPr sz="2000"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0" type="dt"/>
          </p:nvPr>
        </p:nvSpPr>
        <p:spPr>
          <a:xfrm>
            <a:off x="457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1" type="ftr"/>
          </p:nvPr>
        </p:nvSpPr>
        <p:spPr>
          <a:xfrm>
            <a:off x="3124200" y="6477000"/>
            <a:ext cx="2895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>
            <p:ph type="title"/>
          </p:nvPr>
        </p:nvSpPr>
        <p:spPr>
          <a:xfrm>
            <a:off x="914400" y="68580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" type="body"/>
          </p:nvPr>
        </p:nvSpPr>
        <p:spPr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аблица" type="tbl">
  <p:cSld name="TAB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914400" y="68580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type="title"/>
          </p:nvPr>
        </p:nvSpPr>
        <p:spPr>
          <a:xfrm rot="5400000">
            <a:off x="4838700" y="2476500"/>
            <a:ext cx="5638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 rot="5400000">
            <a:off x="647700" y="495300"/>
            <a:ext cx="5638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/>
          <p:nvPr>
            <p:ph type="title"/>
          </p:nvPr>
        </p:nvSpPr>
        <p:spPr>
          <a:xfrm>
            <a:off x="914400" y="68580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"/>
          <p:cNvSpPr txBox="1"/>
          <p:nvPr>
            <p:ph idx="1" type="body"/>
          </p:nvPr>
        </p:nvSpPr>
        <p:spPr>
          <a:xfrm rot="5400000">
            <a:off x="2324100" y="-38100"/>
            <a:ext cx="4495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8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84" name="Google Shape;84;p9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0" algn="l">
              <a:spcBef>
                <a:spcPts val="640"/>
              </a:spcBef>
              <a:spcAft>
                <a:spcPts val="0"/>
              </a:spcAft>
              <a:buSzPts val="3200"/>
              <a:buChar char="❖"/>
              <a:defRPr sz="3200"/>
            </a:lvl1pPr>
            <a:lvl2pPr indent="-406400" lvl="1" marL="914400" rtl="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90" name="Google Shape;90;p1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91" name="Google Shape;91;p10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914400" y="68580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02" name="Google Shape;102;p12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03" name="Google Shape;103;p12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04" name="Google Shape;104;p12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05" name="Google Shape;105;p12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title"/>
          </p:nvPr>
        </p:nvSpPr>
        <p:spPr>
          <a:xfrm>
            <a:off x="914400" y="68580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" type="body"/>
          </p:nvPr>
        </p:nvSpPr>
        <p:spPr>
          <a:xfrm>
            <a:off x="457200" y="1828800"/>
            <a:ext cx="4038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Char char="❖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11" name="Google Shape;111;p13"/>
          <p:cNvSpPr txBox="1"/>
          <p:nvPr>
            <p:ph idx="2" type="body"/>
          </p:nvPr>
        </p:nvSpPr>
        <p:spPr>
          <a:xfrm>
            <a:off x="4648200" y="1828800"/>
            <a:ext cx="4038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Char char="❖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12" name="Google Shape;112;p13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rtl="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rtl="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18" name="Google Shape;118;p14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4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9525" y="1447800"/>
            <a:ext cx="9164638" cy="3832225"/>
          </a:xfrm>
          <a:custGeom>
            <a:rect b="b" l="l" r="r" t="t"/>
            <a:pathLst>
              <a:path extrusionOk="0" h="2414" w="5773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18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-9525" y="1730375"/>
            <a:ext cx="9150350" cy="3265488"/>
          </a:xfrm>
          <a:custGeom>
            <a:rect b="b" l="l" r="r" t="t"/>
            <a:pathLst>
              <a:path extrusionOk="0" h="2057" w="5764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1"/>
          <p:cNvGrpSpPr/>
          <p:nvPr/>
        </p:nvGrpSpPr>
        <p:grpSpPr>
          <a:xfrm>
            <a:off x="7086600" y="1947862"/>
            <a:ext cx="555625" cy="555625"/>
            <a:chOff x="4752" y="1200"/>
            <a:chExt cx="300" cy="300"/>
          </a:xfrm>
        </p:grpSpPr>
        <p:sp>
          <p:nvSpPr>
            <p:cNvPr id="13" name="Google Shape;13;p1"/>
            <p:cNvSpPr/>
            <p:nvPr/>
          </p:nvSpPr>
          <p:spPr>
            <a:xfrm>
              <a:off x="4752" y="1200"/>
              <a:ext cx="300" cy="300"/>
            </a:xfrm>
            <a:prstGeom prst="ellipse">
              <a:avLst/>
            </a:prstGeom>
            <a:gradFill>
              <a:gsLst>
                <a:gs pos="0">
                  <a:srgbClr val="C7CEE9"/>
                </a:gs>
                <a:gs pos="100000">
                  <a:srgbClr val="233DA9">
                    <a:alpha val="3098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4752" y="1200"/>
              <a:ext cx="300" cy="3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5;p1"/>
          <p:cNvGrpSpPr/>
          <p:nvPr/>
        </p:nvGrpSpPr>
        <p:grpSpPr>
          <a:xfrm>
            <a:off x="7620000" y="1371600"/>
            <a:ext cx="952500" cy="952500"/>
            <a:chOff x="4992" y="816"/>
            <a:chExt cx="600" cy="600"/>
          </a:xfrm>
        </p:grpSpPr>
        <p:sp>
          <p:nvSpPr>
            <p:cNvPr id="16" name="Google Shape;16;p1"/>
            <p:cNvSpPr/>
            <p:nvPr/>
          </p:nvSpPr>
          <p:spPr>
            <a:xfrm>
              <a:off x="4992" y="816"/>
              <a:ext cx="600" cy="600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4992" y="912"/>
              <a:ext cx="600" cy="3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1"/>
          <p:cNvGrpSpPr/>
          <p:nvPr/>
        </p:nvGrpSpPr>
        <p:grpSpPr>
          <a:xfrm>
            <a:off x="304799" y="3429000"/>
            <a:ext cx="1349375" cy="1428750"/>
            <a:chOff x="4992" y="816"/>
            <a:chExt cx="600" cy="600"/>
          </a:xfrm>
        </p:grpSpPr>
        <p:sp>
          <p:nvSpPr>
            <p:cNvPr id="19" name="Google Shape;19;p1"/>
            <p:cNvSpPr/>
            <p:nvPr/>
          </p:nvSpPr>
          <p:spPr>
            <a:xfrm>
              <a:off x="4992" y="816"/>
              <a:ext cx="600" cy="600"/>
            </a:xfrm>
            <a:prstGeom prst="ellipse">
              <a:avLst/>
            </a:prstGeom>
            <a:solidFill>
              <a:schemeClr val="dk2">
                <a:alpha val="5294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4992" y="912"/>
              <a:ext cx="600" cy="3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21;p1"/>
          <p:cNvGrpSpPr/>
          <p:nvPr/>
        </p:nvGrpSpPr>
        <p:grpSpPr>
          <a:xfrm>
            <a:off x="228600" y="304800"/>
            <a:ext cx="960437" cy="652462"/>
            <a:chOff x="2680" y="3678"/>
            <a:chExt cx="605" cy="411"/>
          </a:xfrm>
        </p:grpSpPr>
        <p:sp>
          <p:nvSpPr>
            <p:cNvPr id="22" name="Google Shape;22;p1"/>
            <p:cNvSpPr txBox="1"/>
            <p:nvPr/>
          </p:nvSpPr>
          <p:spPr>
            <a:xfrm>
              <a:off x="2680" y="378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Arial"/>
                <a:buNone/>
              </a:pPr>
              <a:r>
                <a:rPr b="1" i="0" lang="en-US" sz="2400" u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LOGO</a:t>
              </a: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 rot="5400000">
              <a:off x="2835" y="3528"/>
              <a:ext cx="300" cy="600"/>
            </a:xfrm>
            <a:prstGeom prst="moon">
              <a:avLst>
                <a:gd fmla="val 4581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idx="1" type="body"/>
          </p:nvPr>
        </p:nvSpPr>
        <p:spPr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type="title"/>
          </p:nvPr>
        </p:nvSpPr>
        <p:spPr>
          <a:xfrm>
            <a:off x="914400" y="68580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0" type="dt"/>
          </p:nvPr>
        </p:nvSpPr>
        <p:spPr>
          <a:xfrm>
            <a:off x="457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1" type="ftr"/>
          </p:nvPr>
        </p:nvSpPr>
        <p:spPr>
          <a:xfrm>
            <a:off x="3124200" y="6477000"/>
            <a:ext cx="2895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2" type="sldNum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1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/>
          <p:nvPr/>
        </p:nvSpPr>
        <p:spPr>
          <a:xfrm>
            <a:off x="-11112" y="280987"/>
            <a:ext cx="9155113" cy="1620838"/>
          </a:xfrm>
          <a:custGeom>
            <a:rect b="b" l="l" r="r" t="t"/>
            <a:pathLst>
              <a:path extrusionOk="0" h="1021" w="5767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8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-20637" y="533400"/>
            <a:ext cx="9161463" cy="1006475"/>
          </a:xfrm>
          <a:custGeom>
            <a:rect b="b" l="l" r="r" t="t"/>
            <a:pathLst>
              <a:path extrusionOk="0" h="634" w="5771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3"/>
          <p:cNvGrpSpPr/>
          <p:nvPr/>
        </p:nvGrpSpPr>
        <p:grpSpPr>
          <a:xfrm>
            <a:off x="7740650" y="347662"/>
            <a:ext cx="403490" cy="381992"/>
            <a:chOff x="4752" y="1200"/>
            <a:chExt cx="300" cy="300"/>
          </a:xfrm>
        </p:grpSpPr>
        <p:sp>
          <p:nvSpPr>
            <p:cNvPr id="40" name="Google Shape;40;p3"/>
            <p:cNvSpPr/>
            <p:nvPr/>
          </p:nvSpPr>
          <p:spPr>
            <a:xfrm>
              <a:off x="4752" y="1200"/>
              <a:ext cx="300" cy="300"/>
            </a:xfrm>
            <a:prstGeom prst="ellipse">
              <a:avLst/>
            </a:prstGeom>
            <a:gradFill>
              <a:gsLst>
                <a:gs pos="0">
                  <a:srgbClr val="C7CEE9"/>
                </a:gs>
                <a:gs pos="100000">
                  <a:srgbClr val="233DA9">
                    <a:alpha val="3098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4752" y="1200"/>
              <a:ext cx="300" cy="3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" name="Google Shape;42;p3"/>
          <p:cNvGrpSpPr/>
          <p:nvPr/>
        </p:nvGrpSpPr>
        <p:grpSpPr>
          <a:xfrm>
            <a:off x="8153400" y="53975"/>
            <a:ext cx="635000" cy="616809"/>
            <a:chOff x="4992" y="816"/>
            <a:chExt cx="600" cy="600"/>
          </a:xfrm>
        </p:grpSpPr>
        <p:sp>
          <p:nvSpPr>
            <p:cNvPr id="43" name="Google Shape;43;p3"/>
            <p:cNvSpPr/>
            <p:nvPr/>
          </p:nvSpPr>
          <p:spPr>
            <a:xfrm>
              <a:off x="4992" y="816"/>
              <a:ext cx="600" cy="600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4992" y="912"/>
              <a:ext cx="600" cy="3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3"/>
          <p:cNvGrpSpPr/>
          <p:nvPr/>
        </p:nvGrpSpPr>
        <p:grpSpPr>
          <a:xfrm>
            <a:off x="171450" y="819150"/>
            <a:ext cx="750755" cy="793750"/>
            <a:chOff x="4992" y="816"/>
            <a:chExt cx="600" cy="600"/>
          </a:xfrm>
        </p:grpSpPr>
        <p:sp>
          <p:nvSpPr>
            <p:cNvPr id="46" name="Google Shape;46;p3"/>
            <p:cNvSpPr/>
            <p:nvPr/>
          </p:nvSpPr>
          <p:spPr>
            <a:xfrm>
              <a:off x="4992" y="816"/>
              <a:ext cx="600" cy="600"/>
            </a:xfrm>
            <a:prstGeom prst="ellipse">
              <a:avLst/>
            </a:prstGeom>
            <a:solidFill>
              <a:schemeClr val="dk2">
                <a:alpha val="5294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4992" y="912"/>
              <a:ext cx="600" cy="3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3"/>
          <p:cNvSpPr txBox="1"/>
          <p:nvPr>
            <p:ph idx="1" type="body"/>
          </p:nvPr>
        </p:nvSpPr>
        <p:spPr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❖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3"/>
          <p:cNvSpPr txBox="1"/>
          <p:nvPr>
            <p:ph idx="10" type="dt"/>
          </p:nvPr>
        </p:nvSpPr>
        <p:spPr>
          <a:xfrm>
            <a:off x="457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idx="11" type="ftr"/>
          </p:nvPr>
        </p:nvSpPr>
        <p:spPr>
          <a:xfrm>
            <a:off x="3124200" y="6400800"/>
            <a:ext cx="28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3"/>
          <p:cNvSpPr txBox="1"/>
          <p:nvPr>
            <p:ph idx="12" type="sldNum"/>
          </p:nvPr>
        </p:nvSpPr>
        <p:spPr>
          <a:xfrm>
            <a:off x="6553200" y="6400800"/>
            <a:ext cx="2133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2" name="Google Shape;52;p3"/>
          <p:cNvSpPr txBox="1"/>
          <p:nvPr>
            <p:ph type="title"/>
          </p:nvPr>
        </p:nvSpPr>
        <p:spPr>
          <a:xfrm>
            <a:off x="914400" y="68580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ctrTitle"/>
          </p:nvPr>
        </p:nvSpPr>
        <p:spPr>
          <a:xfrm>
            <a:off x="357187" y="2071687"/>
            <a:ext cx="8572500" cy="2643300"/>
          </a:xfrm>
          <a:prstGeom prst="rect">
            <a:avLst/>
          </a:prstGeom>
          <a:noFill/>
          <a:ln>
            <a:noFill/>
          </a:ln>
          <a:effectLst>
            <a:outerShdw blurRad="63500" dir="2700000" dist="5388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Электронная Цифровая подпись </a:t>
            </a:r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214312"/>
            <a:ext cx="1357312" cy="9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142875" y="714375"/>
            <a:ext cx="88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Электронная цифровая подпись </a:t>
            </a:r>
            <a:r>
              <a:rPr b="1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(ЭЦП)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250825" y="1655762"/>
            <a:ext cx="8785200" cy="3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Цифровая подпись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строка данных, связывающая сообщение в цифровом виде.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Алгоритм генерации цифровой подписи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метод получения цифровой подписи.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Алгоритм проверки цифровой подписи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метод установления подлинности цифровой подписи (то есть, что подпись действительно была создана указанной сущностью).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Схема (или механизм) цифровой подписи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состоит из алгоритма генерации подписи и соответствующего алгоритма проверки.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Процесс подписания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состоит из математического алгоритма генерации цифровой подписи и метода форматирования данных в сообщения, которые могут быть подписаны.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Процесс проверки цифровой подписи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состоит из алгоритма проверки и метода восстановления данных из сообщения.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idx="4294967295" type="title"/>
          </p:nvPr>
        </p:nvSpPr>
        <p:spPr>
          <a:xfrm>
            <a:off x="142875" y="714375"/>
            <a:ext cx="88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Электронная цифровая подпись </a:t>
            </a: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(ЭЦП)</a:t>
            </a:r>
            <a:endParaRPr/>
          </a:p>
        </p:txBody>
      </p:sp>
      <p:pic>
        <p:nvPicPr>
          <p:cNvPr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1628775"/>
            <a:ext cx="6408737" cy="33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3419475" y="5229225"/>
            <a:ext cx="3168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Схема использования ЭЦП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idx="4294967295" type="title"/>
          </p:nvPr>
        </p:nvSpPr>
        <p:spPr>
          <a:xfrm>
            <a:off x="142875" y="714375"/>
            <a:ext cx="88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Функции хэширования 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214312" y="1844675"/>
            <a:ext cx="871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формирования ЭЦП в качестве исходного значения берется не само сообщение, а его хэш (результат обработки сообщения хэш-функцией). При этом используются бесключевые односторонние хэш-функции.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Бесключевые односторонние хэш-функции формируют выход фиксированной длины и построены на односторонней функции, которая производит значение длины n по двум входным блокам длиной n каждый.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Обычно входом функции служат блок текста и хэш предыдущего блока. Хэш последнего блока становится хэшем всего сообщения. Таким образом, удаётся произвести хэш фиксированной длины независимо от длины входного сообщения.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idx="4294967295" type="title"/>
          </p:nvPr>
        </p:nvSpPr>
        <p:spPr>
          <a:xfrm>
            <a:off x="142875" y="714375"/>
            <a:ext cx="88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Функции хэширования 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214312" y="2060575"/>
            <a:ext cx="8715300" cy="3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Хэш-функция должна удовлетворять определенным требованиям.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Необходимо, чтобы результат (хэш сообщения) однозначно соответствовал исходному сообщению и изменялся при любой модификации последнего, даже самой незначительной. Кроме того, хэш сообщения должен вычисляться таким образом, чтобы для любого сообщения M было бы невозможно подобрать такое сообщение M', для которого h(M) = h(M').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Хэш будет одинаков для многих сообщений, поскольку множество возможных сообщений существенно больше множества возможных хэш-значений (действительно, количество сообщений безгранично, а количество хэш-значений ограничено числом 2N, где N – длина хэш-значения в битах).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idx="4294967295" type="title"/>
          </p:nvPr>
        </p:nvSpPr>
        <p:spPr>
          <a:xfrm>
            <a:off x="142875" y="714375"/>
            <a:ext cx="88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Функции хэширования 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214312" y="2205037"/>
            <a:ext cx="87138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 числу наиболее известных функций хэширования принадлежат следующие: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Отечественный стандарт ГОСТ Р 34.11-94. Вычисляет хэш-значение размером 32 байта.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MDx (Message Digest) - семейство алгоритмов хэширования, которые наиболее распространены за рубежом. Например, алгоритм MD5 применяется в последних версиях Microsoft Windows для преобразования пароля пользователя в 16-байтное число.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SHA-1 (Secure Hash Algorithm) - алгоритм вычисления 20-байтного хэш-значения входных данных. Он также очень широко распространен в мире, преимущественно в сетевых протоколах защиты информации.Хэш-функция должна удовлетворять определенным требованиям.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ctrTitle"/>
          </p:nvPr>
        </p:nvSpPr>
        <p:spPr>
          <a:xfrm>
            <a:off x="357187" y="2071687"/>
            <a:ext cx="8572500" cy="2643300"/>
          </a:xfrm>
          <a:prstGeom prst="rect">
            <a:avLst/>
          </a:prstGeom>
          <a:noFill/>
          <a:ln>
            <a:noFill/>
          </a:ln>
          <a:effectLst>
            <a:outerShdw blurRad="63500" dir="2700000" dist="5388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</a:pPr>
            <a:r>
              <a:rPr b="1" i="0" lang="en-US" sz="4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Асимметричные криптосистемы. ЭЦП RSA</a:t>
            </a:r>
            <a:br>
              <a:rPr b="1" i="0" lang="en-US" sz="4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pic>
        <p:nvPicPr>
          <p:cNvPr id="163" name="Google Shape;1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214312"/>
            <a:ext cx="1357312" cy="9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idx="4294967295" type="title"/>
          </p:nvPr>
        </p:nvSpPr>
        <p:spPr>
          <a:xfrm>
            <a:off x="142875" y="714375"/>
            <a:ext cx="88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ЭЦП RSA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250825" y="1412875"/>
            <a:ext cx="8713800" cy="50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Алгоритм RSA представляет собой следующую последовательность действий: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Берутся два очень больших простых числа P и Q и находятся произведение простых чисел N=P×Q и функция Эйлера от этого произведения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φ(N)=(P-1)×(Q-1).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Выбирается случайное целое число E, взаимно простое с φ(N), и вычисляется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D=(1 MOD φ(N))/E.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Потом E и N публикуются как открытый ключ, D сохраняется в тайне.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Если S — сообщение, длина которого, определяемая по значению выражаемого им целого числа, должна быть в интервале (1,N), то оно превращается в шифровку возведением в степень D по модулю N и отправляется получателю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S’=SD MOD 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Получатель сообщения расшифровывает его, возведя в степень E (число E ему уже известно) по модулю N, так как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S=(S’E MOD N)=S(DE) MOD 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4294967295" type="title"/>
          </p:nvPr>
        </p:nvSpPr>
        <p:spPr>
          <a:xfrm>
            <a:off x="142875" y="714375"/>
            <a:ext cx="8858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Электронная цифровая подпись </a:t>
            </a: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(ЭЦП)</a:t>
            </a:r>
            <a:endParaRPr/>
          </a:p>
        </p:txBody>
      </p:sp>
      <p:pic>
        <p:nvPicPr>
          <p:cNvPr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50" y="1700212"/>
            <a:ext cx="5545138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2268537" y="5805487"/>
            <a:ext cx="4946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Обобщённая схема цифровой подписи RSA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914400" y="68580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ЭЦП RSA</a:t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179387" y="1412875"/>
            <a:ext cx="8964600" cy="50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Отправитель хочет подписать сообщение М перед его отправкой.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Сначала сообщение М (блок информации, файл, таблица) сжимают с помощью хэш-функции h(М) в целое число m: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m = h(М).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Затем вычисляют цифровую подпись S под электронным документом М, используя хэш-значение m и секретный ключ D: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S = mD (mod N).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Пара (М, S) передается партнеру-получателю как электронный документ М, подписанный цифровой подписью S, причем подпись S сформирована обладателем секретного ключа 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После приема пары (М, S) получатель вычисляет хэш-значение объедения М двумя разными способами. Прежде всего, он восстанавливает хэш-значение m', применяя криптографическое преобразование подписи S с использованием открытого ключа Е: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m' = SE (mod N).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Кроме того, он находит результат хэширования принятого сообщения М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 помощью такой же хэш-функции h(М):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m = h(М).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idx="4294967295" type="title"/>
          </p:nvPr>
        </p:nvSpPr>
        <p:spPr>
          <a:xfrm>
            <a:off x="914400" y="68580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ЭЦП RSA</a:t>
            </a:r>
            <a:endParaRPr/>
          </a:p>
        </p:txBody>
      </p:sp>
      <p:sp>
        <p:nvSpPr>
          <p:cNvPr id="188" name="Google Shape;188;p25"/>
          <p:cNvSpPr txBox="1"/>
          <p:nvPr>
            <p:ph idx="4294967295" type="body"/>
          </p:nvPr>
        </p:nvSpPr>
        <p:spPr>
          <a:xfrm>
            <a:off x="500062" y="1989137"/>
            <a:ext cx="86439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 соблюдается равенство вычисленных значений, т.е.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SE (mod N) = h(М),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 получатель признает пару (М,S) подлинной.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Доказано, что только обладатель секретного ключа D может сформировать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цифровую подпись S по документу М, а определить секретное число D по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открытому числу Е не легче, чем разложить модуль N на множители.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idx="4294967295" type="title"/>
          </p:nvPr>
        </p:nvSpPr>
        <p:spPr>
          <a:xfrm>
            <a:off x="971550" y="0"/>
            <a:ext cx="7391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ЭЦП RSA</a:t>
            </a:r>
            <a:endParaRPr/>
          </a:p>
        </p:txBody>
      </p:sp>
      <p:sp>
        <p:nvSpPr>
          <p:cNvPr id="194" name="Google Shape;194;p26"/>
          <p:cNvSpPr txBox="1"/>
          <p:nvPr>
            <p:ph idx="4294967295" type="body"/>
          </p:nvPr>
        </p:nvSpPr>
        <p:spPr>
          <a:xfrm>
            <a:off x="88900" y="2147887"/>
            <a:ext cx="90741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Недостатки алгоритма цифровой подписи RSA.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При вычислении модуля N. ключей Е и D для системы цифровой подписи RSА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необходимо проверять большое количество дополнительных условий, что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Сделать практически трудно. Невыполнение любого из этих условий делает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возможным фальсификацию цифровой подписи со стороны того, кто обнаружит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такое  невыполнение. При подписании важных документов нельзя допускать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такую возможность даже теоретически.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Для обеспечения криптостойкости цифровой подписи RSA по отношению к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попыткам фальсификации требует больших вычислительных затрат,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превышающих на 20...30%  вычислительные затраты других алгоритмов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цифровой подписи при сохранении того же уровня криптостойкости.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4294967295" type="title"/>
          </p:nvPr>
        </p:nvSpPr>
        <p:spPr>
          <a:xfrm>
            <a:off x="971550" y="0"/>
            <a:ext cx="73914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ЭЦП RSA</a:t>
            </a:r>
            <a:endParaRPr/>
          </a:p>
        </p:txBody>
      </p:sp>
      <p:sp>
        <p:nvSpPr>
          <p:cNvPr id="200" name="Google Shape;200;p27"/>
          <p:cNvSpPr txBox="1"/>
          <p:nvPr/>
        </p:nvSpPr>
        <p:spPr>
          <a:xfrm>
            <a:off x="179387" y="2420937"/>
            <a:ext cx="8964600" cy="29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Цифровая подпись RSA уязвима к так называемой мультипликативной атаке. Иначе говоря, алгоритм цифровой подписи RSA позволяет злоумышленнику без знания секретного  ключа D сформировать подписи под теми документами, у которых результат хэширования можно вычислить как произведение результатов хэширования уже подписанных документов.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4.Еще одним недостатком RSA является то, RSA — очень медленный алгоритм. Для сравнения: программа, реализующая DES, по меньшей мере, в 100 раз быстрее RSA, на аппаратном уровне — в 1000-10 000 раз, в зависимости от реализации.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/>
        </p:nvSpPr>
        <p:spPr>
          <a:xfrm>
            <a:off x="395287" y="2060575"/>
            <a:ext cx="8497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Самостоятельная отработка: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Описать cстандарты цифровой подписи 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DSA, ECDSA и ГОСТ Р 34.10-94, ГОСТ Р 34.10-2001, </a:t>
            </a:r>
            <a:b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ГОСТ Р 34.10-2012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ГОСТ 34.10-2018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db2004169gl">
  <a:themeElements>
    <a:clrScheme name="Тема Office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db2004169gl">
  <a:themeElements>
    <a:clrScheme name="Тема Office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