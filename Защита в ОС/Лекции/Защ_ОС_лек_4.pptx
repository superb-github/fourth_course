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342" r:id="rId3"/>
    <p:sldId id="343" r:id="rId4"/>
    <p:sldId id="344" r:id="rId5"/>
    <p:sldId id="345" r:id="rId6"/>
    <p:sldId id="346" r:id="rId7"/>
    <p:sldId id="347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39" r:id="rId21"/>
    <p:sldId id="340" r:id="rId22"/>
    <p:sldId id="341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31" r:id="rId33"/>
    <p:sldId id="332" r:id="rId34"/>
    <p:sldId id="333" r:id="rId35"/>
    <p:sldId id="334" r:id="rId36"/>
    <p:sldId id="335" r:id="rId37"/>
    <p:sldId id="336" r:id="rId38"/>
    <p:sldId id="337" r:id="rId39"/>
    <p:sldId id="338" r:id="rId40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1123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0415D-60D8-4DD3-82FF-C3E9F37B7A86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EBFB79-67B6-48FD-85A3-481596B9DE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DA6B1-92F4-4354-A59A-ECD912DEF3F1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E5EE1-7ED1-4E03-89FF-ECF006E455B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281B2-A4A5-4124-A0D9-B336468EDABF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70B5B4-6991-4693-A362-D0158A54DA8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65521-FED9-476C-B261-40B1CA195451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57B49-B1C2-4D1D-90D5-9DC16706D1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A05F3-01C7-46B1-8425-F490B6AC567F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A74F5-5845-494C-A55E-32718B71555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7E461-B27D-40E8-9F92-F4D68E092D8D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EA29B-99E4-4D4E-BBBD-E11164C75D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1B9485-7455-4E89-9E39-D5901C8E9F4D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DF75B8-A3C2-4655-B112-CCDE2C1C1A0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060B4-416F-46DE-9691-AEC4AA02C3D1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C1726-2D8D-4B80-AF14-13D76E5B24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74031-B430-44A5-A41C-2337D039248E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F40D1A-5ED1-4537-96BE-D9E7D9180DC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453D0-1269-4352-8A5D-92A51A859677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EDE02-9F60-470E-A17A-42EA15BFF6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70511-3A74-4229-A898-700D2BBB0561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4CAFB-2127-4B00-85AF-33640230CE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3D69ADC-CE32-4953-9D3B-E26DBA7DB4DF}" type="datetimeFigureOut">
              <a:rPr lang="ru-RU"/>
              <a:pPr>
                <a:defRPr/>
              </a:pPr>
              <a:t>27.09.2025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4012CC2-F52C-4E80-BD70-E8DA50B8983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468313" y="2924175"/>
            <a:ext cx="8229600" cy="1143000"/>
          </a:xfrm>
        </p:spPr>
        <p:txBody>
          <a:bodyPr/>
          <a:lstStyle/>
          <a:p>
            <a:r>
              <a:rPr lang="ru-RU" sz="4000" dirty="0">
                <a:latin typeface="Arial" charset="0"/>
              </a:rPr>
              <a:t>Лекция 4 </a:t>
            </a:r>
            <a:br>
              <a:rPr lang="ru-RU" sz="4000" dirty="0">
                <a:latin typeface="Arial" charset="0"/>
              </a:rPr>
            </a:br>
            <a:r>
              <a:rPr lang="ru-RU" sz="4000" dirty="0">
                <a:latin typeface="Arial" charset="0"/>
              </a:rPr>
              <a:t>Управление </a:t>
            </a:r>
            <a:r>
              <a:rPr lang="ru-RU" sz="4000" dirty="0" smtClean="0">
                <a:latin typeface="Arial" charset="0"/>
              </a:rPr>
              <a:t>доступом в ОС</a:t>
            </a:r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/>
          </p:cNvSpPr>
          <p:nvPr>
            <p:ph type="body" idx="1"/>
          </p:nvPr>
        </p:nvSpPr>
        <p:spPr>
          <a:xfrm>
            <a:off x="107504" y="0"/>
            <a:ext cx="9036496" cy="6741368"/>
          </a:xfrm>
        </p:spPr>
        <p:txBody>
          <a:bodyPr/>
          <a:lstStyle/>
          <a:p>
            <a:pPr marL="0" indent="0" algn="ctr">
              <a:spcBef>
                <a:spcPts val="0"/>
              </a:spcBef>
              <a:buNone/>
            </a:pPr>
            <a:r>
              <a:rPr lang="ru-RU" dirty="0" smtClean="0"/>
              <a:t>РАЗЛИЧИЯ </a:t>
            </a:r>
            <a:r>
              <a:rPr lang="ru-RU" dirty="0"/>
              <a:t>МЕЖДУ РАЗГРАНИЧЕНИЕМ </a:t>
            </a:r>
            <a:r>
              <a:rPr lang="ru-RU" dirty="0" smtClean="0"/>
              <a:t>ДОСТУПА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dirty="0" smtClean="0"/>
              <a:t>  </a:t>
            </a:r>
            <a:r>
              <a:rPr lang="ru-RU" dirty="0"/>
              <a:t>И КОНТРОЛЕМ ДОСТУПА В </a:t>
            </a:r>
            <a:r>
              <a:rPr lang="ru-RU" dirty="0" smtClean="0"/>
              <a:t>ИС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500" dirty="0"/>
              <a:t>Разграничение доступа и контроль доступа — две тесно связанные, но разные концепции в области информационной безопасности. Вот ключевые различия между ними: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500" dirty="0"/>
              <a:t> </a:t>
            </a:r>
            <a:r>
              <a:rPr lang="ru-RU" sz="2500" b="1" dirty="0" smtClean="0"/>
              <a:t>Контроль </a:t>
            </a:r>
            <a:r>
              <a:rPr lang="ru-RU" sz="2500" b="1" dirty="0"/>
              <a:t>доступа</a:t>
            </a:r>
            <a:endParaRPr lang="ru-RU" sz="25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500" dirty="0"/>
              <a:t>Это процесс проверки полномочий субъекта (например, пользователя или приложения) перед разрешением доступа к ресурсу (например, файлу, сервису или данным). Контроль доступа решает вопрос </a:t>
            </a:r>
            <a:r>
              <a:rPr lang="ru-RU" sz="2500" i="1" dirty="0"/>
              <a:t>"Кто имеет право обращаться к данному ресурсу?"</a:t>
            </a:r>
            <a:endParaRPr lang="ru-RU" sz="25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500" dirty="0"/>
              <a:t>Примеры контроля доступа: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2500" dirty="0"/>
              <a:t>Авторизация пользователей с помощью паролей или </a:t>
            </a:r>
            <a:r>
              <a:rPr lang="ru-RU" sz="2500" dirty="0" err="1"/>
              <a:t>токенов</a:t>
            </a:r>
            <a:r>
              <a:rPr lang="ru-RU" sz="2500" dirty="0"/>
              <a:t>.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2500" dirty="0"/>
              <a:t>Проверка ролей и привилегий пользователя при попытке войти в систему.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2500" dirty="0"/>
              <a:t>Биометрическая аутентификация (распознавание лица, отпечатков пальцев</a:t>
            </a:r>
            <a:r>
              <a:rPr lang="ru-RU" sz="2500" dirty="0" smtClean="0"/>
              <a:t>).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3922912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/>
          </p:cNvSpPr>
          <p:nvPr>
            <p:ph type="body" idx="1"/>
          </p:nvPr>
        </p:nvSpPr>
        <p:spPr>
          <a:xfrm>
            <a:off x="107504" y="0"/>
            <a:ext cx="9036496" cy="674136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ru-RU" sz="2500" b="1" dirty="0"/>
              <a:t>Разграничение доступа</a:t>
            </a:r>
            <a:endParaRPr lang="ru-RU" sz="25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500" dirty="0"/>
              <a:t>Разграничение доступа определяет правила и ограничения относительно того, каким пользователям и приложениям разрешено получать доступ к каким ресурсам и операциям. Оно фокусируется на ограничении действий субъектов (</a:t>
            </a:r>
            <a:r>
              <a:rPr lang="ru-RU" sz="2500" i="1" dirty="0"/>
              <a:t>"Что субъект может сделать с ресурсами?"</a:t>
            </a:r>
            <a:r>
              <a:rPr lang="ru-RU" sz="2500" dirty="0"/>
              <a:t>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500" dirty="0"/>
              <a:t>Примеры разграничения доступа: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2500" dirty="0"/>
              <a:t>Настройка разрешений файлов (чтение, запись, выполнение).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2500" dirty="0"/>
              <a:t>Ограничение доступа к критичным данным на уровне базы данных.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sz="2500" dirty="0"/>
              <a:t>Политики разделения обязанностей (один сотрудник не может одновременно выполнять взаимно конфликтующие операции).</a:t>
            </a:r>
          </a:p>
          <a:p>
            <a:pPr marL="0" indent="0" algn="ctr">
              <a:spcBef>
                <a:spcPts val="0"/>
              </a:spcBef>
              <a:buNone/>
            </a:pPr>
            <a:endParaRPr lang="ru-RU" dirty="0"/>
          </a:p>
          <a:p>
            <a:pPr>
              <a:buFont typeface="Arial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7725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/>
          </p:cNvSpPr>
          <p:nvPr>
            <p:ph type="body" idx="1"/>
          </p:nvPr>
        </p:nvSpPr>
        <p:spPr>
          <a:xfrm>
            <a:off x="107504" y="0"/>
            <a:ext cx="9036496" cy="6741368"/>
          </a:xfrm>
        </p:spPr>
        <p:txBody>
          <a:bodyPr/>
          <a:lstStyle/>
          <a:p>
            <a:pPr algn="ctr">
              <a:buNone/>
            </a:pPr>
            <a:r>
              <a:rPr lang="ru-RU" b="1" dirty="0"/>
              <a:t>Основные различия</a:t>
            </a:r>
            <a:endParaRPr lang="ru-RU" dirty="0"/>
          </a:p>
          <a:p>
            <a:pPr>
              <a:buFont typeface="Arial" charset="0"/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627665"/>
              </p:ext>
            </p:extLst>
          </p:nvPr>
        </p:nvGraphicFramePr>
        <p:xfrm>
          <a:off x="395536" y="1772816"/>
          <a:ext cx="8352927" cy="35699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4309"/>
                <a:gridCol w="2784309"/>
                <a:gridCol w="2784309"/>
              </a:tblGrid>
              <a:tr h="532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Критерий</a:t>
                      </a:r>
                      <a:endParaRPr lang="ru-RU" sz="2000" kern="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Контроль доступа</a:t>
                      </a:r>
                      <a:endParaRPr lang="ru-RU" sz="2000" kern="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>
                          <a:effectLst/>
                        </a:rPr>
                        <a:t>Разграничение доступа</a:t>
                      </a:r>
                      <a:endParaRPr lang="ru-RU" sz="20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</a:tr>
              <a:tr h="532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Основной вопрос</a:t>
                      </a:r>
                      <a:endParaRPr lang="ru-RU" sz="2000" kern="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Кто имеет доступ?</a:t>
                      </a:r>
                      <a:endParaRPr lang="ru-RU" sz="2000" kern="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Какие права у кого есть?</a:t>
                      </a:r>
                      <a:endParaRPr lang="ru-RU" sz="2000" kern="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</a:tr>
              <a:tr h="532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>
                          <a:effectLst/>
                        </a:rPr>
                        <a:t>Основное действие</a:t>
                      </a:r>
                      <a:endParaRPr lang="ru-RU" sz="20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>
                          <a:effectLst/>
                        </a:rPr>
                        <a:t>Проверка полномочий</a:t>
                      </a:r>
                      <a:endParaRPr lang="ru-RU" sz="20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Определение ограничений</a:t>
                      </a:r>
                      <a:endParaRPr lang="ru-RU" sz="2000" kern="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</a:tr>
              <a:tr h="532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>
                          <a:effectLst/>
                        </a:rPr>
                        <a:t>Когда выполняется</a:t>
                      </a:r>
                      <a:endParaRPr lang="ru-RU" sz="20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>
                          <a:effectLst/>
                        </a:rPr>
                        <a:t>Перед началом операции</a:t>
                      </a:r>
                      <a:endParaRPr lang="ru-RU" sz="20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 dirty="0">
                          <a:effectLst/>
                        </a:rPr>
                        <a:t>Постоянно действует внутри системы</a:t>
                      </a:r>
                      <a:endParaRPr lang="ru-RU" sz="2000" kern="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</a:tr>
              <a:tr h="5328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>
                          <a:effectLst/>
                        </a:rPr>
                        <a:t>Уровень детализации</a:t>
                      </a:r>
                      <a:endParaRPr lang="ru-RU" sz="20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>
                          <a:effectLst/>
                        </a:rPr>
                        <a:t>Грубая настройка (есть доступ/нет)</a:t>
                      </a:r>
                      <a:endParaRPr lang="ru-RU" sz="20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kern="100" dirty="0">
                          <a:effectLst/>
                        </a:rPr>
                        <a:t>Тонкая настройка (операции, роли)</a:t>
                      </a:r>
                      <a:endParaRPr lang="ru-RU" sz="2000" kern="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52400" marR="152400" marT="38100" marB="3810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72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/>
          </p:cNvSpPr>
          <p:nvPr>
            <p:ph type="body" idx="1"/>
          </p:nvPr>
        </p:nvSpPr>
        <p:spPr>
          <a:xfrm>
            <a:off x="107504" y="0"/>
            <a:ext cx="9036496" cy="674136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ru-RU" sz="2400" b="1" dirty="0" err="1" smtClean="0"/>
              <a:t>Linux</a:t>
            </a:r>
            <a:r>
              <a:rPr lang="ru-RU" sz="2400" b="1" dirty="0" smtClean="0"/>
              <a:t> </a:t>
            </a:r>
            <a:r>
              <a:rPr lang="ru-RU" sz="2400" dirty="0" smtClean="0"/>
              <a:t>1</a:t>
            </a:r>
            <a:r>
              <a:rPr lang="ru-RU" sz="2400" dirty="0"/>
              <a:t>. </a:t>
            </a:r>
            <a:r>
              <a:rPr lang="ru-RU" sz="2400" b="1" dirty="0"/>
              <a:t>Контроль доступа</a:t>
            </a:r>
            <a:endParaRPr lang="ru-RU" sz="24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/>
              <a:t>Представьте ситуацию, когда пользователь пытается подключиться к серверу </a:t>
            </a:r>
            <a:r>
              <a:rPr lang="ru-RU" sz="2400" dirty="0" err="1"/>
              <a:t>Linux</a:t>
            </a:r>
            <a:r>
              <a:rPr lang="ru-RU" sz="2400" dirty="0"/>
              <a:t> через SSH. Сначала он вводит своё имя пользователя и пароль (или ключ SSH). Если введённые данные верны, сервер проверяет наличие соответствующей учётной записи и даёт доступ пользователю</a:t>
            </a:r>
            <a:r>
              <a:rPr lang="ru-RU" sz="2400" dirty="0" smtClean="0"/>
              <a:t>. Пример </a:t>
            </a:r>
            <a:r>
              <a:rPr lang="ru-RU" sz="2400" dirty="0" err="1"/>
              <a:t>команды:ssh</a:t>
            </a:r>
            <a:r>
              <a:rPr lang="ru-RU" sz="2400" dirty="0"/>
              <a:t> </a:t>
            </a:r>
            <a:r>
              <a:rPr lang="ru-RU" sz="2400" dirty="0" err="1" smtClean="0"/>
              <a:t>username@server_address</a:t>
            </a:r>
            <a:r>
              <a:rPr lang="ru-RU" sz="2400" dirty="0" smtClean="0"/>
              <a:t>  ЭТО </a:t>
            </a:r>
            <a:r>
              <a:rPr lang="ru-RU" sz="2400" b="1" dirty="0" smtClean="0"/>
              <a:t>контроль </a:t>
            </a:r>
            <a:r>
              <a:rPr lang="ru-RU" sz="2400" b="1" dirty="0"/>
              <a:t>доступа</a:t>
            </a:r>
            <a:r>
              <a:rPr lang="ru-RU" sz="2400" dirty="0"/>
              <a:t> — проверка подлинности пользователя перед открытием сессии.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/>
              <a:t>2. </a:t>
            </a:r>
            <a:r>
              <a:rPr lang="ru-RU" sz="2400" b="1" dirty="0"/>
              <a:t>Разграничение доступа</a:t>
            </a:r>
            <a:endParaRPr lang="ru-RU" sz="24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/>
              <a:t>Теперь предположим, что пользователь вошёл в систему. Он хочет изменить файл /</a:t>
            </a:r>
            <a:r>
              <a:rPr lang="ru-RU" sz="2400" dirty="0" err="1"/>
              <a:t>etc</a:t>
            </a:r>
            <a:r>
              <a:rPr lang="ru-RU" sz="2400" dirty="0"/>
              <a:t>/</a:t>
            </a:r>
            <a:r>
              <a:rPr lang="ru-RU" sz="2400" dirty="0" err="1"/>
              <a:t>passwd</a:t>
            </a:r>
            <a:r>
              <a:rPr lang="ru-RU" sz="2400" dirty="0"/>
              <a:t>, который хранит информацию обо всех пользователях. Но </a:t>
            </a:r>
            <a:r>
              <a:rPr lang="ru-RU" sz="2400" dirty="0" err="1"/>
              <a:t>Linux</a:t>
            </a:r>
            <a:r>
              <a:rPr lang="ru-RU" sz="2400" dirty="0"/>
              <a:t> ограничивает доступ к этому файлу только администраторам (</a:t>
            </a:r>
            <a:r>
              <a:rPr lang="ru-RU" sz="2400" dirty="0" err="1"/>
              <a:t>root</a:t>
            </a:r>
            <a:r>
              <a:rPr lang="ru-RU" sz="2400" dirty="0"/>
              <a:t>) или членам специальной группы. Пользователь видит сообщение об ошибке и не может редактировать файл.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 err="1"/>
              <a:t>Команда:sudo</a:t>
            </a:r>
            <a:r>
              <a:rPr lang="ru-RU" sz="2400" dirty="0"/>
              <a:t> </a:t>
            </a:r>
            <a:r>
              <a:rPr lang="ru-RU" sz="2400" dirty="0" err="1"/>
              <a:t>nano</a:t>
            </a:r>
            <a:r>
              <a:rPr lang="ru-RU" sz="2400" dirty="0"/>
              <a:t> /</a:t>
            </a:r>
            <a:r>
              <a:rPr lang="ru-RU" sz="2400" dirty="0" err="1" smtClean="0"/>
              <a:t>etc</a:t>
            </a:r>
            <a:r>
              <a:rPr lang="ru-RU" sz="2400" dirty="0" smtClean="0"/>
              <a:t>/</a:t>
            </a:r>
            <a:r>
              <a:rPr lang="ru-RU" sz="2400" dirty="0" err="1" smtClean="0"/>
              <a:t>passwd</a:t>
            </a:r>
            <a:r>
              <a:rPr lang="ru-RU" sz="2400" dirty="0" smtClean="0"/>
              <a:t> Результат </a:t>
            </a:r>
            <a:r>
              <a:rPr lang="ru-RU" sz="2400" dirty="0"/>
              <a:t>зависит от уровня привилегий пользователя. Обычный пользователь получит ошибку, администратор сможет успешно открыть файл.</a:t>
            </a:r>
          </a:p>
          <a:p>
            <a:pPr>
              <a:buFont typeface="Arial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772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674136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ru-RU" sz="2400" b="1" dirty="0" err="1" smtClean="0"/>
              <a:t>Windows</a:t>
            </a:r>
            <a:r>
              <a:rPr lang="ru-RU" sz="2400" b="1" dirty="0" smtClean="0"/>
              <a:t> </a:t>
            </a:r>
            <a:r>
              <a:rPr lang="ru-RU" sz="2400" dirty="0" smtClean="0"/>
              <a:t>1</a:t>
            </a:r>
            <a:r>
              <a:rPr lang="ru-RU" sz="2400" dirty="0"/>
              <a:t>. </a:t>
            </a:r>
            <a:r>
              <a:rPr lang="ru-RU" sz="2400" b="1" dirty="0"/>
              <a:t>Контроль доступа</a:t>
            </a:r>
            <a:endParaRPr lang="ru-RU" sz="24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/>
              <a:t>Предположим, вы хотите зайти в корпоративную сеть с компьютера под управлением </a:t>
            </a:r>
            <a:r>
              <a:rPr lang="ru-RU" sz="2400" dirty="0" err="1"/>
              <a:t>Windows</a:t>
            </a:r>
            <a:r>
              <a:rPr lang="ru-RU" sz="2400" dirty="0"/>
              <a:t>. Вы вводите свои учетные данные (пароль домена или PIN-код). Система сравнивает ваши данные с базой зарегистрированных пользователей </a:t>
            </a:r>
            <a:r>
              <a:rPr lang="ru-RU" sz="2400" dirty="0" err="1"/>
              <a:t>Active</a:t>
            </a:r>
            <a:r>
              <a:rPr lang="ru-RU" sz="2400" dirty="0"/>
              <a:t> </a:t>
            </a:r>
            <a:r>
              <a:rPr lang="ru-RU" sz="2400" dirty="0" err="1"/>
              <a:t>Directory</a:t>
            </a:r>
            <a:r>
              <a:rPr lang="ru-RU" sz="2400" dirty="0"/>
              <a:t> и, если всё совпадает, разрешает доступ к локальным ресурсам или сетевым службам</a:t>
            </a:r>
            <a:r>
              <a:rPr lang="ru-RU" sz="2400" dirty="0" smtClean="0"/>
              <a:t>. Пример </a:t>
            </a:r>
            <a:r>
              <a:rPr lang="ru-RU" sz="2400" dirty="0"/>
              <a:t>окна </a:t>
            </a:r>
            <a:r>
              <a:rPr lang="ru-RU" sz="2400" dirty="0" err="1"/>
              <a:t>входа:Windows</a:t>
            </a:r>
            <a:r>
              <a:rPr lang="ru-RU" sz="2400" dirty="0"/>
              <a:t> приветствует вас окном ввода имени пользователя и пароля.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/>
              <a:t>Эта процедура — классический пример </a:t>
            </a:r>
            <a:r>
              <a:rPr lang="ru-RU" sz="2400" b="1" dirty="0"/>
              <a:t>контроля доступа</a:t>
            </a:r>
            <a:r>
              <a:rPr lang="ru-RU" sz="2400" dirty="0"/>
              <a:t>. Система сначала удостоверяется, что вы действительно имеете право входить в сеть.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/>
              <a:t>2. </a:t>
            </a:r>
            <a:r>
              <a:rPr lang="ru-RU" sz="2400" b="1" dirty="0"/>
              <a:t>Разграничение доступа</a:t>
            </a:r>
            <a:endParaRPr lang="ru-RU" sz="24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/>
              <a:t>Допустим, вы вошли в систему и решили скопировать файлы из папки C:\Program </a:t>
            </a:r>
            <a:r>
              <a:rPr lang="ru-RU" sz="2400" dirty="0" err="1"/>
              <a:t>Files</a:t>
            </a:r>
            <a:r>
              <a:rPr lang="ru-RU" sz="2400" dirty="0"/>
              <a:t>\</a:t>
            </a:r>
            <a:r>
              <a:rPr lang="ru-RU" sz="2400" dirty="0" err="1"/>
              <a:t>Microsoft</a:t>
            </a:r>
            <a:r>
              <a:rPr lang="ru-RU" sz="2400" dirty="0"/>
              <a:t> </a:t>
            </a:r>
            <a:r>
              <a:rPr lang="ru-RU" sz="2400" dirty="0" err="1"/>
              <a:t>Office</a:t>
            </a:r>
            <a:r>
              <a:rPr lang="ru-RU" sz="2400" dirty="0"/>
              <a:t>. Однако эта папка доступна только администратору или программам, установленным от имени администратора. Ваша попытка завершится неудачей, если вы обычный пользователь без административных прав.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/>
              <a:t>Попытка копирования </a:t>
            </a:r>
            <a:r>
              <a:rPr lang="ru-RU" sz="2400" dirty="0" err="1"/>
              <a:t>файла:Система</a:t>
            </a:r>
            <a:r>
              <a:rPr lang="ru-RU" sz="2400" dirty="0"/>
              <a:t> выдаст предупреждение о нехватке прав.</a:t>
            </a:r>
          </a:p>
          <a:p>
            <a:pPr>
              <a:buFont typeface="Arial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772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/>
          </p:cNvSpPr>
          <p:nvPr>
            <p:ph type="body" idx="1"/>
          </p:nvPr>
        </p:nvSpPr>
        <p:spPr>
          <a:xfrm>
            <a:off x="107504" y="0"/>
            <a:ext cx="9036496" cy="6741368"/>
          </a:xfrm>
        </p:spPr>
        <p:txBody>
          <a:bodyPr/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2500" b="1" dirty="0"/>
              <a:t>Резюме</a:t>
            </a:r>
            <a:endParaRPr lang="ru-RU" sz="2500" dirty="0"/>
          </a:p>
          <a:p>
            <a:pPr marL="0" lvl="0" indent="0" algn="just">
              <a:spcBef>
                <a:spcPts val="0"/>
              </a:spcBef>
              <a:buNone/>
            </a:pPr>
            <a:r>
              <a:rPr lang="ru-RU" sz="2500" b="1" dirty="0"/>
              <a:t>Контроль доступа</a:t>
            </a:r>
            <a:r>
              <a:rPr lang="ru-RU" sz="2500" dirty="0"/>
              <a:t> проверяет личность пользователя и подтверждает его право на использование ресурса.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ru-RU" sz="2500" b="1" dirty="0"/>
              <a:t>Разграничение доступа</a:t>
            </a:r>
            <a:r>
              <a:rPr lang="ru-RU" sz="2500" dirty="0"/>
              <a:t> регулирует возможности конкретного пользователя после успешного прохождения контроля доступа, ограничивая действия (например, чтение, изменение, удаление файлов или запуск программ).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ru-RU" sz="2500" b="1" dirty="0" smtClean="0"/>
              <a:t>Контроль </a:t>
            </a:r>
            <a:r>
              <a:rPr lang="ru-RU" sz="2500" b="1" dirty="0"/>
              <a:t>доступа </a:t>
            </a:r>
            <a:r>
              <a:rPr lang="ru-RU" sz="2500" dirty="0"/>
              <a:t>проверяет полномочия пользователя, позволяя или запрещая доступ. </a:t>
            </a:r>
            <a:r>
              <a:rPr lang="ru-RU" sz="2500" b="1" dirty="0"/>
              <a:t>Разграничение доступа </a:t>
            </a:r>
            <a:r>
              <a:rPr lang="ru-RU" sz="2500" dirty="0"/>
              <a:t>устанавливает строгие правила относительно того, какими действиями обладает тот или иной субъект, и контролирует, какие ресурсы доступны каждому пользователю.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ru-RU" sz="2500" dirty="0"/>
              <a:t>Понимание обоих аспектов важно для обеспечения надежной защиты информационных ресурсов организации.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500" dirty="0"/>
              <a:t>Важно понимать оба аспекта для грамотной настройки безопасности ваших систем.</a:t>
            </a:r>
          </a:p>
          <a:p>
            <a:pPr>
              <a:buFont typeface="Arial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772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/>
          </p:cNvSpPr>
          <p:nvPr>
            <p:ph type="body" idx="1"/>
          </p:nvPr>
        </p:nvSpPr>
        <p:spPr>
          <a:xfrm>
            <a:off x="107504" y="1"/>
            <a:ext cx="9036496" cy="6858000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buNone/>
            </a:pPr>
            <a:r>
              <a:rPr lang="ru-RU" sz="2800" dirty="0" smtClean="0"/>
              <a:t>2 ОСНОВНЫЕПРНЯТИЯ И ОПРЕДЕЛЕНИЯ</a:t>
            </a:r>
          </a:p>
          <a:p>
            <a:pPr marL="0" indent="0">
              <a:lnSpc>
                <a:spcPct val="90000"/>
              </a:lnSpc>
              <a:buNone/>
            </a:pPr>
            <a:endParaRPr lang="ru-RU" sz="2800" dirty="0"/>
          </a:p>
          <a:p>
            <a:pPr marL="0" indent="0">
              <a:lnSpc>
                <a:spcPct val="90000"/>
              </a:lnSpc>
              <a:buNone/>
            </a:pPr>
            <a:r>
              <a:rPr lang="ru-RU" sz="2800" dirty="0" smtClean="0"/>
              <a:t>Дадим </a:t>
            </a:r>
            <a:r>
              <a:rPr lang="ru-RU" sz="2800" dirty="0"/>
              <a:t>основные определения </a:t>
            </a:r>
            <a:endParaRPr lang="ru-RU" sz="2800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ru-RU" sz="2800" dirty="0" smtClean="0"/>
              <a:t>Используем </a:t>
            </a:r>
            <a:r>
              <a:rPr lang="ru-RU" sz="2800" dirty="0"/>
              <a:t>следующие обозначения: </a:t>
            </a:r>
            <a:r>
              <a:rPr lang="ru-RU" sz="2800" i="1" dirty="0"/>
              <a:t>А А</a:t>
            </a:r>
            <a:r>
              <a:rPr lang="ru-RU" sz="2800" dirty="0"/>
              <a:t>— конечный алфавит;</a:t>
            </a:r>
            <a:endParaRPr lang="ru-RU" sz="2800" i="1" dirty="0"/>
          </a:p>
          <a:p>
            <a:pPr marL="0" indent="0">
              <a:lnSpc>
                <a:spcPct val="90000"/>
              </a:lnSpc>
              <a:buNone/>
            </a:pPr>
            <a:r>
              <a:rPr lang="ru-RU" sz="2800" i="1" dirty="0"/>
              <a:t>А* </a:t>
            </a:r>
            <a:r>
              <a:rPr lang="ru-RU" sz="2800" dirty="0"/>
              <a:t>— множество слов конечной длины в алфавите </a:t>
            </a:r>
            <a:r>
              <a:rPr lang="ru-RU" sz="2800" i="1" dirty="0"/>
              <a:t>А;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2800" i="1" dirty="0"/>
              <a:t>Я </a:t>
            </a:r>
            <a:r>
              <a:rPr lang="ru-RU" sz="2800" dirty="0">
                <a:sym typeface="Symbol" pitchFamily="18" charset="2"/>
              </a:rPr>
              <a:t></a:t>
            </a:r>
            <a:r>
              <a:rPr lang="ru-RU" sz="2800" dirty="0"/>
              <a:t> </a:t>
            </a:r>
            <a:r>
              <a:rPr lang="ru-RU" sz="2800" i="1" dirty="0"/>
              <a:t>А* </a:t>
            </a:r>
            <a:r>
              <a:rPr lang="ru-RU" sz="2800" dirty="0"/>
              <a:t>— язык описания информации, являющийся множеством слов, выделенных по определенным правилам из </a:t>
            </a:r>
            <a:r>
              <a:rPr lang="ru-RU" sz="2800" i="1" dirty="0"/>
              <a:t>А.</a:t>
            </a:r>
            <a:endParaRPr lang="ru-RU" sz="2800" b="1" dirty="0"/>
          </a:p>
          <a:p>
            <a:pPr marL="0" indent="0">
              <a:lnSpc>
                <a:spcPct val="90000"/>
              </a:lnSpc>
              <a:buNone/>
            </a:pPr>
            <a:r>
              <a:rPr lang="ru-RU" sz="2800" b="1" dirty="0"/>
              <a:t>Аксиома. </a:t>
            </a:r>
            <a:r>
              <a:rPr lang="ru-RU" sz="2800" dirty="0"/>
              <a:t>Любая информация в компьютерной системе представляется словом в некотором языке </a:t>
            </a:r>
            <a:r>
              <a:rPr lang="ru-RU" sz="2800" i="1" dirty="0"/>
              <a:t>Я.</a:t>
            </a:r>
            <a:endParaRPr lang="ru-RU"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/>
          <a:lstStyle/>
          <a:p>
            <a:r>
              <a:rPr lang="ru-RU" b="1"/>
              <a:t>Определение. </a:t>
            </a:r>
            <a:r>
              <a:rPr lang="ru-RU"/>
              <a:t>Объект относительно языка </a:t>
            </a:r>
            <a:r>
              <a:rPr lang="ru-RU" i="1"/>
              <a:t>Я </a:t>
            </a:r>
            <a:r>
              <a:rPr lang="ru-RU"/>
              <a:t>(или просто объект) — произвольное конечное множество слов языка </a:t>
            </a:r>
            <a:r>
              <a:rPr lang="ru-RU" i="1"/>
              <a:t>Я.</a:t>
            </a:r>
            <a:endParaRPr lang="ru-RU" b="1"/>
          </a:p>
          <a:p>
            <a:r>
              <a:rPr lang="ru-RU" b="1"/>
              <a:t>Определение. </a:t>
            </a:r>
            <a:r>
              <a:rPr lang="ru-RU"/>
              <a:t>Преобразование информации — отображение, заданное на множестве слов языка </a:t>
            </a:r>
            <a:r>
              <a:rPr lang="ru-RU" i="1"/>
              <a:t>Я.</a:t>
            </a:r>
          </a:p>
          <a:p>
            <a:pPr>
              <a:buFont typeface="Arial" charset="0"/>
              <a:buNone/>
            </a:pPr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/>
          </p:cNvSpPr>
          <p:nvPr>
            <p:ph type="body" idx="1"/>
          </p:nvPr>
        </p:nvSpPr>
        <p:spPr>
          <a:xfrm>
            <a:off x="457200" y="188913"/>
            <a:ext cx="8229600" cy="66690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800" b="1"/>
              <a:t>Определение 1.4. </a:t>
            </a:r>
            <a:r>
              <a:rPr lang="ru-RU" sz="2800"/>
              <a:t>Информационным потоком от объекта </a:t>
            </a:r>
            <a:r>
              <a:rPr lang="ru-RU" sz="2800" i="1"/>
              <a:t>о </a:t>
            </a:r>
            <a:r>
              <a:rPr lang="ru-RU" sz="2800"/>
              <a:t>(источника) к объекту </a:t>
            </a:r>
            <a:r>
              <a:rPr lang="ru-RU" sz="2800" i="1"/>
              <a:t>о' </a:t>
            </a:r>
            <a:r>
              <a:rPr lang="ru-RU" sz="2800"/>
              <a:t>(приемнику) назовем преобразование информации в объекте о', зависящее от информации в объекте </a:t>
            </a:r>
            <a:r>
              <a:rPr lang="ru-RU" sz="2800" i="1"/>
              <a:t>о.</a:t>
            </a:r>
            <a:endParaRPr lang="ru-RU" sz="2800"/>
          </a:p>
          <a:p>
            <a:pPr>
              <a:lnSpc>
                <a:spcPct val="80000"/>
              </a:lnSpc>
            </a:pPr>
            <a:r>
              <a:rPr lang="ru-RU" sz="2800"/>
              <a:t>Субъект для выполнения преобразования использует информацию, содержащуюся в объектах компьютерной системы, т.е. осуществляет к ним доступ. Основными видами доступа являются:</a:t>
            </a:r>
          </a:p>
          <a:p>
            <a:pPr>
              <a:lnSpc>
                <a:spcPct val="80000"/>
              </a:lnSpc>
            </a:pPr>
            <a:r>
              <a:rPr lang="ru-RU" sz="2800"/>
              <a:t>доступ субъекта к объекту на чтение </a:t>
            </a:r>
            <a:r>
              <a:rPr lang="ru-RU" sz="2800" i="1"/>
              <a:t>(</a:t>
            </a:r>
            <a:r>
              <a:rPr lang="en-US" sz="2800" i="1"/>
              <a:t>read</a:t>
            </a:r>
            <a:r>
              <a:rPr lang="ru-RU" sz="2800" i="1"/>
              <a:t>);</a:t>
            </a:r>
            <a:endParaRPr lang="ru-RU" sz="2800"/>
          </a:p>
          <a:p>
            <a:pPr>
              <a:lnSpc>
                <a:spcPct val="80000"/>
              </a:lnSpc>
            </a:pPr>
            <a:r>
              <a:rPr lang="ru-RU" sz="2800"/>
              <a:t>доступ субъекта к объекту на запись </a:t>
            </a:r>
            <a:r>
              <a:rPr lang="ru-RU" sz="2800" i="1"/>
              <a:t>(</a:t>
            </a:r>
            <a:r>
              <a:rPr lang="en-US" sz="2800" i="1"/>
              <a:t>write</a:t>
            </a:r>
            <a:r>
              <a:rPr lang="ru-RU" sz="2800" i="1"/>
              <a:t>), </a:t>
            </a:r>
            <a:r>
              <a:rPr lang="ru-RU" sz="2800"/>
              <a:t>при этом возможно уничтожение информации, имевшейся в объекте;</a:t>
            </a:r>
          </a:p>
          <a:p>
            <a:pPr>
              <a:lnSpc>
                <a:spcPct val="80000"/>
              </a:lnSpc>
            </a:pPr>
            <a:r>
              <a:rPr lang="ru-RU" sz="2800"/>
              <a:t>• доступ субъекта к объекту на активизацию </a:t>
            </a:r>
            <a:r>
              <a:rPr lang="ru-RU" sz="2800" i="1"/>
              <a:t>(</a:t>
            </a:r>
            <a:r>
              <a:rPr lang="en-US" sz="2800" i="1"/>
              <a:t>execute</a:t>
            </a:r>
            <a:r>
              <a:rPr lang="ru-RU" sz="2800" i="1"/>
              <a:t>), </a:t>
            </a:r>
            <a:r>
              <a:rPr lang="ru-RU" sz="2800"/>
              <a:t>при этом инициируется выполнение (производится активизация) в компьютерной системе преобразования информации, описанного в объекте.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/>
          </p:cNvSpPr>
          <p:nvPr>
            <p:ph type="body" idx="1"/>
          </p:nvPr>
        </p:nvSpPr>
        <p:spPr>
          <a:xfrm>
            <a:off x="457200" y="404813"/>
            <a:ext cx="8229600" cy="5721350"/>
          </a:xfrm>
        </p:spPr>
        <p:txBody>
          <a:bodyPr/>
          <a:lstStyle/>
          <a:p>
            <a:r>
              <a:rPr lang="ru-RU" b="1"/>
              <a:t>Определение. </a:t>
            </a:r>
            <a:r>
              <a:rPr lang="ru-RU"/>
              <a:t>В каждом состоянии компьютерной системы на множестве субъектов введем бинарное отношение </a:t>
            </a:r>
            <a:r>
              <a:rPr lang="ru-RU" i="1"/>
              <a:t>а </a:t>
            </a:r>
            <a:r>
              <a:rPr lang="ru-RU"/>
              <a:t>активиза­ции: выполняется </a:t>
            </a:r>
            <a:r>
              <a:rPr lang="en-US"/>
              <a:t>s</a:t>
            </a:r>
            <a:r>
              <a:rPr lang="ru-RU"/>
              <a:t>, </a:t>
            </a:r>
            <a:r>
              <a:rPr lang="en-US" i="1"/>
              <a:t>a s</a:t>
            </a:r>
            <a:r>
              <a:rPr lang="ru-RU" i="1"/>
              <a:t>2, </a:t>
            </a:r>
            <a:r>
              <a:rPr lang="ru-RU"/>
              <a:t>где </a:t>
            </a:r>
            <a:r>
              <a:rPr lang="en-US"/>
              <a:t>s</a:t>
            </a:r>
            <a:r>
              <a:rPr lang="ru-RU"/>
              <a:t>1 </a:t>
            </a:r>
            <a:r>
              <a:rPr lang="en-US" i="1"/>
              <a:t>s</a:t>
            </a:r>
            <a:r>
              <a:rPr lang="ru-RU" i="1"/>
              <a:t>2 </a:t>
            </a:r>
            <a:r>
              <a:rPr lang="ru-RU" i="1">
                <a:sym typeface="Symbol" pitchFamily="18" charset="2"/>
              </a:rPr>
              <a:t></a:t>
            </a:r>
            <a:r>
              <a:rPr lang="ru-RU"/>
              <a:t>  </a:t>
            </a:r>
            <a:r>
              <a:rPr lang="en-US" i="1"/>
              <a:t>S</a:t>
            </a:r>
            <a:r>
              <a:rPr lang="ru-RU" i="1"/>
              <a:t>, </a:t>
            </a:r>
            <a:r>
              <a:rPr lang="ru-RU"/>
              <a:t>если субъект </a:t>
            </a:r>
            <a:r>
              <a:rPr lang="en-US"/>
              <a:t>s</a:t>
            </a:r>
            <a:r>
              <a:rPr lang="ru-RU"/>
              <a:t>1 выполняя описанное в нем преобразование информации, инициирует выполнение преобразования информации, описанного в субъекте </a:t>
            </a:r>
            <a:r>
              <a:rPr lang="en-US" i="1"/>
              <a:t>s</a:t>
            </a:r>
            <a:r>
              <a:rPr lang="ru-RU" i="1"/>
              <a:t>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/>
          </p:cNvSpPr>
          <p:nvPr>
            <p:ph type="body" idx="1"/>
          </p:nvPr>
        </p:nvSpPr>
        <p:spPr>
          <a:xfrm>
            <a:off x="457200" y="476250"/>
            <a:ext cx="8229600" cy="5649913"/>
          </a:xfrm>
        </p:spPr>
        <p:txBody>
          <a:bodyPr/>
          <a:lstStyle/>
          <a:p>
            <a:r>
              <a:rPr lang="ru-RU" b="1"/>
              <a:t>Определение. </a:t>
            </a:r>
            <a:r>
              <a:rPr lang="ru-RU"/>
              <a:t>В каждом состоянии компьютерной системы определим ориентированный граф активизации </a:t>
            </a:r>
            <a:r>
              <a:rPr lang="en-US" i="1"/>
              <a:t>G</a:t>
            </a:r>
            <a:r>
              <a:rPr lang="ru-RU" i="1"/>
              <a:t>=(</a:t>
            </a:r>
            <a:r>
              <a:rPr lang="en-US" i="1"/>
              <a:t>S</a:t>
            </a:r>
            <a:r>
              <a:rPr lang="ru-RU" i="1"/>
              <a:t>,</a:t>
            </a:r>
            <a:r>
              <a:rPr lang="en-US" i="1"/>
              <a:t>E</a:t>
            </a:r>
            <a:r>
              <a:rPr lang="ru-RU" i="1"/>
              <a:t>), </a:t>
            </a:r>
            <a:r>
              <a:rPr lang="ru-RU"/>
              <a:t>где </a:t>
            </a:r>
            <a:r>
              <a:rPr lang="en-US" i="1"/>
              <a:t>S</a:t>
            </a:r>
            <a:r>
              <a:rPr lang="ru-RU" i="1"/>
              <a:t> — </a:t>
            </a:r>
            <a:r>
              <a:rPr lang="ru-RU"/>
              <a:t>вершины графа; </a:t>
            </a:r>
            <a:r>
              <a:rPr lang="ru-RU" i="1"/>
              <a:t>Е — </a:t>
            </a:r>
            <a:r>
              <a:rPr lang="ru-RU"/>
              <a:t>ребра графа, соединяющие субъектов, связанных бинарным отношением активизации.</a:t>
            </a:r>
          </a:p>
          <a:p>
            <a:r>
              <a:rPr lang="ru-RU" b="1"/>
              <a:t>Аксиома (основная аксиома теории защиты информации). </a:t>
            </a:r>
            <a:r>
              <a:rPr lang="ru-RU"/>
              <a:t>Все вопросы безопасности информации описываются доступами субъектов к объектам.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/>
          </p:cNvSpPr>
          <p:nvPr>
            <p:ph type="body" idx="1"/>
          </p:nvPr>
        </p:nvSpPr>
        <p:spPr>
          <a:xfrm>
            <a:off x="457200" y="549275"/>
            <a:ext cx="8229600" cy="5576888"/>
          </a:xfrm>
        </p:spPr>
        <p:txBody>
          <a:bodyPr/>
          <a:lstStyle/>
          <a:p>
            <a:r>
              <a:rPr lang="ru-RU" b="1"/>
              <a:t>Определение. </a:t>
            </a:r>
            <a:r>
              <a:rPr lang="ru-RU"/>
              <a:t>Угроза безопасности информации (компьютерной системы) — потенциально возможное воздействие на информацию (компьютерную систему), которое прямо или косвенно может нанести урон пользователям или владельцам информации (компьютерной системы).</a:t>
            </a:r>
          </a:p>
          <a:p>
            <a:r>
              <a:rPr lang="ru-RU"/>
              <a:t>При классификации угроз выделяют три основных свойства безопасности информации.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/>
          </p:cNvSpPr>
          <p:nvPr>
            <p:ph type="body" idx="1"/>
          </p:nvPr>
        </p:nvSpPr>
        <p:spPr>
          <a:xfrm>
            <a:off x="457200" y="620713"/>
            <a:ext cx="8229600" cy="5761037"/>
          </a:xfrm>
        </p:spPr>
        <p:txBody>
          <a:bodyPr/>
          <a:lstStyle/>
          <a:p>
            <a:r>
              <a:rPr lang="ru-RU" b="1"/>
              <a:t>Определение. </a:t>
            </a:r>
            <a:r>
              <a:rPr lang="ru-RU"/>
              <a:t>Конфиденциальность информации — субъективно определяемая характеристика информации, указывающая на необходимость введения ограничений на круг субъектов, имеющих доступ к данной информации.</a:t>
            </a:r>
            <a:endParaRPr lang="ru-RU" b="1"/>
          </a:p>
          <a:p>
            <a:r>
              <a:rPr lang="ru-RU" b="1"/>
              <a:t>Определение. </a:t>
            </a:r>
            <a:r>
              <a:rPr lang="ru-RU"/>
              <a:t>Целостность информации — свойство информации, заключающееся в ее существовании в неискаженном виде (неизменном по отношению к некоторому фиксированному ее состоянию).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/>
          </p:cNvSpPr>
          <p:nvPr>
            <p:ph type="body" idx="1"/>
          </p:nvPr>
        </p:nvSpPr>
        <p:spPr>
          <a:xfrm>
            <a:off x="457200" y="333375"/>
            <a:ext cx="8229600" cy="5792788"/>
          </a:xfrm>
        </p:spPr>
        <p:txBody>
          <a:bodyPr/>
          <a:lstStyle/>
          <a:p>
            <a:r>
              <a:rPr lang="ru-RU" sz="2800" b="1"/>
              <a:t>Определение. </a:t>
            </a:r>
            <a:r>
              <a:rPr lang="ru-RU" sz="2800"/>
              <a:t>Доступность информации — свойство ком­пьютерной системы (среды, средств и технологии обработки), в которой циркулирует информация, характеризующееся способностью обеспечивать своевременный беспрепятственный доступ субъектов к интересующей их информации и готовность соответствующих автоматизированных служб к обслуживанию поступающих от субъектов запросов всегда, когда в обращении к ним возникает необходимость.</a:t>
            </a:r>
          </a:p>
          <a:p>
            <a:r>
              <a:rPr lang="ru-RU" sz="2800"/>
              <a:t>В соответствии с тремя основными свойствами безопасности информации различают три классические угрозы безопасности информации.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Grp="1"/>
          </p:cNvSpPr>
          <p:nvPr>
            <p:ph type="body" idx="1"/>
          </p:nvPr>
        </p:nvSpPr>
        <p:spPr>
          <a:xfrm>
            <a:off x="457200" y="333375"/>
            <a:ext cx="8229600" cy="6524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z="2800" b="1"/>
              <a:t>Определение. </a:t>
            </a:r>
            <a:r>
              <a:rPr lang="ru-RU" sz="2800"/>
              <a:t>Угроза конфиденциальности информации состоит в нарушении установленных ограничений на доступ к информации.</a:t>
            </a:r>
            <a:endParaRPr lang="ru-RU" sz="2800" b="1"/>
          </a:p>
          <a:p>
            <a:pPr>
              <a:lnSpc>
                <a:spcPct val="90000"/>
              </a:lnSpc>
            </a:pPr>
            <a:r>
              <a:rPr lang="ru-RU" sz="2800" b="1"/>
              <a:t>Определение. </a:t>
            </a:r>
            <a:r>
              <a:rPr lang="ru-RU" sz="2800"/>
              <a:t>Угроза целостности информации — несанкционированное изменение информации, случайное или преднамеренное.</a:t>
            </a:r>
            <a:endParaRPr lang="ru-RU" sz="2800" b="1"/>
          </a:p>
          <a:p>
            <a:pPr>
              <a:lnSpc>
                <a:spcPct val="90000"/>
              </a:lnSpc>
            </a:pPr>
            <a:r>
              <a:rPr lang="ru-RU" sz="2800" b="1"/>
              <a:t>Определение. </a:t>
            </a:r>
            <a:r>
              <a:rPr lang="ru-RU" sz="2800"/>
              <a:t>Угроза доступности информации осуществляется, когда несанкционированно блокируется доступ к информации (блокирование может быть постоянным или на некоторое время, достаточное, чтобы информация стала бесполезной).</a:t>
            </a:r>
          </a:p>
          <a:p>
            <a:pPr>
              <a:lnSpc>
                <a:spcPct val="90000"/>
              </a:lnSpc>
            </a:pPr>
            <a:r>
              <a:rPr lang="ru-RU" sz="2800"/>
              <a:t>Кроме перечисленных угроз выделяют еще одну угрозу, реализация которой, как правило, предшествует реализации любой из классических угроз.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/>
          </p:cNvSpPr>
          <p:nvPr>
            <p:ph type="body" idx="1"/>
          </p:nvPr>
        </p:nvSpPr>
        <p:spPr>
          <a:xfrm>
            <a:off x="468313" y="333375"/>
            <a:ext cx="8229600" cy="6524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z="2800" b="1"/>
              <a:t>Определение. </a:t>
            </a:r>
            <a:r>
              <a:rPr lang="ru-RU" sz="2800"/>
              <a:t>Угроза раскрытия параметров компьютерной системы — преодоление защиты компьютерной системы, выявление параметров, функций и свойств ее системы безопасности.</a:t>
            </a:r>
          </a:p>
          <a:p>
            <a:pPr>
              <a:lnSpc>
                <a:spcPct val="90000"/>
              </a:lnSpc>
            </a:pPr>
            <a:r>
              <a:rPr lang="ru-RU" sz="2800"/>
              <a:t>При анализе угрозы целостности информации следует иметь в виду, что язык ее описания аналогичен языку описания угрозы конфиденциальности. Используя при описании требований защиты информации от угрозы целостности доступы субъектов к объектам, можно сделать выводы, аналогичные выводам, полученным при описании требований защиты от угрозы конфиденциальности; при этом следует заменить доступы на чтение информации доступами на запись, и наоборот.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/>
          </p:cNvSpPr>
          <p:nvPr>
            <p:ph type="body" idx="1"/>
          </p:nvPr>
        </p:nvSpPr>
        <p:spPr>
          <a:xfrm>
            <a:off x="457200" y="333375"/>
            <a:ext cx="8229600" cy="6524625"/>
          </a:xfrm>
        </p:spPr>
        <p:txBody>
          <a:bodyPr/>
          <a:lstStyle/>
          <a:p>
            <a:r>
              <a:rPr lang="ru-RU" sz="2800"/>
              <a:t>Угроза доступности информации, как правило, описывается с использованием параметра, называемого максимальным временем ожидания ответа на запрос на доступ к ресурсу </a:t>
            </a:r>
            <a:r>
              <a:rPr lang="ru-RU" sz="2800" i="1"/>
              <a:t>(</a:t>
            </a:r>
            <a:r>
              <a:rPr lang="en-US" sz="2800" i="1"/>
              <a:t>MWT</a:t>
            </a:r>
            <a:r>
              <a:rPr lang="ru-RU" sz="2800" i="1"/>
              <a:t> — </a:t>
            </a:r>
            <a:r>
              <a:rPr lang="en-US" sz="2800" i="1"/>
              <a:t>maximum wait time</a:t>
            </a:r>
            <a:r>
              <a:rPr lang="ru-RU" sz="2800" i="1"/>
              <a:t>). </a:t>
            </a:r>
            <a:r>
              <a:rPr lang="ru-RU" sz="2800"/>
              <a:t>Таким образом, для каждого ресурса компьютерной системы определяется время, приемлемое для ожидания его получения.</a:t>
            </a:r>
          </a:p>
          <a:p>
            <a:r>
              <a:rPr lang="ru-RU" sz="2800"/>
              <a:t>Следует считать, что реализовалась угроза доступности информации, если ресурс с соответствующим максимальным временем ожидания, санкционировано запрашиваемый пользователем в момент времени </a:t>
            </a:r>
            <a:r>
              <a:rPr lang="en-US" sz="2800" i="1"/>
              <a:t>t</a:t>
            </a:r>
            <a:r>
              <a:rPr lang="ru-RU" sz="2800" i="1"/>
              <a:t>, </a:t>
            </a:r>
            <a:r>
              <a:rPr lang="ru-RU" sz="2800"/>
              <a:t>не предоставлен ему к моменту времени </a:t>
            </a:r>
            <a:r>
              <a:rPr lang="en-US" sz="2800" i="1"/>
              <a:t>t</a:t>
            </a:r>
            <a:r>
              <a:rPr lang="ru-RU" sz="2800" i="1"/>
              <a:t> + </a:t>
            </a:r>
            <a:r>
              <a:rPr lang="en-US" sz="2800" i="1"/>
              <a:t>MWT</a:t>
            </a:r>
            <a:r>
              <a:rPr lang="ru-RU" sz="2800" i="1"/>
              <a:t>.</a:t>
            </a:r>
            <a:endParaRPr lang="ru-RU"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/>
          </p:cNvSpPr>
          <p:nvPr>
            <p:ph type="body" idx="1"/>
          </p:nvPr>
        </p:nvSpPr>
        <p:spPr>
          <a:xfrm>
            <a:off x="457200" y="188913"/>
            <a:ext cx="8229600" cy="6911975"/>
          </a:xfrm>
        </p:spPr>
        <p:txBody>
          <a:bodyPr/>
          <a:lstStyle/>
          <a:p>
            <a:r>
              <a:rPr lang="ru-RU"/>
              <a:t>Можно использовать несколько подходов для определения </a:t>
            </a:r>
            <a:r>
              <a:rPr lang="en-US" i="1"/>
              <a:t>MWT</a:t>
            </a:r>
            <a:r>
              <a:rPr lang="ru-RU" i="1"/>
              <a:t>:</a:t>
            </a:r>
          </a:p>
          <a:p>
            <a:r>
              <a:rPr lang="ru-RU"/>
              <a:t>определив </a:t>
            </a:r>
            <a:r>
              <a:rPr lang="en-US" i="1"/>
              <a:t>MWT</a:t>
            </a:r>
            <a:r>
              <a:rPr lang="ru-RU" i="1"/>
              <a:t>= </a:t>
            </a:r>
            <a:r>
              <a:rPr lang="ru-RU" i="1">
                <a:sym typeface="Symbol" pitchFamily="18" charset="2"/>
              </a:rPr>
              <a:t></a:t>
            </a:r>
            <a:r>
              <a:rPr lang="ru-RU"/>
              <a:t>  для всех ресурсов, можно исключить рассмотрение угрозы доступности информации при анализе безопасности компьютерной системы;</a:t>
            </a:r>
          </a:p>
          <a:p>
            <a:r>
              <a:rPr lang="ru-RU"/>
              <a:t>можно определить </a:t>
            </a:r>
            <a:r>
              <a:rPr lang="en-US" i="1"/>
              <a:t>MWT </a:t>
            </a:r>
            <a:r>
              <a:rPr lang="ru-RU"/>
              <a:t>только для некоторых доступов субъектов к ресурсам компьютерной системы, действительно критичных с точки зрения ее безопасности.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виды моделей безопасности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 математические модели безопасности компьютерных систем классифицируются по пяти основным видам:</a:t>
            </a:r>
          </a:p>
          <a:p>
            <a:pPr lvl="0"/>
            <a:r>
              <a:rPr lang="ru-RU" dirty="0"/>
              <a:t>модели систем дискреционного разграничения доступа;</a:t>
            </a:r>
          </a:p>
          <a:p>
            <a:pPr lvl="0"/>
            <a:r>
              <a:rPr lang="ru-RU" dirty="0"/>
              <a:t>модели систем мандатного разграничения доступа;</a:t>
            </a:r>
          </a:p>
          <a:p>
            <a:pPr lvl="0"/>
            <a:r>
              <a:rPr lang="ru-RU" dirty="0"/>
              <a:t>модели безопасности информационных потоков;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5475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модели ролевого разграничения доступа;</a:t>
            </a:r>
          </a:p>
          <a:p>
            <a:r>
              <a:rPr lang="ru-RU" dirty="0"/>
              <a:t>субъектно-ориентированная модель изолированной программной среды.</a:t>
            </a:r>
          </a:p>
          <a:p>
            <a:r>
              <a:rPr lang="ru-RU" dirty="0"/>
              <a:t>Схема классификации и взаимосвязи положений рассматриваемых математических моделей безопасности компьютерных систем представлены на рис.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2768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Рисунок 5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71414"/>
            <a:ext cx="5572132" cy="6679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11763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/>
              <a:t> Основные виды политик безопасности </a:t>
            </a:r>
          </a:p>
        </p:txBody>
      </p:sp>
      <p:sp>
        <p:nvSpPr>
          <p:cNvPr id="6861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Дискреционная политика безопасности</a:t>
            </a:r>
          </a:p>
          <a:p>
            <a:r>
              <a:rPr lang="ru-RU"/>
              <a:t>Мандатная политика безопасности</a:t>
            </a:r>
          </a:p>
          <a:p>
            <a:r>
              <a:rPr lang="ru-RU"/>
              <a:t>Политика безопасности информационных потоков</a:t>
            </a:r>
          </a:p>
          <a:p>
            <a:r>
              <a:rPr lang="ru-RU"/>
              <a:t>Политика ролевого разграничения доступа</a:t>
            </a:r>
          </a:p>
          <a:p>
            <a:r>
              <a:rPr lang="ru-RU"/>
              <a:t>Политика изолированной программной среды</a:t>
            </a:r>
          </a:p>
          <a:p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/>
              <a:t>Дискреционная политика безопасности </a:t>
            </a:r>
          </a:p>
        </p:txBody>
      </p:sp>
      <p:sp>
        <p:nvSpPr>
          <p:cNvPr id="69635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z="2800" b="1" dirty="0"/>
              <a:t>Определение. </a:t>
            </a:r>
            <a:r>
              <a:rPr lang="ru-RU" sz="2800" dirty="0"/>
              <a:t>Дискреционная политика безопасности — политика безопасности, основанная на дискреционном управлении доступом </a:t>
            </a:r>
            <a:r>
              <a:rPr lang="ru-RU" sz="2800" i="1" dirty="0"/>
              <a:t>(</a:t>
            </a:r>
            <a:r>
              <a:rPr lang="en-US" sz="2800" i="1" dirty="0"/>
              <a:t>Discretionary Access Control</a:t>
            </a:r>
            <a:r>
              <a:rPr lang="ru-RU" sz="2800" i="1" dirty="0"/>
              <a:t>), </a:t>
            </a:r>
            <a:r>
              <a:rPr lang="ru-RU" sz="2800" dirty="0"/>
              <a:t>которое определяется двумя свойствами: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800" dirty="0"/>
              <a:t>•	все субъекты и объекты идентифицированы;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800" dirty="0"/>
              <a:t>•	права доступа субъектов на объекты системы определяются на основании некоторого внешнего по отношению к системе правила.</a:t>
            </a:r>
          </a:p>
          <a:p>
            <a:pPr>
              <a:lnSpc>
                <a:spcPct val="90000"/>
              </a:lnSpc>
            </a:pPr>
            <a:r>
              <a:rPr lang="ru-RU" sz="2800" dirty="0"/>
              <a:t>Основным элементом систем дискреционного разграничения доступа является матрица доступов.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/>
          <p:cNvSpPr>
            <a:spLocks noGrp="1"/>
          </p:cNvSpPr>
          <p:nvPr>
            <p:ph type="body" idx="1"/>
          </p:nvPr>
        </p:nvSpPr>
        <p:spPr>
          <a:xfrm>
            <a:off x="250825" y="0"/>
            <a:ext cx="8642350" cy="6858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/>
              <a:t>Матрица доступов — матрица размером </a:t>
            </a:r>
            <a:r>
              <a:rPr lang="en-US">
                <a:sym typeface="Symbol" pitchFamily="18" charset="2"/>
              </a:rPr>
              <a:t></a:t>
            </a:r>
            <a:r>
              <a:rPr lang="en-US"/>
              <a:t>S</a:t>
            </a:r>
            <a:r>
              <a:rPr lang="en-US">
                <a:sym typeface="Symbol" pitchFamily="18" charset="2"/>
              </a:rPr>
              <a:t></a:t>
            </a:r>
            <a:r>
              <a:rPr lang="en-US"/>
              <a:t>O</a:t>
            </a:r>
            <a:r>
              <a:rPr lang="en-US">
                <a:sym typeface="Symbol" pitchFamily="18" charset="2"/>
              </a:rPr>
              <a:t></a:t>
            </a:r>
            <a:r>
              <a:rPr lang="ru-RU" i="1"/>
              <a:t>, </a:t>
            </a:r>
            <a:r>
              <a:rPr lang="ru-RU"/>
              <a:t>строки которой соответствуют субъектам, а столбцы соответствуют объектам. При этом каждый элемент матрицы доступов </a:t>
            </a:r>
            <a:r>
              <a:rPr lang="en-US" i="1"/>
              <a:t>M</a:t>
            </a:r>
            <a:r>
              <a:rPr lang="ru-RU" i="1"/>
              <a:t>[</a:t>
            </a:r>
            <a:r>
              <a:rPr lang="en-US" i="1"/>
              <a:t>s</a:t>
            </a:r>
            <a:r>
              <a:rPr lang="ru-RU" i="1"/>
              <a:t>, о] </a:t>
            </a:r>
            <a:r>
              <a:rPr lang="ru-RU">
                <a:sym typeface="Symbol" pitchFamily="18" charset="2"/>
              </a:rPr>
              <a:t></a:t>
            </a:r>
            <a:r>
              <a:rPr lang="en-US" i="1"/>
              <a:t>R </a:t>
            </a:r>
            <a:r>
              <a:rPr lang="ru-RU"/>
              <a:t>определяет права доступа субъекта </a:t>
            </a:r>
            <a:r>
              <a:rPr lang="en-US" i="1"/>
              <a:t>s </a:t>
            </a:r>
            <a:r>
              <a:rPr lang="ru-RU"/>
              <a:t>на объект </a:t>
            </a:r>
            <a:r>
              <a:rPr lang="ru-RU" i="1"/>
              <a:t>о, </a:t>
            </a:r>
            <a:r>
              <a:rPr lang="ru-RU"/>
              <a:t>где </a:t>
            </a:r>
            <a:r>
              <a:rPr lang="en-US" i="1"/>
              <a:t>R</a:t>
            </a:r>
            <a:r>
              <a:rPr lang="ru-RU" i="1"/>
              <a:t> — </a:t>
            </a:r>
            <a:r>
              <a:rPr lang="ru-RU"/>
              <a:t>множество прав доступа.</a:t>
            </a:r>
          </a:p>
          <a:p>
            <a:pPr>
              <a:lnSpc>
                <a:spcPct val="90000"/>
              </a:lnSpc>
            </a:pPr>
            <a:r>
              <a:rPr lang="ru-RU"/>
              <a:t>К достоинствам дискреционной политики безопасности можно отнести относительно простую реализацию системы разграничения доступа. </a:t>
            </a:r>
          </a:p>
          <a:p>
            <a:pPr>
              <a:lnSpc>
                <a:spcPct val="90000"/>
              </a:lnSpc>
            </a:pPr>
            <a:r>
              <a:rPr lang="ru-RU"/>
              <a:t>К недостаткам дискреционной политики безопасности относится статичность определенных в ней правил разграничения доступа.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/>
              <a:t>Мандатная политика безопасности</a:t>
            </a:r>
          </a:p>
        </p:txBody>
      </p:sp>
      <p:sp>
        <p:nvSpPr>
          <p:cNvPr id="71683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ru-RU"/>
              <a:t>Мандатная (полномочная) политика безо­пасности — политика безопасности, основанная на мандатном разграничении доступа </a:t>
            </a:r>
            <a:r>
              <a:rPr lang="ru-RU" i="1"/>
              <a:t>{</a:t>
            </a:r>
            <a:r>
              <a:rPr lang="en-US" i="1"/>
              <a:t>Mandatory Access Control</a:t>
            </a:r>
            <a:r>
              <a:rPr lang="ru-RU" i="1"/>
              <a:t>), </a:t>
            </a:r>
            <a:r>
              <a:rPr lang="ru-RU"/>
              <a:t>которое определяется четырьмя условиями:</a:t>
            </a:r>
          </a:p>
          <a:p>
            <a:r>
              <a:rPr lang="ru-RU"/>
              <a:t>1) все субъекты и объекты системы однозначно идентифицированы;</a:t>
            </a:r>
          </a:p>
          <a:p>
            <a:r>
              <a:rPr lang="ru-RU"/>
              <a:t>2) задана решетка уровней конфиденциальности информации;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3) каждому объекту системы присвоен уровень конфиденциальности, определяющий ценность содержащейся в нем информации;</a:t>
            </a:r>
          </a:p>
          <a:p>
            <a:r>
              <a:rPr lang="ru-RU"/>
              <a:t>4) каждому субъекту системы присвоен уровень доступа, определяющий уровень доверия к нему в компьютерной системе.</a:t>
            </a:r>
          </a:p>
          <a:p>
            <a:endParaRPr 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Основная цель мандатной политики безопасности — предотв­ращение утечки информации от объектов с высоким уровнем доступа к объектам с низким уровнем доступа, т.е. противодействие возникновению в компьютерной системе неблагоприятных информационных потоков сверху вниз.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/>
              <a:t>Политика безопасности информационных потоков</a:t>
            </a:r>
          </a:p>
        </p:txBody>
      </p:sp>
      <p:sp>
        <p:nvSpPr>
          <p:cNvPr id="74755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ru-RU" sz="2800"/>
              <a:t>Политика безопасности информационных потоков основана на разделении всех возможных информационных потоков между объектами системы на два непересекающихся множества: множество благоприятных информационных потоков и множество неблагоприятных информационных потоков. Цель реализации политики безопасности информационных потоков состоит в том, чтобы обеспечить невозможность возникновения в компьютерной системе неблагоприятных информационных потоков.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/>
              <a:t>Политика ролевого разграничения доступа</a:t>
            </a:r>
          </a:p>
        </p:txBody>
      </p:sp>
      <p:sp>
        <p:nvSpPr>
          <p:cNvPr id="75779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ru-RU"/>
              <a:t>Ролевое разграничение доступа является развитием политики дискреционного разграничения доступа; при этом права доступа субъектов системы на объекты группируются с учетом специфики их применения, образуя роли.</a:t>
            </a:r>
          </a:p>
          <a:p>
            <a:r>
              <a:rPr lang="ru-RU"/>
              <a:t>Задание ролей позволяет определить более четкие и понятные для пользователей компьютерной системы правила разграничения доступа.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/>
              <a:t>Политика изолированной программной среды</a:t>
            </a:r>
          </a:p>
        </p:txBody>
      </p:sp>
      <p:sp>
        <p:nvSpPr>
          <p:cNvPr id="76803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ru-RU"/>
              <a:t>Целью реализации политики изолированной программной среды является определение порядка безопасного взаимодействия субъектов системы, обеспечивающего невозможность воздействия на систему защиты и модификации ее параметров или конфигурации, результатом которых могло бы стать изменение реализуемой системой защиты политики разграничения доступа.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Модель решетки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Пусть </a:t>
            </a:r>
            <a:r>
              <a:rPr lang="ru-RU" i="1" dirty="0"/>
              <a:t>X — </a:t>
            </a:r>
            <a:r>
              <a:rPr lang="ru-RU" dirty="0"/>
              <a:t>конечное множество.</a:t>
            </a:r>
          </a:p>
          <a:p>
            <a:r>
              <a:rPr lang="ru-RU" b="1" dirty="0"/>
              <a:t>Определение. </a:t>
            </a:r>
            <a:r>
              <a:rPr lang="ru-RU" dirty="0"/>
              <a:t>Бинарное отношение «&lt;» на множестве </a:t>
            </a:r>
            <a:r>
              <a:rPr lang="ru-RU" i="1" dirty="0"/>
              <a:t>Х на</a:t>
            </a:r>
            <a:r>
              <a:rPr lang="ru-RU" dirty="0"/>
              <a:t>зывается отношением строгого порядка, если для любых </a:t>
            </a:r>
            <a:r>
              <a:rPr lang="ru-RU" i="1" dirty="0"/>
              <a:t>а, </a:t>
            </a:r>
            <a:r>
              <a:rPr lang="en-US" i="1" dirty="0"/>
              <a:t>b</a:t>
            </a:r>
            <a:r>
              <a:rPr lang="ru-RU" i="1" dirty="0"/>
              <a:t>, с 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</a:t>
            </a:r>
            <a:r>
              <a:rPr lang="ru-RU" i="1" dirty="0"/>
              <a:t> X </a:t>
            </a:r>
            <a:r>
              <a:rPr lang="ru-RU" dirty="0"/>
              <a:t>выполняются три свойства:</a:t>
            </a:r>
          </a:p>
          <a:p>
            <a:pPr lvl="0"/>
            <a:r>
              <a:rPr lang="ru-RU" dirty="0" err="1"/>
              <a:t>антирефлексивность</a:t>
            </a:r>
            <a:r>
              <a:rPr lang="ru-RU" dirty="0"/>
              <a:t>: не выполняется </a:t>
            </a:r>
            <a:r>
              <a:rPr lang="ru-RU" i="1" dirty="0"/>
              <a:t>а &lt; </a:t>
            </a:r>
            <a:r>
              <a:rPr lang="ru-RU" i="1" dirty="0" err="1"/>
              <a:t>а</a:t>
            </a:r>
            <a:r>
              <a:rPr lang="ru-RU" i="1" dirty="0"/>
              <a:t>;</a:t>
            </a:r>
            <a:endParaRPr lang="ru-RU" dirty="0"/>
          </a:p>
          <a:p>
            <a:pPr lvl="0"/>
            <a:r>
              <a:rPr lang="ru-RU" dirty="0"/>
              <a:t>транзитивность: </a:t>
            </a:r>
            <a:r>
              <a:rPr lang="ru-RU" i="1" dirty="0"/>
              <a:t>{а &lt; </a:t>
            </a:r>
            <a:r>
              <a:rPr lang="en-US" i="1" dirty="0"/>
              <a:t>b</a:t>
            </a:r>
            <a:r>
              <a:rPr lang="ru-RU" i="1" dirty="0"/>
              <a:t>, </a:t>
            </a:r>
            <a:r>
              <a:rPr lang="en-US" i="1" dirty="0"/>
              <a:t>b </a:t>
            </a:r>
            <a:r>
              <a:rPr lang="ru-RU" i="1" dirty="0"/>
              <a:t>&lt; с) =&gt; (а &lt; </a:t>
            </a:r>
            <a:r>
              <a:rPr lang="ru-RU" dirty="0"/>
              <a:t>с);</a:t>
            </a:r>
          </a:p>
          <a:p>
            <a:pPr lvl="0"/>
            <a:r>
              <a:rPr lang="ru-RU" dirty="0" err="1"/>
              <a:t>антисимметричность</a:t>
            </a:r>
            <a:r>
              <a:rPr lang="ru-RU" dirty="0"/>
              <a:t>: </a:t>
            </a:r>
            <a:r>
              <a:rPr lang="ru-RU" i="1" dirty="0"/>
              <a:t>(а &lt; </a:t>
            </a:r>
            <a:r>
              <a:rPr lang="en-US" i="1" dirty="0"/>
              <a:t>b</a:t>
            </a:r>
            <a:r>
              <a:rPr lang="ru-RU" i="1" dirty="0"/>
              <a:t>, </a:t>
            </a:r>
            <a:r>
              <a:rPr lang="en-US" i="1" dirty="0"/>
              <a:t>b </a:t>
            </a:r>
            <a:r>
              <a:rPr lang="ru-RU" i="1" dirty="0"/>
              <a:t>&lt; а) =&gt; (</a:t>
            </a:r>
            <a:r>
              <a:rPr lang="ru-RU" i="1" dirty="0" err="1"/>
              <a:t>а</a:t>
            </a:r>
            <a:r>
              <a:rPr lang="ru-RU" i="1" dirty="0"/>
              <a:t> = </a:t>
            </a:r>
            <a:r>
              <a:rPr lang="en-US" i="1" dirty="0"/>
              <a:t>b</a:t>
            </a:r>
            <a:r>
              <a:rPr lang="ru-RU" i="1" dirty="0"/>
              <a:t>). 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Определение. </a:t>
            </a:r>
            <a:r>
              <a:rPr lang="ru-RU" dirty="0"/>
              <a:t>Бинарное отношение «</a:t>
            </a:r>
            <a:r>
              <a:rPr lang="ru-RU" i="1" dirty="0">
                <a:sym typeface="Symbol"/>
              </a:rPr>
              <a:t></a:t>
            </a:r>
            <a:r>
              <a:rPr lang="ru-RU" dirty="0"/>
              <a:t>» на множестве </a:t>
            </a:r>
            <a:r>
              <a:rPr lang="ru-RU" i="1" dirty="0"/>
              <a:t>X </a:t>
            </a:r>
            <a:r>
              <a:rPr lang="ru-RU" dirty="0"/>
              <a:t>называется отношением частичного порядка, если для любых </a:t>
            </a:r>
            <a:r>
              <a:rPr lang="ru-RU" i="1" dirty="0"/>
              <a:t>а, </a:t>
            </a:r>
            <a:r>
              <a:rPr lang="en-US" i="1" dirty="0"/>
              <a:t>b</a:t>
            </a:r>
            <a:r>
              <a:rPr lang="ru-RU" i="1" dirty="0"/>
              <a:t>, с 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</a:t>
            </a:r>
            <a:r>
              <a:rPr lang="ru-RU" i="1" dirty="0"/>
              <a:t>X </a:t>
            </a:r>
            <a:r>
              <a:rPr lang="ru-RU" dirty="0"/>
              <a:t>выполняются три свойства:</a:t>
            </a:r>
          </a:p>
          <a:p>
            <a:pPr lvl="0"/>
            <a:r>
              <a:rPr lang="ru-RU" dirty="0" err="1"/>
              <a:t>рефлексивность</a:t>
            </a:r>
            <a:r>
              <a:rPr lang="ru-RU" dirty="0"/>
              <a:t>: </a:t>
            </a:r>
            <a:r>
              <a:rPr lang="ru-RU" i="1" dirty="0"/>
              <a:t>а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</a:t>
            </a:r>
            <a:r>
              <a:rPr lang="ru-RU" i="1" dirty="0" err="1"/>
              <a:t>а</a:t>
            </a:r>
            <a:r>
              <a:rPr lang="ru-RU" i="1" dirty="0"/>
              <a:t>;</a:t>
            </a:r>
            <a:endParaRPr lang="ru-RU" dirty="0"/>
          </a:p>
          <a:p>
            <a:pPr lvl="0"/>
            <a:r>
              <a:rPr lang="ru-RU" dirty="0"/>
              <a:t>транзитивность: </a:t>
            </a:r>
            <a:r>
              <a:rPr lang="ru-RU" i="1" dirty="0"/>
              <a:t>(а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</a:t>
            </a:r>
            <a:r>
              <a:rPr lang="en-US" i="1" dirty="0"/>
              <a:t>b</a:t>
            </a:r>
            <a:r>
              <a:rPr lang="ru-RU" i="1" dirty="0"/>
              <a:t>, </a:t>
            </a:r>
            <a:r>
              <a:rPr lang="en-US" i="1" dirty="0"/>
              <a:t>b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с) =&gt; (а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</a:t>
            </a:r>
            <a:r>
              <a:rPr lang="ru-RU" dirty="0"/>
              <a:t>с);</a:t>
            </a:r>
          </a:p>
          <a:p>
            <a:pPr lvl="0"/>
            <a:r>
              <a:rPr lang="ru-RU" dirty="0" err="1"/>
              <a:t>антисимметричность</a:t>
            </a:r>
            <a:r>
              <a:rPr lang="ru-RU" dirty="0"/>
              <a:t>: </a:t>
            </a:r>
            <a:r>
              <a:rPr lang="ru-RU" i="1" dirty="0"/>
              <a:t>(а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</a:t>
            </a:r>
            <a:r>
              <a:rPr lang="en-US" i="1" dirty="0"/>
              <a:t>b</a:t>
            </a:r>
            <a:r>
              <a:rPr lang="ru-RU" i="1" dirty="0"/>
              <a:t>, </a:t>
            </a:r>
            <a:r>
              <a:rPr lang="en-US" i="1" dirty="0"/>
              <a:t>b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а) =&gt; (</a:t>
            </a:r>
            <a:r>
              <a:rPr lang="ru-RU" i="1" dirty="0" err="1"/>
              <a:t>а</a:t>
            </a:r>
            <a:r>
              <a:rPr lang="ru-RU" i="1" dirty="0"/>
              <a:t> = </a:t>
            </a:r>
            <a:r>
              <a:rPr lang="en-US" i="1" dirty="0"/>
              <a:t>b</a:t>
            </a:r>
            <a:r>
              <a:rPr lang="ru-RU" i="1" dirty="0"/>
              <a:t>). </a:t>
            </a:r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5911873"/>
          </a:xfrm>
        </p:spPr>
        <p:txBody>
          <a:bodyPr/>
          <a:lstStyle/>
          <a:p>
            <a:pPr lvl="0"/>
            <a:r>
              <a:rPr lang="ru-RU" b="1" dirty="0"/>
              <a:t>Определение. </a:t>
            </a:r>
            <a:r>
              <a:rPr lang="ru-RU" dirty="0"/>
              <a:t>Для </a:t>
            </a:r>
            <a:r>
              <a:rPr lang="en-US" i="1" dirty="0"/>
              <a:t>a</a:t>
            </a:r>
            <a:r>
              <a:rPr lang="ru-RU" i="1" dirty="0"/>
              <a:t>, </a:t>
            </a:r>
            <a:r>
              <a:rPr lang="en-US" i="1" dirty="0"/>
              <a:t>b 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 X элемент </a:t>
            </a:r>
            <a:r>
              <a:rPr lang="ru-RU" i="1" dirty="0"/>
              <a:t>с = а</a:t>
            </a:r>
            <a:r>
              <a:rPr lang="ru-RU" i="1" dirty="0">
                <a:sym typeface="Symbol"/>
              </a:rPr>
              <a:t></a:t>
            </a:r>
            <a:r>
              <a:rPr lang="ru-RU" i="1" dirty="0"/>
              <a:t> </a:t>
            </a:r>
            <a:r>
              <a:rPr lang="en-US" i="1" dirty="0"/>
              <a:t>b 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 </a:t>
            </a:r>
            <a:r>
              <a:rPr lang="en-US" i="1" dirty="0"/>
              <a:t>X </a:t>
            </a:r>
            <a:r>
              <a:rPr lang="ru-RU" dirty="0"/>
              <a:t>называется наименьшей верхней границей, если:</a:t>
            </a:r>
          </a:p>
          <a:p>
            <a:pPr lvl="0"/>
            <a:r>
              <a:rPr lang="ru-RU" i="1" dirty="0"/>
              <a:t>а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с, </a:t>
            </a:r>
            <a:r>
              <a:rPr lang="en-US" i="1" dirty="0"/>
              <a:t>b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</a:t>
            </a:r>
            <a:r>
              <a:rPr lang="ru-RU" dirty="0"/>
              <a:t>с;</a:t>
            </a:r>
          </a:p>
          <a:p>
            <a:pPr lvl="0"/>
            <a:r>
              <a:rPr lang="ru-RU" dirty="0"/>
              <a:t>для </a:t>
            </a:r>
            <a:r>
              <a:rPr lang="en-US" i="1" dirty="0"/>
              <a:t>d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</a:t>
            </a:r>
            <a:r>
              <a:rPr lang="ru-RU" i="1" dirty="0"/>
              <a:t>X </a:t>
            </a:r>
            <a:r>
              <a:rPr lang="ru-RU" dirty="0"/>
              <a:t>истинно </a:t>
            </a:r>
            <a:r>
              <a:rPr lang="ru-RU" i="1" dirty="0"/>
              <a:t>(а </a:t>
            </a:r>
            <a:r>
              <a:rPr lang="ru-RU" i="1" dirty="0">
                <a:sym typeface="Symbol"/>
              </a:rPr>
              <a:t></a:t>
            </a:r>
            <a:r>
              <a:rPr lang="ru-RU" i="1" dirty="0"/>
              <a:t> с, </a:t>
            </a:r>
            <a:r>
              <a:rPr lang="en-US" i="1" dirty="0"/>
              <a:t>b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с) =&gt; (</a:t>
            </a:r>
            <a:r>
              <a:rPr lang="ru-RU" i="1" dirty="0" err="1"/>
              <a:t>с</a:t>
            </a:r>
            <a:r>
              <a:rPr lang="ru-RU" i="1" dirty="0"/>
              <a:t>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</a:t>
            </a:r>
            <a:r>
              <a:rPr lang="en-US" i="1" dirty="0"/>
              <a:t>d</a:t>
            </a:r>
            <a:r>
              <a:rPr lang="ru-RU" i="1" dirty="0"/>
              <a:t>).</a:t>
            </a:r>
          </a:p>
          <a:p>
            <a:r>
              <a:rPr lang="ru-RU" b="1" dirty="0"/>
              <a:t>Определение. </a:t>
            </a:r>
            <a:r>
              <a:rPr lang="ru-RU" dirty="0"/>
              <a:t>Для </a:t>
            </a:r>
            <a:r>
              <a:rPr lang="en-US" i="1" dirty="0"/>
              <a:t>a</a:t>
            </a:r>
            <a:r>
              <a:rPr lang="ru-RU" i="1" dirty="0"/>
              <a:t>, </a:t>
            </a:r>
            <a:r>
              <a:rPr lang="en-US" i="1" dirty="0"/>
              <a:t>b 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</a:t>
            </a:r>
            <a:r>
              <a:rPr lang="en-US" i="1" dirty="0"/>
              <a:t>X</a:t>
            </a:r>
            <a:r>
              <a:rPr lang="ru-RU" dirty="0"/>
              <a:t> элемент </a:t>
            </a:r>
            <a:r>
              <a:rPr lang="ru-RU" i="1" dirty="0" err="1"/>
              <a:t>с=а</a:t>
            </a:r>
            <a:r>
              <a:rPr lang="ru-RU" i="1" dirty="0">
                <a:sym typeface="Symbol"/>
              </a:rPr>
              <a:t></a:t>
            </a:r>
            <a:r>
              <a:rPr lang="ru-RU" i="1" dirty="0"/>
              <a:t> </a:t>
            </a:r>
            <a:r>
              <a:rPr lang="en-US" i="1" dirty="0"/>
              <a:t>b 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 </a:t>
            </a:r>
            <a:r>
              <a:rPr lang="en-US" i="1" dirty="0"/>
              <a:t>X</a:t>
            </a:r>
            <a:r>
              <a:rPr lang="ru-RU" dirty="0"/>
              <a:t> называется наибольшей нижней границей, если:</a:t>
            </a:r>
          </a:p>
          <a:p>
            <a:pPr lvl="0"/>
            <a:r>
              <a:rPr lang="ru-RU" i="1" dirty="0"/>
              <a:t>с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а, </a:t>
            </a:r>
            <a:r>
              <a:rPr lang="ru-RU" dirty="0"/>
              <a:t>с </a:t>
            </a:r>
            <a:r>
              <a:rPr lang="ru-RU" i="1" dirty="0">
                <a:sym typeface="Symbol"/>
              </a:rPr>
              <a:t></a:t>
            </a:r>
            <a:r>
              <a:rPr lang="en-US" i="1" dirty="0"/>
              <a:t> b</a:t>
            </a:r>
            <a:r>
              <a:rPr lang="ru-RU" i="1" dirty="0"/>
              <a:t>;</a:t>
            </a:r>
            <a:endParaRPr lang="ru-RU" dirty="0"/>
          </a:p>
          <a:p>
            <a:pPr lvl="0"/>
            <a:r>
              <a:rPr lang="ru-RU" dirty="0"/>
              <a:t>для </a:t>
            </a:r>
            <a:r>
              <a:rPr lang="en-US" i="1" dirty="0"/>
              <a:t>d 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 </a:t>
            </a:r>
            <a:r>
              <a:rPr lang="en-US" i="1" dirty="0"/>
              <a:t>X </a:t>
            </a:r>
            <a:r>
              <a:rPr lang="ru-RU" dirty="0"/>
              <a:t>истинно </a:t>
            </a:r>
            <a:r>
              <a:rPr lang="ru-RU" i="1" dirty="0"/>
              <a:t>{</a:t>
            </a:r>
            <a:r>
              <a:rPr lang="en-US" i="1" dirty="0"/>
              <a:t>d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 </a:t>
            </a:r>
            <a:r>
              <a:rPr lang="en-US" i="1" dirty="0"/>
              <a:t>a</a:t>
            </a:r>
            <a:r>
              <a:rPr lang="ru-RU" i="1" dirty="0"/>
              <a:t>, </a:t>
            </a:r>
            <a:r>
              <a:rPr lang="en-US" i="1" dirty="0"/>
              <a:t>d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 </a:t>
            </a:r>
            <a:r>
              <a:rPr lang="en-US" i="1" dirty="0"/>
              <a:t>b</a:t>
            </a:r>
            <a:r>
              <a:rPr lang="ru-RU" i="1" dirty="0"/>
              <a:t>)  =&gt;  {</a:t>
            </a:r>
            <a:r>
              <a:rPr lang="en-US" i="1" dirty="0"/>
              <a:t>d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  с).</a:t>
            </a:r>
            <a:endParaRPr lang="ru-RU" dirty="0"/>
          </a:p>
          <a:p>
            <a:pPr lvl="0"/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Определение. </a:t>
            </a:r>
            <a:r>
              <a:rPr lang="ru-RU" dirty="0"/>
              <a:t>Пусть </a:t>
            </a:r>
            <a:r>
              <a:rPr lang="ru-RU" i="1" dirty="0"/>
              <a:t>X— </a:t>
            </a:r>
            <a:r>
              <a:rPr lang="ru-RU" dirty="0"/>
              <a:t>частично упорядоченное множество. </a:t>
            </a:r>
            <a:r>
              <a:rPr lang="ru-RU" i="1" dirty="0"/>
              <a:t>(X,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) </a:t>
            </a:r>
            <a:r>
              <a:rPr lang="ru-RU" dirty="0"/>
              <a:t>называется решеткой, если для любых </a:t>
            </a:r>
            <a:r>
              <a:rPr lang="en-US" i="1" dirty="0"/>
              <a:t>a</a:t>
            </a:r>
            <a:r>
              <a:rPr lang="ru-RU" i="1" dirty="0"/>
              <a:t>, </a:t>
            </a:r>
            <a:r>
              <a:rPr lang="en-US" i="1" dirty="0"/>
              <a:t>b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 </a:t>
            </a:r>
            <a:r>
              <a:rPr lang="en-US" i="1" dirty="0"/>
              <a:t>X </a:t>
            </a:r>
            <a:r>
              <a:rPr lang="ru-RU" dirty="0"/>
              <a:t>существуют </a:t>
            </a:r>
            <a:r>
              <a:rPr lang="ru-RU" i="1" dirty="0"/>
              <a:t>а</a:t>
            </a:r>
            <a:r>
              <a:rPr lang="ru-RU" i="1" dirty="0">
                <a:sym typeface="Symbol"/>
              </a:rPr>
              <a:t></a:t>
            </a:r>
            <a:r>
              <a:rPr lang="ru-RU" i="1" dirty="0"/>
              <a:t> </a:t>
            </a:r>
            <a:r>
              <a:rPr lang="en-US" i="1" dirty="0"/>
              <a:t>b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 </a:t>
            </a:r>
            <a:r>
              <a:rPr lang="en-US" i="1" dirty="0"/>
              <a:t>X </a:t>
            </a:r>
            <a:r>
              <a:rPr lang="ru-RU" dirty="0"/>
              <a:t> и </a:t>
            </a:r>
            <a:r>
              <a:rPr lang="ru-RU" i="1" dirty="0"/>
              <a:t>а</a:t>
            </a:r>
            <a:r>
              <a:rPr lang="ru-RU" i="1" dirty="0">
                <a:sym typeface="Symbol"/>
              </a:rPr>
              <a:t></a:t>
            </a:r>
            <a:r>
              <a:rPr lang="ru-RU" i="1" dirty="0"/>
              <a:t> </a:t>
            </a:r>
            <a:r>
              <a:rPr lang="en-US" i="1" dirty="0"/>
              <a:t>b 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 </a:t>
            </a:r>
            <a:r>
              <a:rPr lang="en-US" i="1" dirty="0"/>
              <a:t>X</a:t>
            </a: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5911873"/>
          </a:xfrm>
        </p:spPr>
        <p:txBody>
          <a:bodyPr/>
          <a:lstStyle/>
          <a:p>
            <a:r>
              <a:rPr lang="ru-RU" b="1" dirty="0"/>
              <a:t>Лемма. </a:t>
            </a:r>
            <a:r>
              <a:rPr lang="ru-RU" dirty="0"/>
              <a:t>Для любого набора </a:t>
            </a:r>
            <a:r>
              <a:rPr lang="en-US" i="1" dirty="0"/>
              <a:t>S </a:t>
            </a:r>
            <a:r>
              <a:rPr lang="ru-RU" i="1" dirty="0"/>
              <a:t>= {а</a:t>
            </a:r>
            <a:r>
              <a:rPr lang="ru-RU" i="1" baseline="-25000" dirty="0"/>
              <a:t>1</a:t>
            </a:r>
            <a:r>
              <a:rPr lang="ru-RU" i="1" dirty="0"/>
              <a:t> ,а</a:t>
            </a:r>
            <a:r>
              <a:rPr lang="ru-RU" i="1" baseline="-25000" dirty="0"/>
              <a:t>2</a:t>
            </a:r>
            <a:r>
              <a:rPr lang="ru-RU" i="1" dirty="0"/>
              <a:t>,…,а</a:t>
            </a:r>
            <a:r>
              <a:rPr lang="en-US" i="1" baseline="-25000" dirty="0"/>
              <a:t>n</a:t>
            </a:r>
            <a:r>
              <a:rPr lang="ru-RU" i="1" dirty="0"/>
              <a:t>} </a:t>
            </a:r>
            <a:r>
              <a:rPr lang="ru-RU" dirty="0"/>
              <a:t>элементов решетки </a:t>
            </a:r>
            <a:r>
              <a:rPr lang="ru-RU" i="1" dirty="0"/>
              <a:t>(X,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) </a:t>
            </a:r>
            <a:r>
              <a:rPr lang="ru-RU" dirty="0"/>
              <a:t>существуют единственные элементы:</a:t>
            </a:r>
          </a:p>
          <a:p>
            <a:r>
              <a:rPr lang="ru-RU" i="1" dirty="0">
                <a:sym typeface="Symbol"/>
              </a:rPr>
              <a:t></a:t>
            </a:r>
            <a:r>
              <a:rPr lang="ru-RU" dirty="0"/>
              <a:t> </a:t>
            </a:r>
            <a:r>
              <a:rPr lang="en-US" i="1" dirty="0"/>
              <a:t>S</a:t>
            </a:r>
            <a:r>
              <a:rPr lang="ru-RU" i="1" dirty="0"/>
              <a:t>= а</a:t>
            </a:r>
            <a:r>
              <a:rPr lang="ru-RU" i="1" baseline="-25000" dirty="0"/>
              <a:t>1</a:t>
            </a:r>
            <a:r>
              <a:rPr lang="ru-RU" i="1" dirty="0">
                <a:sym typeface="Symbol"/>
              </a:rPr>
              <a:t></a:t>
            </a:r>
            <a:r>
              <a:rPr lang="ru-RU" dirty="0"/>
              <a:t> </a:t>
            </a:r>
            <a:r>
              <a:rPr lang="ru-RU" i="1" dirty="0"/>
              <a:t>а</a:t>
            </a:r>
            <a:r>
              <a:rPr lang="ru-RU" i="1" baseline="-25000" dirty="0"/>
              <a:t>2</a:t>
            </a:r>
            <a:r>
              <a:rPr lang="ru-RU" i="1" dirty="0"/>
              <a:t> </a:t>
            </a:r>
            <a:r>
              <a:rPr lang="ru-RU" i="1" dirty="0">
                <a:sym typeface="Symbol"/>
              </a:rPr>
              <a:t></a:t>
            </a:r>
            <a:r>
              <a:rPr lang="ru-RU" i="1" dirty="0"/>
              <a:t> ... </a:t>
            </a:r>
            <a:r>
              <a:rPr lang="ru-RU" i="1" dirty="0">
                <a:sym typeface="Symbol"/>
              </a:rPr>
              <a:t></a:t>
            </a:r>
            <a:r>
              <a:rPr lang="ru-RU" i="1" dirty="0"/>
              <a:t>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i="1" dirty="0"/>
              <a:t> </a:t>
            </a:r>
            <a:r>
              <a:rPr lang="ru-RU" i="1" dirty="0"/>
              <a:t>— </a:t>
            </a:r>
            <a:r>
              <a:rPr lang="ru-RU" dirty="0"/>
              <a:t>наименьшая верхняя граница </a:t>
            </a:r>
            <a:r>
              <a:rPr lang="en-US" i="1" dirty="0"/>
              <a:t>S</a:t>
            </a:r>
            <a:r>
              <a:rPr lang="ru-RU" i="1" dirty="0"/>
              <a:t>;</a:t>
            </a:r>
            <a:endParaRPr lang="ru-RU" dirty="0"/>
          </a:p>
          <a:p>
            <a:r>
              <a:rPr lang="ru-RU" i="1" dirty="0">
                <a:sym typeface="Symbol"/>
              </a:rPr>
              <a:t></a:t>
            </a:r>
            <a:r>
              <a:rPr lang="ru-RU" i="1" dirty="0"/>
              <a:t> </a:t>
            </a:r>
            <a:r>
              <a:rPr lang="en-US" i="1" dirty="0"/>
              <a:t>S</a:t>
            </a:r>
            <a:r>
              <a:rPr lang="ru-RU" i="1" dirty="0"/>
              <a:t>= а</a:t>
            </a:r>
            <a:r>
              <a:rPr lang="ru-RU" i="1" baseline="-25000" dirty="0"/>
              <a:t>1</a:t>
            </a:r>
            <a:r>
              <a:rPr lang="ru-RU" i="1" dirty="0">
                <a:sym typeface="Symbol"/>
              </a:rPr>
              <a:t></a:t>
            </a:r>
            <a:r>
              <a:rPr lang="ru-RU" dirty="0"/>
              <a:t> </a:t>
            </a:r>
            <a:r>
              <a:rPr lang="ru-RU" i="1" dirty="0"/>
              <a:t>а</a:t>
            </a:r>
            <a:r>
              <a:rPr lang="ru-RU" i="1" baseline="-25000" dirty="0"/>
              <a:t>2</a:t>
            </a:r>
            <a:r>
              <a:rPr lang="ru-RU" i="1" dirty="0"/>
              <a:t> </a:t>
            </a:r>
            <a:r>
              <a:rPr lang="ru-RU" i="1" dirty="0">
                <a:sym typeface="Symbol"/>
              </a:rPr>
              <a:t></a:t>
            </a:r>
            <a:r>
              <a:rPr lang="ru-RU" i="1" dirty="0"/>
              <a:t> ... </a:t>
            </a:r>
            <a:r>
              <a:rPr lang="ru-RU" i="1" dirty="0">
                <a:sym typeface="Symbol"/>
              </a:rPr>
              <a:t></a:t>
            </a:r>
            <a:r>
              <a:rPr lang="ru-RU" i="1" dirty="0"/>
              <a:t>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i="1" dirty="0"/>
              <a:t> </a:t>
            </a:r>
            <a:r>
              <a:rPr lang="ru-RU" i="1" dirty="0"/>
              <a:t>— </a:t>
            </a:r>
            <a:r>
              <a:rPr lang="ru-RU" dirty="0"/>
              <a:t>наибольшая нижняя граница </a:t>
            </a:r>
            <a:r>
              <a:rPr lang="en-US" i="1" dirty="0"/>
              <a:t>S</a:t>
            </a:r>
            <a:r>
              <a:rPr lang="ru-RU" i="1" dirty="0"/>
              <a:t>.</a:t>
            </a:r>
            <a:endParaRPr lang="ru-RU" dirty="0"/>
          </a:p>
          <a:p>
            <a:r>
              <a:rPr lang="ru-RU" dirty="0"/>
              <a:t>Для решетки </a:t>
            </a:r>
            <a:r>
              <a:rPr lang="ru-RU" i="1" dirty="0"/>
              <a:t>(X,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) </a:t>
            </a:r>
            <a:r>
              <a:rPr lang="ru-RU" dirty="0"/>
              <a:t>существует максимальный элемент </a:t>
            </a:r>
            <a:r>
              <a:rPr lang="en-US" i="1" dirty="0"/>
              <a:t>high </a:t>
            </a:r>
            <a:r>
              <a:rPr lang="ru-RU" i="1" dirty="0"/>
              <a:t>= </a:t>
            </a:r>
            <a:r>
              <a:rPr lang="ru-RU" i="1" dirty="0">
                <a:sym typeface="Symbol"/>
              </a:rPr>
              <a:t></a:t>
            </a:r>
            <a:r>
              <a:rPr lang="ru-RU" i="1" dirty="0"/>
              <a:t> </a:t>
            </a:r>
            <a:r>
              <a:rPr lang="en-US" i="1" dirty="0"/>
              <a:t>X </a:t>
            </a:r>
            <a:r>
              <a:rPr lang="ru-RU" i="1" dirty="0"/>
              <a:t>и </a:t>
            </a:r>
            <a:r>
              <a:rPr lang="ru-RU" dirty="0"/>
              <a:t>минимальный элемент </a:t>
            </a:r>
            <a:r>
              <a:rPr lang="en-US" i="1" dirty="0"/>
              <a:t>low</a:t>
            </a:r>
            <a:r>
              <a:rPr lang="ru-RU" i="1" dirty="0"/>
              <a:t>=</a:t>
            </a:r>
            <a:r>
              <a:rPr lang="ru-RU" i="1" dirty="0">
                <a:sym typeface="Symbol"/>
              </a:rPr>
              <a:t></a:t>
            </a:r>
            <a:r>
              <a:rPr lang="ru-RU" i="1" dirty="0"/>
              <a:t> X.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r>
              <a:rPr lang="ru-RU" b="1" dirty="0"/>
              <a:t>Определение. </a:t>
            </a:r>
            <a:r>
              <a:rPr lang="ru-RU" dirty="0"/>
              <a:t>Линейная решетка (линейная шкала) из </a:t>
            </a:r>
            <a:r>
              <a:rPr lang="en-US" i="1" dirty="0"/>
              <a:t>n </a:t>
            </a:r>
            <a:r>
              <a:rPr lang="ru-RU" dirty="0"/>
              <a:t>элементов — это линейное упорядоченное множество; можно всегда считать </a:t>
            </a:r>
            <a:r>
              <a:rPr lang="ru-RU" i="1" dirty="0"/>
              <a:t>Х= </a:t>
            </a:r>
            <a:r>
              <a:rPr lang="ru-RU" dirty="0"/>
              <a:t>{0, 1, …, </a:t>
            </a:r>
            <a:r>
              <a:rPr lang="en-US" i="1" dirty="0" err="1"/>
              <a:t>n</a:t>
            </a:r>
            <a:r>
              <a:rPr lang="ru-RU" i="1" dirty="0"/>
              <a:t>).</a:t>
            </a:r>
            <a:endParaRPr lang="ru-RU" dirty="0"/>
          </a:p>
          <a:p>
            <a:r>
              <a:rPr lang="ru-RU" dirty="0"/>
              <a:t>Как правило, решетки представляют с помощью ориентированных графов</a:t>
            </a:r>
            <a:r>
              <a:rPr lang="en-US" dirty="0"/>
              <a:t>.</a:t>
            </a:r>
            <a:r>
              <a:rPr lang="ru-RU" dirty="0"/>
              <a:t>При этом вершинами графа являются элементы множества </a:t>
            </a:r>
            <a:r>
              <a:rPr lang="ru-RU" i="1" dirty="0"/>
              <a:t>X и </a:t>
            </a:r>
            <a:r>
              <a:rPr lang="ru-RU" dirty="0"/>
              <a:t>для </a:t>
            </a:r>
            <a:r>
              <a:rPr lang="en-US" i="1" dirty="0"/>
              <a:t>a</a:t>
            </a:r>
            <a:r>
              <a:rPr lang="ru-RU" i="1" baseline="-25000" dirty="0"/>
              <a:t>1</a:t>
            </a:r>
            <a:r>
              <a:rPr lang="ru-RU" i="1" dirty="0"/>
              <a:t> ,а</a:t>
            </a:r>
            <a:r>
              <a:rPr lang="ru-RU" i="1" baseline="-25000" dirty="0"/>
              <a:t>2</a:t>
            </a:r>
            <a:r>
              <a:rPr lang="ru-RU" i="1" dirty="0"/>
              <a:t> </a:t>
            </a:r>
            <a:r>
              <a:rPr lang="ru-RU" i="1" dirty="0">
                <a:sym typeface="Symbol"/>
              </a:rPr>
              <a:t></a:t>
            </a:r>
            <a:r>
              <a:rPr lang="ru-RU" dirty="0"/>
              <a:t>  </a:t>
            </a:r>
            <a:r>
              <a:rPr lang="en-US" i="1" dirty="0"/>
              <a:t>X</a:t>
            </a:r>
            <a:r>
              <a:rPr lang="ru-RU" dirty="0"/>
              <a:t> справедливо неравенство </a:t>
            </a:r>
            <a:r>
              <a:rPr lang="ru-RU" i="1" dirty="0"/>
              <a:t>а</a:t>
            </a:r>
            <a:r>
              <a:rPr lang="ru-RU" i="1" baseline="-25000" dirty="0"/>
              <a:t>1</a:t>
            </a:r>
            <a:r>
              <a:rPr lang="ru-RU" i="1" dirty="0"/>
              <a:t> </a:t>
            </a:r>
            <a:r>
              <a:rPr lang="ru-RU" i="1" dirty="0">
                <a:sym typeface="Symbol"/>
              </a:rPr>
              <a:t></a:t>
            </a:r>
            <a:r>
              <a:rPr lang="ru-RU" dirty="0"/>
              <a:t> </a:t>
            </a:r>
            <a:r>
              <a:rPr lang="ru-RU" i="1" dirty="0"/>
              <a:t>а</a:t>
            </a:r>
            <a:r>
              <a:rPr lang="ru-RU" i="1" baseline="-25000" dirty="0"/>
              <a:t>2</a:t>
            </a:r>
            <a:r>
              <a:rPr lang="ru-RU" i="1" dirty="0"/>
              <a:t>, </a:t>
            </a:r>
            <a:r>
              <a:rPr lang="ru-RU" dirty="0"/>
              <a:t>если в графе существует путь из </a:t>
            </a:r>
            <a:r>
              <a:rPr lang="ru-RU" i="1" dirty="0"/>
              <a:t>а</a:t>
            </a:r>
            <a:r>
              <a:rPr lang="ru-RU" i="1" baseline="-25000" dirty="0"/>
              <a:t>1</a:t>
            </a:r>
            <a:r>
              <a:rPr lang="ru-RU" dirty="0"/>
              <a:t> в </a:t>
            </a:r>
            <a:r>
              <a:rPr lang="ru-RU" i="1" dirty="0"/>
              <a:t>а</a:t>
            </a:r>
            <a:r>
              <a:rPr lang="ru-RU" i="1" baseline="-25000" dirty="0"/>
              <a:t>2</a:t>
            </a:r>
            <a:r>
              <a:rPr lang="ru-RU" i="1" dirty="0"/>
              <a:t>.</a:t>
            </a:r>
            <a:endParaRPr lang="ru-RU" dirty="0"/>
          </a:p>
          <a:p>
            <a:r>
              <a:rPr lang="ru-RU" dirty="0"/>
              <a:t>Частным важным случаем решеток является решетка подмножеств некоторого конечного множества </a:t>
            </a:r>
            <a:r>
              <a:rPr lang="en-US" i="1" dirty="0"/>
              <a:t>U</a:t>
            </a:r>
            <a:r>
              <a:rPr lang="ru-RU" i="1" dirty="0"/>
              <a:t>.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Определение. </a:t>
            </a:r>
            <a:r>
              <a:rPr lang="ru-RU" dirty="0"/>
              <a:t>Пусть </a:t>
            </a:r>
            <a:r>
              <a:rPr lang="ru-RU" i="1" dirty="0"/>
              <a:t>(</a:t>
            </a:r>
            <a:r>
              <a:rPr lang="en-US" i="1" dirty="0"/>
              <a:t>L</a:t>
            </a:r>
            <a:r>
              <a:rPr lang="ru-RU" i="1" dirty="0"/>
              <a:t>,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)</a:t>
            </a:r>
            <a:r>
              <a:rPr lang="ru-RU" dirty="0"/>
              <a:t> — линейная решетка, </a:t>
            </a:r>
            <a:r>
              <a:rPr lang="ru-RU" i="1" dirty="0"/>
              <a:t>(X,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) — </a:t>
            </a:r>
            <a:r>
              <a:rPr lang="ru-RU" dirty="0"/>
              <a:t>решетка подмножеств </a:t>
            </a:r>
            <a:r>
              <a:rPr lang="en-US" i="1" dirty="0"/>
              <a:t>U</a:t>
            </a:r>
            <a:r>
              <a:rPr lang="ru-RU" i="1" dirty="0"/>
              <a:t>. </a:t>
            </a:r>
            <a:r>
              <a:rPr lang="ru-RU" dirty="0"/>
              <a:t>Определим решетку многоуровневой безопасности </a:t>
            </a:r>
            <a:r>
              <a:rPr lang="ru-RU" i="1" dirty="0"/>
              <a:t>(X </a:t>
            </a:r>
            <a:r>
              <a:rPr lang="ru-RU" i="1" dirty="0">
                <a:sym typeface="Symbol"/>
              </a:rPr>
              <a:t></a:t>
            </a:r>
            <a:r>
              <a:rPr lang="ru-RU" dirty="0"/>
              <a:t> </a:t>
            </a:r>
            <a:r>
              <a:rPr lang="en-US" i="1" dirty="0"/>
              <a:t>L</a:t>
            </a:r>
            <a:r>
              <a:rPr lang="ru-RU" i="1" dirty="0"/>
              <a:t>, </a:t>
            </a:r>
            <a:r>
              <a:rPr lang="ru-RU" i="1" dirty="0">
                <a:sym typeface="Symbol"/>
              </a:rPr>
              <a:t></a:t>
            </a:r>
            <a:r>
              <a:rPr lang="ru-RU" dirty="0"/>
              <a:t>) с бинарным отношением частичного порядка «</a:t>
            </a:r>
            <a:r>
              <a:rPr lang="ru-RU" i="1" dirty="0">
                <a:sym typeface="Symbol"/>
              </a:rPr>
              <a:t></a:t>
            </a:r>
            <a:r>
              <a:rPr lang="ru-RU" dirty="0"/>
              <a:t>», где для (а, </a:t>
            </a:r>
            <a:r>
              <a:rPr lang="ru-RU" dirty="0">
                <a:sym typeface="Symbol"/>
              </a:rPr>
              <a:t></a:t>
            </a:r>
            <a:r>
              <a:rPr lang="ru-RU" dirty="0"/>
              <a:t>), </a:t>
            </a:r>
            <a:r>
              <a:rPr lang="ru-RU" i="1" dirty="0"/>
              <a:t>(</a:t>
            </a:r>
            <a:r>
              <a:rPr lang="en-US" i="1" dirty="0"/>
              <a:t>b</a:t>
            </a:r>
            <a:r>
              <a:rPr lang="ru-RU" i="1" dirty="0"/>
              <a:t>, </a:t>
            </a:r>
            <a:r>
              <a:rPr lang="ru-RU" i="1" dirty="0">
                <a:sym typeface="Symbol"/>
              </a:rPr>
              <a:t></a:t>
            </a:r>
            <a:r>
              <a:rPr lang="ru-RU" dirty="0"/>
              <a:t>) </a:t>
            </a:r>
            <a:r>
              <a:rPr lang="ru-RU" i="1" dirty="0">
                <a:sym typeface="Symbol"/>
              </a:rPr>
              <a:t></a:t>
            </a:r>
            <a:r>
              <a:rPr lang="ru-RU" i="1" dirty="0"/>
              <a:t> X </a:t>
            </a:r>
            <a:r>
              <a:rPr lang="ru-RU" i="1" dirty="0">
                <a:sym typeface="Symbol"/>
              </a:rPr>
              <a:t></a:t>
            </a:r>
            <a:r>
              <a:rPr lang="ru-RU" dirty="0"/>
              <a:t> </a:t>
            </a:r>
            <a:r>
              <a:rPr lang="en-US" i="1" dirty="0"/>
              <a:t>L </a:t>
            </a:r>
            <a:r>
              <a:rPr lang="ru-RU" dirty="0"/>
              <a:t>выполняется условие</a:t>
            </a:r>
          </a:p>
          <a:p>
            <a:r>
              <a:rPr lang="ru-RU" dirty="0"/>
              <a:t>(а, </a:t>
            </a:r>
            <a:r>
              <a:rPr lang="ru-RU" dirty="0">
                <a:sym typeface="Symbol"/>
              </a:rPr>
              <a:t></a:t>
            </a:r>
            <a:r>
              <a:rPr lang="ru-RU" dirty="0"/>
              <a:t>) &lt; </a:t>
            </a:r>
            <a:r>
              <a:rPr lang="ru-RU" i="1" dirty="0"/>
              <a:t>(</a:t>
            </a:r>
            <a:r>
              <a:rPr lang="en-US" i="1" dirty="0"/>
              <a:t>b</a:t>
            </a:r>
            <a:r>
              <a:rPr lang="ru-RU" i="1" dirty="0"/>
              <a:t>, </a:t>
            </a:r>
            <a:r>
              <a:rPr lang="ru-RU" i="1" dirty="0">
                <a:sym typeface="Symbol"/>
              </a:rPr>
              <a:t></a:t>
            </a:r>
            <a:r>
              <a:rPr lang="ru-RU" dirty="0"/>
              <a:t>) тогда и только тогда, когда </a:t>
            </a:r>
            <a:r>
              <a:rPr lang="ru-RU" dirty="0">
                <a:sym typeface="Symbol"/>
              </a:rPr>
              <a:t></a:t>
            </a:r>
            <a:r>
              <a:rPr lang="ru-RU" dirty="0"/>
              <a:t> </a:t>
            </a:r>
            <a:r>
              <a:rPr lang="en-US" dirty="0">
                <a:sym typeface="Symbol"/>
              </a:rPr>
              <a:t></a:t>
            </a:r>
            <a:r>
              <a:rPr lang="ru-RU" i="1" dirty="0">
                <a:sym typeface="Symbol"/>
              </a:rPr>
              <a:t></a:t>
            </a:r>
            <a:r>
              <a:rPr lang="ru-RU" dirty="0"/>
              <a:t>, </a:t>
            </a:r>
            <a:r>
              <a:rPr lang="ru-RU" dirty="0">
                <a:sym typeface="Symbol"/>
              </a:rPr>
              <a:t></a:t>
            </a:r>
            <a:r>
              <a:rPr lang="ru-RU" dirty="0"/>
              <a:t> </a:t>
            </a:r>
            <a:r>
              <a:rPr lang="ru-RU" i="1" dirty="0">
                <a:sym typeface="Symbol"/>
              </a:rPr>
              <a:t></a:t>
            </a:r>
            <a:r>
              <a:rPr lang="ru-RU" dirty="0"/>
              <a:t> </a:t>
            </a:r>
            <a:r>
              <a:rPr lang="ru-RU" i="1" dirty="0">
                <a:sym typeface="Symbol"/>
              </a:rPr>
              <a:t></a:t>
            </a:r>
            <a:r>
              <a:rPr lang="ru-RU" dirty="0"/>
              <a:t>.</a:t>
            </a:r>
          </a:p>
          <a:p>
            <a:pPr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/>
          <a:lstStyle/>
          <a:p>
            <a:r>
              <a:rPr lang="ru-RU" dirty="0"/>
              <a:t>При этом</a:t>
            </a:r>
          </a:p>
          <a:p>
            <a:r>
              <a:rPr lang="ru-RU" i="1" dirty="0"/>
              <a:t>(а, </a:t>
            </a:r>
            <a:r>
              <a:rPr lang="ru-RU" i="1" dirty="0">
                <a:sym typeface="Symbol"/>
              </a:rPr>
              <a:t></a:t>
            </a:r>
            <a:r>
              <a:rPr lang="ru-RU" i="1" dirty="0"/>
              <a:t>)  </a:t>
            </a:r>
            <a:r>
              <a:rPr lang="ru-RU" i="1" dirty="0">
                <a:sym typeface="Symbol"/>
              </a:rPr>
              <a:t></a:t>
            </a:r>
            <a:r>
              <a:rPr lang="ru-RU" i="1" dirty="0"/>
              <a:t> (</a:t>
            </a:r>
            <a:r>
              <a:rPr lang="en-US" i="1" dirty="0"/>
              <a:t>b</a:t>
            </a:r>
            <a:r>
              <a:rPr lang="ru-RU" i="1" dirty="0"/>
              <a:t>, </a:t>
            </a:r>
            <a:r>
              <a:rPr lang="ru-RU" i="1" dirty="0">
                <a:sym typeface="Symbol"/>
              </a:rPr>
              <a:t></a:t>
            </a:r>
            <a:r>
              <a:rPr lang="ru-RU" i="1" dirty="0"/>
              <a:t>) = (а</a:t>
            </a:r>
            <a:r>
              <a:rPr lang="ru-RU" i="1" dirty="0">
                <a:sym typeface="Symbol"/>
              </a:rPr>
              <a:t></a:t>
            </a:r>
            <a:r>
              <a:rPr lang="en-US" i="1" dirty="0"/>
              <a:t>b</a:t>
            </a:r>
            <a:r>
              <a:rPr lang="ru-RU" i="1" dirty="0"/>
              <a:t>, </a:t>
            </a:r>
            <a:r>
              <a:rPr lang="en-US" i="1" dirty="0"/>
              <a:t>max</a:t>
            </a:r>
            <a:r>
              <a:rPr lang="ru-RU" i="1" dirty="0"/>
              <a:t>{</a:t>
            </a:r>
            <a:r>
              <a:rPr lang="ru-RU" i="1" dirty="0">
                <a:sym typeface="Symbol"/>
              </a:rPr>
              <a:t></a:t>
            </a:r>
            <a:r>
              <a:rPr lang="ru-RU" i="1" dirty="0"/>
              <a:t>, </a:t>
            </a:r>
            <a:r>
              <a:rPr lang="ru-RU" i="1" dirty="0">
                <a:sym typeface="Symbol"/>
              </a:rPr>
              <a:t></a:t>
            </a:r>
            <a:r>
              <a:rPr lang="ru-RU" i="1" dirty="0"/>
              <a:t>});</a:t>
            </a:r>
            <a:endParaRPr lang="ru-RU" dirty="0"/>
          </a:p>
          <a:p>
            <a:r>
              <a:rPr lang="ru-RU" i="1" dirty="0"/>
              <a:t>(а, </a:t>
            </a:r>
            <a:r>
              <a:rPr lang="ru-RU" i="1" dirty="0">
                <a:sym typeface="Symbol"/>
              </a:rPr>
              <a:t></a:t>
            </a:r>
            <a:r>
              <a:rPr lang="ru-RU" i="1" dirty="0"/>
              <a:t>)  </a:t>
            </a:r>
            <a:r>
              <a:rPr lang="ru-RU" i="1" dirty="0">
                <a:sym typeface="Symbol"/>
              </a:rPr>
              <a:t></a:t>
            </a:r>
            <a:r>
              <a:rPr lang="ru-RU" i="1" dirty="0"/>
              <a:t> (</a:t>
            </a:r>
            <a:r>
              <a:rPr lang="en-US" i="1" dirty="0"/>
              <a:t>b</a:t>
            </a:r>
            <a:r>
              <a:rPr lang="ru-RU" i="1" dirty="0"/>
              <a:t>, </a:t>
            </a:r>
            <a:r>
              <a:rPr lang="ru-RU" i="1" dirty="0">
                <a:sym typeface="Symbol"/>
              </a:rPr>
              <a:t></a:t>
            </a:r>
            <a:r>
              <a:rPr lang="ru-RU" i="1" dirty="0"/>
              <a:t>) = (а</a:t>
            </a:r>
            <a:r>
              <a:rPr lang="ru-RU" i="1" dirty="0">
                <a:sym typeface="Symbol"/>
              </a:rPr>
              <a:t></a:t>
            </a:r>
            <a:r>
              <a:rPr lang="en-US" i="1" dirty="0"/>
              <a:t>b</a:t>
            </a:r>
            <a:r>
              <a:rPr lang="ru-RU" i="1" dirty="0"/>
              <a:t>, </a:t>
            </a:r>
            <a:r>
              <a:rPr lang="en-US" i="1" dirty="0"/>
              <a:t>min</a:t>
            </a:r>
            <a:r>
              <a:rPr lang="ru-RU" i="1" dirty="0"/>
              <a:t>{</a:t>
            </a:r>
            <a:r>
              <a:rPr lang="en-US" i="1" dirty="0"/>
              <a:t>a</a:t>
            </a:r>
            <a:r>
              <a:rPr lang="ru-RU" i="1" dirty="0"/>
              <a:t>, </a:t>
            </a:r>
            <a:r>
              <a:rPr lang="ru-RU" i="1" dirty="0">
                <a:sym typeface="Symbol"/>
              </a:rPr>
              <a:t></a:t>
            </a:r>
            <a:r>
              <a:rPr lang="ru-RU" i="1" dirty="0"/>
              <a:t>}).</a:t>
            </a:r>
            <a:endParaRPr lang="ru-RU" dirty="0"/>
          </a:p>
          <a:p>
            <a:r>
              <a:rPr lang="ru-RU" dirty="0"/>
              <a:t>На практике при использовании многоуровневых решеток безопасности решетка </a:t>
            </a:r>
            <a:r>
              <a:rPr lang="ru-RU" i="1" dirty="0"/>
              <a:t>(</a:t>
            </a:r>
            <a:r>
              <a:rPr lang="en-US" i="1" dirty="0"/>
              <a:t>L</a:t>
            </a:r>
            <a:r>
              <a:rPr lang="ru-RU" i="1" dirty="0"/>
              <a:t>, </a:t>
            </a:r>
            <a:r>
              <a:rPr lang="ru-RU" i="1" dirty="0">
                <a:sym typeface="Symbol"/>
              </a:rPr>
              <a:t></a:t>
            </a:r>
            <a:r>
              <a:rPr lang="ru-RU" i="1" dirty="0"/>
              <a:t>) </a:t>
            </a:r>
            <a:r>
              <a:rPr lang="ru-RU" dirty="0"/>
              <a:t>является линейной шкалой уровней конфиденциальности, а </a:t>
            </a:r>
            <a:r>
              <a:rPr lang="ru-RU" i="1" dirty="0"/>
              <a:t>(X, </a:t>
            </a:r>
            <a:r>
              <a:rPr lang="ru-RU" i="1" dirty="0">
                <a:sym typeface="Symbol"/>
              </a:rPr>
              <a:t></a:t>
            </a:r>
            <a:r>
              <a:rPr lang="ru-RU" dirty="0"/>
              <a:t>) — решеткой подмножеств множества неиерархических категорий информации.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2636</TotalTime>
  <Words>2383</Words>
  <Application>Microsoft Office PowerPoint</Application>
  <PresentationFormat>Экран (4:3)</PresentationFormat>
  <Paragraphs>150</Paragraphs>
  <Slides>39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0" baseType="lpstr">
      <vt:lpstr>Тема Office</vt:lpstr>
      <vt:lpstr>Лекция 4  Управление доступом в ОС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Основные виды моделей безопасности</vt:lpstr>
      <vt:lpstr>Презентация PowerPoint</vt:lpstr>
      <vt:lpstr>Презентация PowerPoint</vt:lpstr>
      <vt:lpstr> Основные виды политик безопасности </vt:lpstr>
      <vt:lpstr>Дискреционная политика безопасности </vt:lpstr>
      <vt:lpstr>Презентация PowerPoint</vt:lpstr>
      <vt:lpstr>Мандатная политика безопасности</vt:lpstr>
      <vt:lpstr>Презентация PowerPoint</vt:lpstr>
      <vt:lpstr>Презентация PowerPoint</vt:lpstr>
      <vt:lpstr>Политика безопасности информационных потоков</vt:lpstr>
      <vt:lpstr>Политика ролевого разграничения доступа</vt:lpstr>
      <vt:lpstr>Политика изолированной программной среды</vt:lpstr>
      <vt:lpstr>Модель решетки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понятия и определения в области информационной безопасности</dc:title>
  <dc:creator>Марина</dc:creator>
  <cp:lastModifiedBy>User</cp:lastModifiedBy>
  <cp:revision>231</cp:revision>
  <dcterms:created xsi:type="dcterms:W3CDTF">2013-02-04T18:05:09Z</dcterms:created>
  <dcterms:modified xsi:type="dcterms:W3CDTF">2025-09-27T08:25:55Z</dcterms:modified>
</cp:coreProperties>
</file>