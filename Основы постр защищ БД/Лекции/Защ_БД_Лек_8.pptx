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96" r:id="rId2"/>
    <p:sldId id="321" r:id="rId3"/>
    <p:sldId id="328" r:id="rId4"/>
    <p:sldId id="322" r:id="rId5"/>
    <p:sldId id="327" r:id="rId6"/>
    <p:sldId id="329" r:id="rId7"/>
    <p:sldId id="330" r:id="rId8"/>
    <p:sldId id="331" r:id="rId9"/>
    <p:sldId id="332" r:id="rId10"/>
    <p:sldId id="333" r:id="rId11"/>
    <p:sldId id="334" r:id="rId12"/>
    <p:sldId id="335" r:id="rId13"/>
    <p:sldId id="326" r:id="rId14"/>
    <p:sldId id="323" r:id="rId15"/>
    <p:sldId id="324" r:id="rId16"/>
    <p:sldId id="325" r:id="rId17"/>
    <p:sldId id="312" r:id="rId18"/>
    <p:sldId id="300" r:id="rId19"/>
    <p:sldId id="301" r:id="rId20"/>
    <p:sldId id="303" r:id="rId21"/>
    <p:sldId id="304" r:id="rId22"/>
    <p:sldId id="311" r:id="rId23"/>
    <p:sldId id="305" r:id="rId24"/>
    <p:sldId id="306" r:id="rId25"/>
    <p:sldId id="336" r:id="rId26"/>
  </p:sldIdLst>
  <p:sldSz cx="9144000" cy="6858000" type="screen4x3"/>
  <p:notesSz cx="6858000" cy="9144000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4530" autoAdjust="0"/>
  </p:normalViewPr>
  <p:slideViewPr>
    <p:cSldViewPr>
      <p:cViewPr varScale="1">
        <p:scale>
          <a:sx n="61" d="100"/>
          <a:sy n="61" d="100"/>
        </p:scale>
        <p:origin x="756" y="-1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ADCFCD-624C-46CB-B296-321CFCDD592D}" type="datetimeFigureOut">
              <a:rPr lang="ru-RU" smtClean="0"/>
              <a:t>18.10.2025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632B78-96D7-46BF-8914-49F28A1DBD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27608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632B78-96D7-46BF-8914-49F28A1DBD33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405077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57B83E-89B6-4219-BF87-7529AD0C6C87}" type="datetimeFigureOut">
              <a:rPr lang="ru-RU"/>
              <a:pPr>
                <a:defRPr/>
              </a:pPr>
              <a:t>18.10.2025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E8D8B0-E8CE-47F4-9E84-C91982F6FE25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CD223D-52D0-454B-8A3C-7005BF6D46BA}" type="datetimeFigureOut">
              <a:rPr lang="ru-RU"/>
              <a:pPr>
                <a:defRPr/>
              </a:pPr>
              <a:t>18.10.2025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B31C54-36C6-4FAF-B4D7-FB6AB5B168FA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A5F859-55F1-4D4C-A012-509E1096357C}" type="datetimeFigureOut">
              <a:rPr lang="ru-RU"/>
              <a:pPr>
                <a:defRPr/>
              </a:pPr>
              <a:t>18.10.2025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D06DA6-85DF-41EE-B567-E5F810D14457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37C992-A112-4A99-8FCC-9E199C84E769}" type="datetimeFigureOut">
              <a:rPr lang="ru-RU"/>
              <a:pPr>
                <a:defRPr/>
              </a:pPr>
              <a:t>18.10.2025</a:t>
            </a:fld>
            <a:endParaRPr lang="ru-RU"/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C7B5FC-EE2B-4CC9-9BBD-2EB5625FE57A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AEDD4C-0A06-4AA1-A776-F6E4452F976C}" type="datetimeFigureOut">
              <a:rPr lang="ru-RU"/>
              <a:pPr>
                <a:defRPr/>
              </a:pPr>
              <a:t>18.10.2025</a:t>
            </a:fld>
            <a:endParaRPr lang="ru-RU"/>
          </a:p>
        </p:txBody>
      </p:sp>
      <p:sp>
        <p:nvSpPr>
          <p:cNvPr id="8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C40005-CC87-4B15-9632-BAD0E57F2B71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DB19AA-4753-447B-A4F2-BC874F559128}" type="datetimeFigureOut">
              <a:rPr lang="ru-RU"/>
              <a:pPr>
                <a:defRPr/>
              </a:pPr>
              <a:t>18.10.2025</a:t>
            </a:fld>
            <a:endParaRPr lang="ru-RU"/>
          </a:p>
        </p:txBody>
      </p:sp>
      <p:sp>
        <p:nvSpPr>
          <p:cNvPr id="4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C91F2D-58F0-49BD-958C-20072085558C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9189E0-E272-4B64-AD19-E5766F84BB3A}" type="datetimeFigureOut">
              <a:rPr lang="ru-RU"/>
              <a:pPr>
                <a:defRPr/>
              </a:pPr>
              <a:t>18.10.2025</a:t>
            </a:fld>
            <a:endParaRPr lang="ru-RU"/>
          </a:p>
        </p:txBody>
      </p:sp>
      <p:sp>
        <p:nvSpPr>
          <p:cNvPr id="3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B25A93-5571-4D0E-95F4-D42D2A541D0F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3F0F59-934F-4AA1-94E4-4CD406483BC5}" type="datetimeFigureOut">
              <a:rPr lang="ru-RU"/>
              <a:pPr>
                <a:defRPr/>
              </a:pPr>
              <a:t>18.10.2025</a:t>
            </a:fld>
            <a:endParaRPr lang="ru-RU"/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A011C6-6047-4248-AD70-7F6A6C504C19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0A09DA-2DD2-416E-92C9-55AB2324AF4E}" type="datetimeFigureOut">
              <a:rPr lang="ru-RU"/>
              <a:pPr>
                <a:defRPr/>
              </a:pPr>
              <a:t>18.10.2025</a:t>
            </a:fld>
            <a:endParaRPr lang="ru-RU"/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07CC22-513C-4212-96B6-6948D0B0F301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DB4FAB-08C6-438F-9A97-FA3D70DE0926}" type="datetimeFigureOut">
              <a:rPr lang="ru-RU"/>
              <a:pPr>
                <a:defRPr/>
              </a:pPr>
              <a:t>18.10.2025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9FAF17-A4D8-4288-BD27-EF208B0589C6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3E32C7-ACD9-496A-A7A0-28EBC05CAD79}" type="datetimeFigureOut">
              <a:rPr lang="ru-RU"/>
              <a:pPr>
                <a:defRPr/>
              </a:pPr>
              <a:t>18.10.2025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BCAD07-7381-4FC1-9683-1CDE49BC4E3B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>
            <a:alphaModFix amt="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Заголовок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/>
              <a:t>Образец заголовка</a:t>
            </a:r>
          </a:p>
        </p:txBody>
      </p:sp>
      <p:sp>
        <p:nvSpPr>
          <p:cNvPr id="1027" name="Текст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4A6FC1E4-7E55-406F-9484-5BBA316FBA48}" type="datetimeFigureOut">
              <a:rPr lang="ru-RU"/>
              <a:pPr>
                <a:defRPr/>
              </a:pPr>
              <a:t>18.10.2025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D6FA8D75-543B-4D8A-934A-603AA0E11D6C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2"/>
          <p:cNvSpPr>
            <a:spLocks noGrp="1"/>
          </p:cNvSpPr>
          <p:nvPr>
            <p:ph type="title"/>
          </p:nvPr>
        </p:nvSpPr>
        <p:spPr>
          <a:xfrm>
            <a:off x="457200" y="332656"/>
            <a:ext cx="8229600" cy="6192688"/>
          </a:xfrm>
        </p:spPr>
        <p:txBody>
          <a:bodyPr/>
          <a:lstStyle/>
          <a:p>
            <a:pPr>
              <a:lnSpc>
                <a:spcPct val="115000"/>
              </a:lnSpc>
              <a:tabLst>
                <a:tab pos="564515" algn="l"/>
                <a:tab pos="604520" algn="l"/>
              </a:tabLst>
            </a:pPr>
            <a:r>
              <a:rPr lang="ru-RU" sz="4000" dirty="0">
                <a:latin typeface="Arial" charset="0"/>
              </a:rPr>
              <a:t> </a:t>
            </a:r>
            <a:br>
              <a:rPr lang="ru-RU" sz="4000" dirty="0">
                <a:latin typeface="Arial" charset="0"/>
              </a:rPr>
            </a:br>
            <a:r>
              <a:rPr lang="ru-RU" sz="3200" b="1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Лекция 8</a:t>
            </a:r>
            <a:br>
              <a:rPr lang="ru-RU" sz="3200" b="1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600" b="1" spc="1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Метод</a:t>
            </a:r>
            <a:r>
              <a:rPr lang="ru-RU" sz="3600" b="1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ы</a:t>
            </a:r>
            <a:r>
              <a:rPr lang="ru-RU" sz="3600" b="1" spc="-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3600" b="1" spc="1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дискреционног</a:t>
            </a:r>
            <a:r>
              <a:rPr lang="ru-RU" sz="3600" b="1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</a:t>
            </a:r>
            <a:r>
              <a:rPr lang="ru-RU" sz="3600" b="1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3600" b="1" spc="1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разграничени</a:t>
            </a:r>
            <a:r>
              <a:rPr lang="ru-RU" sz="3600" b="1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я </a:t>
            </a:r>
            <a:r>
              <a:rPr lang="ru-RU" sz="3600" b="1" spc="10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доступа</a:t>
            </a:r>
            <a:br>
              <a:rPr lang="ru-RU" sz="36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br>
              <a:rPr lang="ru-RU" sz="2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2800" b="1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 </a:t>
            </a:r>
            <a:r>
              <a:rPr lang="ru-RU" sz="2800" b="1" spc="5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Реализация модели дискреционного управления доступом в СУБД</a:t>
            </a:r>
            <a:br>
              <a:rPr lang="ru-RU" sz="2800" b="1" spc="5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2800" b="1" spc="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 </a:t>
            </a:r>
            <a:r>
              <a:rPr lang="ru-RU" sz="2800" b="1" spc="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Предоставление</a:t>
            </a:r>
            <a:r>
              <a:rPr lang="ru-RU" sz="2800" b="1" spc="2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800" b="1" spc="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системных</a:t>
            </a:r>
            <a:r>
              <a:rPr lang="ru-RU" sz="2800" b="1" spc="2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800" b="1" spc="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привилегий</a:t>
            </a:r>
            <a:br>
              <a:rPr lang="ru-RU" sz="2800" b="1" spc="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2800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3 Предоставление привилегий доступа к объекту</a:t>
            </a:r>
            <a:br>
              <a:rPr lang="ru-RU" sz="2800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Cambria" panose="02040503050406030204" pitchFamily="18" charset="0"/>
              </a:rPr>
            </a:br>
            <a:r>
              <a:rPr lang="ru-RU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4 Отмена привилегий</a:t>
            </a:r>
            <a:br>
              <a:rPr lang="ru-RU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br>
              <a:rPr lang="ru-RU" sz="2800" b="1" spc="6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b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4D27BF-E273-FA8E-FEE4-4BC490E54E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9" name="Rectangle 3">
            <a:extLst>
              <a:ext uri="{FF2B5EF4-FFF2-40B4-BE49-F238E27FC236}">
                <a16:creationId xmlns:a16="http://schemas.microsoft.com/office/drawing/2014/main" id="{CC7A81BA-A3B8-B62A-EC5C-B31FF0F613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0"/>
            <a:ext cx="9144000" cy="6763544"/>
          </a:xfrm>
        </p:spPr>
        <p:txBody>
          <a:bodyPr/>
          <a:lstStyle/>
          <a:p>
            <a:pPr indent="0" algn="ctr">
              <a:lnSpc>
                <a:spcPct val="115000"/>
              </a:lnSpc>
              <a:buNone/>
            </a:pPr>
            <a:r>
              <a:rPr lang="ru-RU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</a:t>
            </a:r>
            <a:r>
              <a:rPr lang="ru-RU" sz="1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b="1" spc="5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Реализация модели дискреционного управления доступом в СУБД</a:t>
            </a:r>
            <a:r>
              <a:rPr lang="en-US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	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Простейшая (одноуровневая) модель безопасности данных строится на основе дискреционного (избирательного) принципа разграничения доступа, при котором доступ к объектам осуществляется на основе множества разрешенных отношений доступа в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виде троек — «</a:t>
            </a:r>
            <a:r>
              <a:rPr lang="ru-RU" sz="2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субъект доступа — тип доступа — объект</a:t>
            </a:r>
            <a:r>
              <a:rPr lang="ru-RU" sz="2500" spc="-1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доступа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». Наглядным и </a:t>
            </a:r>
            <a:r>
              <a:rPr lang="ru-RU" sz="2500" spc="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распространенным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способом формализованного представления дискреционного доступа является матрица доступа, устанавливающая перечень пользователей (субъектов) и перечень разрешенных операций (процессов) по отношению к каждому объекту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базы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данных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ru-RU" sz="2500" dirty="0">
                <a:latin typeface="Times New Roman" panose="02020603050405020304" pitchFamily="18" charset="0"/>
              </a:rPr>
              <a:t>таблицы, запросы, формы, отчеты).</a:t>
            </a:r>
          </a:p>
          <a:p>
            <a:pPr marL="215900" indent="0" algn="just">
              <a:spcBef>
                <a:spcPts val="0"/>
              </a:spcBef>
              <a:buNone/>
            </a:pPr>
            <a:r>
              <a:rPr lang="ru-RU" sz="2500" dirty="0">
                <a:latin typeface="Times New Roman" panose="02020603050405020304" pitchFamily="18" charset="0"/>
              </a:rPr>
              <a:t>Важным аспектом моделей безопасности является управление доступом. Принято выделять два подхода:</a:t>
            </a:r>
          </a:p>
          <a:p>
            <a:pPr marL="0" lvl="0" indent="0" algn="just">
              <a:spcBef>
                <a:spcPts val="0"/>
              </a:spcBef>
              <a:buSzPts val="1000"/>
              <a:buNone/>
              <a:tabLst>
                <a:tab pos="535305" algn="l"/>
              </a:tabLst>
            </a:pPr>
            <a:r>
              <a:rPr lang="en-US" sz="2500" dirty="0">
                <a:latin typeface="Times New Roman" panose="02020603050405020304" pitchFamily="18" charset="0"/>
              </a:rPr>
              <a:t>	</a:t>
            </a:r>
            <a:r>
              <a:rPr lang="ru-RU" sz="2500" dirty="0">
                <a:latin typeface="Times New Roman" panose="02020603050405020304" pitchFamily="18" charset="0"/>
              </a:rPr>
              <a:t>добровольное управление доступом;</a:t>
            </a:r>
          </a:p>
          <a:p>
            <a:pPr marL="0" lvl="0" indent="0" algn="just">
              <a:spcBef>
                <a:spcPts val="0"/>
              </a:spcBef>
              <a:buSzPts val="1000"/>
              <a:buNone/>
              <a:tabLst>
                <a:tab pos="544830" algn="l"/>
              </a:tabLst>
            </a:pPr>
            <a:r>
              <a:rPr lang="en-US" sz="2500" dirty="0">
                <a:latin typeface="Times New Roman" panose="02020603050405020304" pitchFamily="18" charset="0"/>
              </a:rPr>
              <a:t>	</a:t>
            </a:r>
            <a:r>
              <a:rPr lang="ru-RU" sz="2500" dirty="0">
                <a:latin typeface="Times New Roman" panose="02020603050405020304" pitchFamily="18" charset="0"/>
              </a:rPr>
              <a:t>принудительное управление доступом.</a:t>
            </a:r>
          </a:p>
          <a:p>
            <a:pPr marL="0" indent="0" algn="just">
              <a:lnSpc>
                <a:spcPct val="115000"/>
              </a:lnSpc>
              <a:spcBef>
                <a:spcPts val="0"/>
              </a:spcBef>
              <a:buNone/>
            </a:pP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78333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962028-62F4-6472-1C8A-9632B0271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9" name="Rectangle 3">
            <a:extLst>
              <a:ext uri="{FF2B5EF4-FFF2-40B4-BE49-F238E27FC236}">
                <a16:creationId xmlns:a16="http://schemas.microsoft.com/office/drawing/2014/main" id="{7652BCDF-B448-7EEA-9646-3223BDBA49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1"/>
            <a:ext cx="9144000" cy="6669088"/>
          </a:xfrm>
        </p:spPr>
        <p:txBody>
          <a:bodyPr/>
          <a:lstStyle/>
          <a:p>
            <a:pPr indent="0" algn="just">
              <a:lnSpc>
                <a:spcPct val="115000"/>
              </a:lnSpc>
              <a:spcBef>
                <a:spcPts val="0"/>
              </a:spcBef>
              <a:buNone/>
            </a:pPr>
            <a:r>
              <a:rPr lang="ru-RU" sz="2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4D4670-D6D0-D7FD-DDE8-CED31A2A2853}"/>
              </a:ext>
            </a:extLst>
          </p:cNvPr>
          <p:cNvSpPr txBox="1"/>
          <p:nvPr/>
        </p:nvSpPr>
        <p:spPr>
          <a:xfrm>
            <a:off x="107504" y="65422"/>
            <a:ext cx="9036496" cy="70173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500" spc="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r>
              <a:rPr lang="ru-RU" sz="2500" spc="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Добровольное</a:t>
            </a:r>
            <a:r>
              <a:rPr lang="ru-RU" sz="2500" spc="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управлении</a:t>
            </a:r>
            <a:r>
              <a:rPr lang="ru-RU" sz="2500" spc="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доступом</a:t>
            </a:r>
            <a:r>
              <a:rPr lang="ru-RU" sz="2500" spc="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базируется</a:t>
            </a:r>
            <a:r>
              <a:rPr lang="ru-RU" sz="2500" spc="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на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понятии </a:t>
            </a:r>
            <a:r>
              <a:rPr lang="ru-RU" sz="2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владения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объектами. Как правило, владельцами объектов являются те субъекты базы данных, процессы которых создали соответствующие объекты. Добровольное управление доступом заключается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том,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что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права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на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доступ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объектам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определяют их владельцы. Иначе говоря, соответствующие ячейки матрицы доступа заполняются теми субъектами (пользователями), которым принадлежат права владения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над соответствующими объектами</a:t>
            </a:r>
            <a:r>
              <a:rPr lang="ru-RU" sz="2500" spc="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базы данных. В большинстве систем </a:t>
            </a:r>
            <a:r>
              <a:rPr lang="ru-RU" sz="2500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права владения объектами</a:t>
            </a:r>
            <a:r>
              <a:rPr lang="ru-RU" sz="2500" u="sng" spc="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могут передаваться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В результате при добровольном управлении доступом реализуется полностью </a:t>
            </a:r>
            <a:r>
              <a:rPr lang="ru-RU" sz="2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децентрализованный принцип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организации</a:t>
            </a:r>
            <a:r>
              <a:rPr lang="ru-RU" sz="2500" spc="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</a:t>
            </a:r>
            <a:r>
              <a:rPr lang="ru-RU" sz="2500" spc="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управления</a:t>
            </a:r>
            <a:r>
              <a:rPr lang="ru-RU" sz="2500" spc="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процессом</a:t>
            </a:r>
            <a:r>
              <a:rPr lang="ru-RU" sz="2500" spc="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разграничения</a:t>
            </a:r>
            <a:r>
              <a:rPr lang="ru-RU" sz="2500" spc="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доступа.</a:t>
            </a:r>
            <a:endParaRPr lang="en-US" sz="25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ru-RU" sz="2500" dirty="0">
                <a:latin typeface="Times New Roman" panose="02020603050405020304" pitchFamily="18" charset="0"/>
              </a:rPr>
              <a:t>     Такой подход обеспечивает </a:t>
            </a:r>
            <a:r>
              <a:rPr lang="ru-RU" sz="2500" u="sng" dirty="0">
                <a:latin typeface="Times New Roman" panose="02020603050405020304" pitchFamily="18" charset="0"/>
              </a:rPr>
              <a:t>гибкость</a:t>
            </a:r>
            <a:r>
              <a:rPr lang="ru-RU" sz="2500" dirty="0">
                <a:latin typeface="Times New Roman" panose="02020603050405020304" pitchFamily="18" charset="0"/>
              </a:rPr>
              <a:t> настраивания системы разграничения доступа в БД на конкретную совокупность пользователей и ресурсов, но делает достаточно </a:t>
            </a:r>
            <a:r>
              <a:rPr lang="ru-RU" sz="2500" u="sng" dirty="0">
                <a:latin typeface="Times New Roman" panose="02020603050405020304" pitchFamily="18" charset="0"/>
              </a:rPr>
              <a:t>сложным общий контроль и аудит </a:t>
            </a:r>
            <a:r>
              <a:rPr lang="ru-RU" sz="2500" dirty="0">
                <a:latin typeface="Times New Roman" panose="02020603050405020304" pitchFamily="18" charset="0"/>
              </a:rPr>
              <a:t>состояния безопасности данных в системе.</a:t>
            </a:r>
          </a:p>
          <a:p>
            <a:pPr algn="just"/>
            <a:endParaRPr lang="ru-RU" sz="25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01649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55C7EF-91DD-AFAD-58DF-2A792804CD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9" name="Rectangle 3">
            <a:extLst>
              <a:ext uri="{FF2B5EF4-FFF2-40B4-BE49-F238E27FC236}">
                <a16:creationId xmlns:a16="http://schemas.microsoft.com/office/drawing/2014/main" id="{76DFA2EE-389B-E188-66F3-DA922BA807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1"/>
            <a:ext cx="9144000" cy="6669088"/>
          </a:xfrm>
        </p:spPr>
        <p:txBody>
          <a:bodyPr/>
          <a:lstStyle/>
          <a:p>
            <a:pPr indent="0" algn="just">
              <a:lnSpc>
                <a:spcPct val="115000"/>
              </a:lnSpc>
              <a:spcBef>
                <a:spcPts val="0"/>
              </a:spcBef>
              <a:buNone/>
            </a:pPr>
            <a:r>
              <a:rPr lang="ru-RU" sz="2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5902E4-C5D7-9C3A-7B0B-B895C3330C58}"/>
              </a:ext>
            </a:extLst>
          </p:cNvPr>
          <p:cNvSpPr txBox="1"/>
          <p:nvPr/>
        </p:nvSpPr>
        <p:spPr>
          <a:xfrm>
            <a:off x="0" y="188911"/>
            <a:ext cx="9036496" cy="66325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</a:t>
            </a:r>
            <a:r>
              <a:rPr lang="ru-RU" sz="2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Принудительный подход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предусматривает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введение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единого</a:t>
            </a:r>
            <a:r>
              <a:rPr lang="ru-RU" sz="2500" spc="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централизованного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администрирования доступом. В БД выделяется специальный доверенный субъект </a:t>
            </a:r>
            <a:r>
              <a:rPr lang="ru-RU" sz="2500" spc="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(администратор),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который определяет </a:t>
            </a:r>
            <a:r>
              <a:rPr lang="ru-RU" sz="2500" spc="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привилегии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на доступ всех остальных субъектов к объектам БД. Т.О.,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заполнять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изменять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ячейки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матрицы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доступа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может только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администратор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системы.</a:t>
            </a:r>
          </a:p>
          <a:p>
            <a:pPr algn="just"/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Этот способ обеспечивает </a:t>
            </a:r>
            <a:r>
              <a:rPr lang="ru-RU" sz="2500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более жесткое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централизованное управление доступом. Вместе с тем он является </a:t>
            </a:r>
            <a:r>
              <a:rPr lang="ru-RU" sz="2500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менее гибким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 </a:t>
            </a:r>
            <a:r>
              <a:rPr lang="ru-RU" sz="2500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менее точным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 плане настройки системы разграничения доступа на потребности и полномочия пользователей, так как наиболее полное представление о содержимом и конфиденциальности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объектов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(ресурсов)</a:t>
            </a:r>
            <a:r>
              <a:rPr lang="ru-RU" sz="2500" spc="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имеют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их</a:t>
            </a:r>
            <a:r>
              <a:rPr lang="ru-RU" sz="2500" spc="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владельцы.</a:t>
            </a:r>
          </a:p>
          <a:p>
            <a:pPr algn="just"/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На </a:t>
            </a:r>
            <a:r>
              <a:rPr lang="ru-RU" sz="2500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практике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в большинстве случаев </a:t>
            </a:r>
            <a:r>
              <a:rPr lang="ru-RU" sz="2500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применяется комбинированный способ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управления доступом, когда определенная часть полномочий на доступ к объектам устанавливается администратором,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а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другая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часть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—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владельцами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объектов.</a:t>
            </a:r>
          </a:p>
        </p:txBody>
      </p:sp>
    </p:spTree>
    <p:extLst>
      <p:ext uri="{BB962C8B-B14F-4D97-AF65-F5344CB8AC3E}">
        <p14:creationId xmlns:p14="http://schemas.microsoft.com/office/powerpoint/2010/main" val="19291524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21771A-C25A-6451-2A78-82CA10FFC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9" name="Rectangle 3">
            <a:extLst>
              <a:ext uri="{FF2B5EF4-FFF2-40B4-BE49-F238E27FC236}">
                <a16:creationId xmlns:a16="http://schemas.microsoft.com/office/drawing/2014/main" id="{6192CAA5-F5E2-035B-7A82-8E1EF14AF1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-25698"/>
            <a:ext cx="9144000" cy="6669088"/>
          </a:xfrm>
        </p:spPr>
        <p:txBody>
          <a:bodyPr/>
          <a:lstStyle/>
          <a:p>
            <a:pPr marL="0" indent="0" algn="just">
              <a:spcBef>
                <a:spcPts val="0"/>
              </a:spcBef>
              <a:buNone/>
            </a:pP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Отметим, что высокая степень безопасности данных</a:t>
            </a:r>
            <a:r>
              <a:rPr lang="ru-RU" sz="2500" spc="-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должна быть обеспечена без уменьшения </a:t>
            </a:r>
            <a:r>
              <a:rPr lang="ru-RU" sz="2500" spc="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функциональности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СУБД и</a:t>
            </a:r>
            <a:r>
              <a:rPr lang="ru-RU" sz="2500" spc="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без усложнения работы пользователя в системе. Механизм обеспечения безопасности данных должен обладать гибкостью и удобством администрирования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системы.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Система  разграничения доступа в СУБД </a:t>
            </a:r>
            <a:r>
              <a:rPr lang="ru-RU" sz="2500" spc="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построена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на модели </a:t>
            </a:r>
            <a:r>
              <a:rPr lang="ru-RU" sz="2500" spc="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избирательного управления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доступом. Это означает, что администратор БД создает пользователей и управляет их полномочиями на выполнение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конкретных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операций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конкретными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объектами. 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Задача распознавания пользователей и разграничения доступа между различными пользователями системы решается как на</a:t>
            </a:r>
            <a:r>
              <a:rPr lang="ru-RU" sz="2500" spc="-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уровне средств ОС, так и на уровне средств СУБД. На обоих уровнях администраторы создают (регистрируют) пользователей в системе и управляют назначением привилегий. </a:t>
            </a:r>
          </a:p>
        </p:txBody>
      </p:sp>
    </p:spTree>
    <p:extLst>
      <p:ext uri="{BB962C8B-B14F-4D97-AF65-F5344CB8AC3E}">
        <p14:creationId xmlns:p14="http://schemas.microsoft.com/office/powerpoint/2010/main" val="34428009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7466D6-9A4F-83E9-BCA1-4F6F9EECE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9" name="Rectangle 3">
            <a:extLst>
              <a:ext uri="{FF2B5EF4-FFF2-40B4-BE49-F238E27FC236}">
                <a16:creationId xmlns:a16="http://schemas.microsoft.com/office/drawing/2014/main" id="{B2AE06DA-A831-450A-2236-22107935C7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1"/>
            <a:ext cx="9144000" cy="6669088"/>
          </a:xfrm>
        </p:spPr>
        <p:txBody>
          <a:bodyPr/>
          <a:lstStyle/>
          <a:p>
            <a:pPr marL="0" indent="0" algn="just">
              <a:spcBef>
                <a:spcPts val="0"/>
              </a:spcBef>
              <a:buNone/>
            </a:pP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С другой стороны, всякая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система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spc="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должна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поддерживать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spc="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естественный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порядок,</a:t>
            </a:r>
            <a:r>
              <a:rPr lang="ru-RU" sz="2500" spc="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при котором пользователь, создающий некоторый объект, имеет право на управление доступом к этому объекту. Обычное решение состоит в реализации концепции привилегии или права доступа.</a:t>
            </a:r>
            <a:endParaRPr lang="ru-RU" sz="2500" i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 algn="just">
              <a:spcBef>
                <a:spcPts val="0"/>
              </a:spcBef>
              <a:buNone/>
            </a:pPr>
            <a:r>
              <a:rPr lang="ru-RU" sz="25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Привилегия </a:t>
            </a:r>
            <a:r>
              <a:rPr lang="ru-RU" sz="2500" spc="8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—</a:t>
            </a:r>
            <a:r>
              <a:rPr lang="ru-RU" sz="2500" spc="5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это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некоторый поддерживаемый системой признак, который определяет, может</a:t>
            </a:r>
            <a:r>
              <a:rPr lang="ru-RU" sz="25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ли конкретный пользователь выполнить конкретную операцию. Имеется несколько типов привилегий, соответствующих нескольким типам операций. В языке SQL — базовом языке промышленных СУБД — привилегии определяются и отменяются двумя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командами: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GRANT (предоставить привилегию)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REVOKE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(отменить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привилегию).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Чтобы предоставить кому-либо доступ к БД, администратор должен обеспечить глобальную доступность БД, создать в ней соответствующего пользователя (определив его учетную запись) и предоставить ему определенные полномочия по доступу к объектам базы. </a:t>
            </a:r>
          </a:p>
        </p:txBody>
      </p:sp>
    </p:spTree>
    <p:extLst>
      <p:ext uri="{BB962C8B-B14F-4D97-AF65-F5344CB8AC3E}">
        <p14:creationId xmlns:p14="http://schemas.microsoft.com/office/powerpoint/2010/main" val="11591427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CEE7EE-0722-2AD3-1912-62F6578243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9" name="Rectangle 3">
            <a:extLst>
              <a:ext uri="{FF2B5EF4-FFF2-40B4-BE49-F238E27FC236}">
                <a16:creationId xmlns:a16="http://schemas.microsoft.com/office/drawing/2014/main" id="{33019B02-1DB2-BD50-06B2-83E689D8C3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1"/>
            <a:ext cx="9144000" cy="6669088"/>
          </a:xfrm>
        </p:spPr>
        <p:txBody>
          <a:bodyPr/>
          <a:lstStyle/>
          <a:p>
            <a:pPr marL="0" marR="66040" indent="0" algn="just">
              <a:spcBef>
                <a:spcPts val="0"/>
              </a:spcBef>
              <a:buNone/>
            </a:pP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Обеспечение </a:t>
            </a:r>
            <a:r>
              <a:rPr lang="ru-RU" sz="2500" spc="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правомерности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доступа пользователя реализуется средствами аутентификации,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простейшим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из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которых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является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использование пароля, подтверждающего подлинность пользователя. Для подключения</a:t>
            </a:r>
            <a:r>
              <a:rPr lang="ru-RU" sz="2500" spc="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базе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данных</a:t>
            </a:r>
            <a:r>
              <a:rPr lang="ru-RU" sz="2500" spc="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пользователь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должен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ввести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свое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имя и пароль. Обычно администратор выбирает </a:t>
            </a:r>
            <a:r>
              <a:rPr lang="ru-RU" sz="2500" spc="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осмысленные</a:t>
            </a:r>
            <a:r>
              <a:rPr lang="ru-RU" sz="2500" spc="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имена</a:t>
            </a:r>
            <a:r>
              <a:rPr lang="ru-RU" sz="2500" spc="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пользователей</a:t>
            </a:r>
            <a:r>
              <a:rPr lang="ru-RU" sz="2500" spc="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(например,</a:t>
            </a:r>
            <a:r>
              <a:rPr lang="ru-RU" sz="2500" spc="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объединяя</a:t>
            </a:r>
            <a:r>
              <a:rPr lang="ru-RU" sz="2500" spc="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имя</a:t>
            </a:r>
            <a:r>
              <a:rPr lang="ru-RU" sz="2500" spc="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</a:t>
            </a:r>
            <a:r>
              <a:rPr lang="ru-RU" sz="2500" spc="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фамилию)</a:t>
            </a:r>
            <a:r>
              <a:rPr lang="ru-RU" sz="2500" spc="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 не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несущие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никакого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смысла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пароли.</a:t>
            </a:r>
          </a:p>
          <a:p>
            <a:pPr marL="0" marR="66040" indent="0" algn="just">
              <a:spcBef>
                <a:spcPts val="0"/>
              </a:spcBef>
              <a:buNone/>
            </a:pPr>
            <a:r>
              <a:rPr lang="ru-RU" sz="2500" dirty="0">
                <a:latin typeface="Times New Roman" panose="02020603050405020304" pitchFamily="18" charset="0"/>
              </a:rPr>
              <a:t>  Во многих СУБД реализована поддержка принципа «</a:t>
            </a:r>
            <a:r>
              <a:rPr lang="ru-RU" sz="2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безопасности по умолчанию</a:t>
            </a:r>
            <a:r>
              <a:rPr lang="ru-RU" sz="2500" dirty="0">
                <a:latin typeface="Times New Roman" panose="02020603050405020304" pitchFamily="18" charset="0"/>
              </a:rPr>
              <a:t>» или принципа «</a:t>
            </a:r>
            <a:r>
              <a:rPr lang="ru-RU" sz="2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наименьших привилегий</a:t>
            </a:r>
            <a:r>
              <a:rPr lang="ru-RU" sz="2500" dirty="0">
                <a:latin typeface="Times New Roman" panose="02020603050405020304" pitchFamily="18" charset="0"/>
              </a:rPr>
              <a:t>». Суть принципа состоит в том, что пользователь может получить доступ к объекту базы данных (например, таблице или представлению) или выполнить определенные действия в системе (например, создать нового пользователя), только если ему это явно разрешено.</a:t>
            </a:r>
          </a:p>
          <a:p>
            <a:pPr marL="0" marR="66040" indent="0" algn="just">
              <a:spcBef>
                <a:spcPts val="0"/>
              </a:spcBef>
              <a:buNone/>
            </a:pPr>
            <a:endParaRPr lang="ru-RU" sz="25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86743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392039-7FD9-682E-E955-1408E73CED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9" name="Rectangle 3">
            <a:extLst>
              <a:ext uri="{FF2B5EF4-FFF2-40B4-BE49-F238E27FC236}">
                <a16:creationId xmlns:a16="http://schemas.microsoft.com/office/drawing/2014/main" id="{DF7B0971-059B-EC76-3B78-5E52E480F5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1"/>
            <a:ext cx="9144000" cy="6669088"/>
          </a:xfrm>
        </p:spPr>
        <p:txBody>
          <a:bodyPr/>
          <a:lstStyle/>
          <a:p>
            <a:pPr marL="457200" lvl="1" indent="0" algn="ctr">
              <a:spcBef>
                <a:spcPts val="0"/>
              </a:spcBef>
              <a:buNone/>
              <a:tabLst>
                <a:tab pos="635635" algn="l"/>
                <a:tab pos="645795" algn="l"/>
              </a:tabLst>
            </a:pPr>
            <a:r>
              <a:rPr lang="ru-RU" sz="2500" spc="45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Базовые </a:t>
            </a:r>
            <a:r>
              <a:rPr lang="ru-RU" sz="2500" spc="55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понятие </a:t>
            </a:r>
            <a:r>
              <a:rPr lang="ru-RU" sz="2500" spc="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системы </a:t>
            </a:r>
            <a:r>
              <a:rPr lang="ru-RU" sz="2500" spc="6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разграничения </a:t>
            </a:r>
            <a:r>
              <a:rPr lang="ru-RU" sz="2500" spc="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доступа</a:t>
            </a:r>
            <a:endParaRPr lang="ru-RU" sz="2500" spc="-6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15900" indent="0" algn="just">
              <a:spcBef>
                <a:spcPts val="0"/>
              </a:spcBef>
              <a:buNone/>
            </a:pPr>
            <a:r>
              <a:rPr lang="ru-RU" sz="25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Привилегия</a:t>
            </a:r>
            <a:r>
              <a:rPr lang="ru-RU" sz="2500" i="1" spc="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spc="5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ru-RU" sz="2500" spc="55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privilege</a:t>
            </a:r>
            <a:r>
              <a:rPr lang="ru-RU" sz="2500" spc="5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)—</a:t>
            </a:r>
            <a:r>
              <a:rPr lang="ru-RU" sz="2500" spc="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это</a:t>
            </a:r>
            <a:r>
              <a:rPr lang="ru-RU" sz="2500" spc="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разрешение</a:t>
            </a:r>
            <a:r>
              <a:rPr lang="ru-RU" sz="2500" spc="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на</a:t>
            </a:r>
            <a:r>
              <a:rPr lang="ru-RU" sz="2500" spc="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spc="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выполнение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 системе определенного действия. Не имея соответствующей привилегии,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пользователь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не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может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получить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доступ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данным или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выполнить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какое-либо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действие.</a:t>
            </a:r>
          </a:p>
          <a:p>
            <a:pPr marL="215900" indent="0" algn="just">
              <a:spcBef>
                <a:spcPts val="0"/>
              </a:spcBef>
              <a:buNone/>
            </a:pP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Сервер базы данных поддерживает для каждого пользователя набор привилегий. Привилегии этого набора могут изменяться: назначаться новые или отменяться старые. Множество базовых привилегий</a:t>
            </a:r>
            <a:r>
              <a:rPr lang="ru-RU" sz="2500" spc="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определено</a:t>
            </a:r>
            <a:r>
              <a:rPr lang="ru-RU" sz="2500" spc="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</a:t>
            </a:r>
            <a:r>
              <a:rPr lang="ru-RU" sz="2500" spc="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стандарте</a:t>
            </a:r>
            <a:r>
              <a:rPr lang="ru-RU" sz="2500" spc="3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ANSI</a:t>
            </a:r>
            <a:r>
              <a:rPr lang="ru-RU" sz="2500" spc="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SQL.</a:t>
            </a:r>
            <a:r>
              <a:rPr lang="ru-RU" sz="2500" spc="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Помимо</a:t>
            </a:r>
            <a:r>
              <a:rPr lang="ru-RU" sz="2500" spc="3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этого, могут быть реализованы некоторые </a:t>
            </a:r>
            <a:r>
              <a:rPr lang="ru-RU" sz="2500" spc="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дополнительные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привилегии.</a:t>
            </a:r>
          </a:p>
          <a:p>
            <a:pPr marL="215900" indent="0" algn="just">
              <a:spcBef>
                <a:spcPts val="0"/>
              </a:spcBef>
              <a:buNone/>
            </a:pP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Напомним, что основой системы разграничения доступа в СУБД является реализация принципа минимальных привилегий.</a:t>
            </a:r>
          </a:p>
          <a:p>
            <a:pPr marL="215900" indent="0" algn="just">
              <a:spcBef>
                <a:spcPts val="0"/>
              </a:spcBef>
              <a:buNone/>
            </a:pP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Все привилегии могут</a:t>
            </a:r>
            <a:r>
              <a:rPr lang="ru-RU" sz="2500" spc="-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быть</a:t>
            </a:r>
            <a:r>
              <a:rPr lang="ru-RU" sz="25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разделены на</a:t>
            </a:r>
            <a:r>
              <a:rPr lang="ru-RU" sz="2500" spc="-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два</a:t>
            </a:r>
            <a:r>
              <a:rPr lang="ru-RU" sz="25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класса: </a:t>
            </a:r>
            <a:r>
              <a:rPr lang="ru-RU" sz="2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системные привилегии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ru-RU" sz="25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system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privelege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 и </a:t>
            </a:r>
            <a:r>
              <a:rPr lang="ru-RU" sz="2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привилегии доступа к объектам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</a:t>
            </a:r>
            <a:r>
              <a:rPr lang="ru-RU" sz="25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object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privelege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).</a:t>
            </a:r>
          </a:p>
          <a:p>
            <a:pPr marL="84455" marR="31115" indent="0" algn="just">
              <a:spcBef>
                <a:spcPts val="170"/>
              </a:spcBef>
              <a:buNone/>
            </a:pPr>
            <a:endParaRPr lang="ru-RU" sz="2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84986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7266C2-7789-EE0A-80BB-9141E37EA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9" name="Rectangle 3">
            <a:extLst>
              <a:ext uri="{FF2B5EF4-FFF2-40B4-BE49-F238E27FC236}">
                <a16:creationId xmlns:a16="http://schemas.microsoft.com/office/drawing/2014/main" id="{9E242B78-1A0C-3A92-8A77-89A24EA892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marL="0" indent="0" algn="just">
              <a:spcBef>
                <a:spcPts val="0"/>
              </a:spcBef>
              <a:buNone/>
            </a:pPr>
            <a:r>
              <a:rPr lang="ru-RU" sz="25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Системная привилегия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— это привилегия, которая дает пользователю право на выполнение какой-либо операции в </a:t>
            </a:r>
            <a:r>
              <a:rPr lang="ru-RU" sz="2500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масштабе</a:t>
            </a:r>
            <a:r>
              <a:rPr lang="ru-RU" sz="2500" u="sng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базы данных.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Например, пользователь с системной привилегией ALTER TABLESPACE может изменять любую табличную область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(за исключением некоторых ограничений на табличную область SYSTEM). </a:t>
            </a:r>
            <a:r>
              <a:rPr lang="ru-RU" sz="2500" spc="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Пользователь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 </a:t>
            </a:r>
            <a:r>
              <a:rPr lang="ru-RU" sz="2500" spc="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системной привилегией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SELECT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spc="6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ANY </a:t>
            </a:r>
            <a:r>
              <a:rPr lang="ru-RU" sz="2500" spc="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TABLE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может</a:t>
            </a:r>
            <a:r>
              <a:rPr lang="ru-RU" sz="2500" spc="5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выполнять </a:t>
            </a:r>
            <a:r>
              <a:rPr lang="ru-RU" sz="2500" spc="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выборку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из</a:t>
            </a:r>
            <a:r>
              <a:rPr lang="ru-RU" sz="2500" spc="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любой </a:t>
            </a:r>
            <a:r>
              <a:rPr lang="ru-RU" sz="2500" spc="5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таблицы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базы данных. Поскольку системные привилегии связаны с возможностью</a:t>
            </a:r>
            <a:r>
              <a:rPr lang="ru-RU" sz="2500" spc="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выполнения</a:t>
            </a:r>
            <a:r>
              <a:rPr lang="ru-RU" sz="2500" spc="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глобальных</a:t>
            </a:r>
            <a:r>
              <a:rPr lang="ru-RU" sz="2500" spc="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изменений</a:t>
            </a:r>
            <a:r>
              <a:rPr lang="ru-RU" sz="2500" spc="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</a:t>
            </a:r>
            <a:r>
              <a:rPr lang="ru-RU" sz="2500" spc="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базе</a:t>
            </a:r>
            <a:r>
              <a:rPr lang="ru-RU" sz="2500" spc="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данных, их</a:t>
            </a:r>
            <a:r>
              <a:rPr lang="ru-RU" sz="2500" spc="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предоставление</a:t>
            </a:r>
            <a:r>
              <a:rPr lang="ru-RU" sz="2500" spc="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должно</a:t>
            </a:r>
            <a:r>
              <a:rPr lang="ru-RU" sz="2500" spc="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тщательно</a:t>
            </a:r>
            <a:r>
              <a:rPr lang="ru-RU" sz="2500" spc="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планироваться.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ru-RU" sz="25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Привилегия доступа к объекту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— это разрешение пользователю на выполнение </a:t>
            </a:r>
            <a:r>
              <a:rPr lang="ru-RU" sz="2500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определенной операции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над </a:t>
            </a:r>
            <a:r>
              <a:rPr lang="ru-RU" sz="2500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определенным объектом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например выполнение выборки из некоторой таблицы.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При</a:t>
            </a:r>
            <a:r>
              <a:rPr lang="ru-RU" sz="2500" spc="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этом</a:t>
            </a:r>
            <a:r>
              <a:rPr lang="ru-RU" sz="2500" spc="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пользователь</a:t>
            </a:r>
            <a:r>
              <a:rPr lang="ru-RU" sz="2500" spc="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может</a:t>
            </a:r>
            <a:r>
              <a:rPr lang="ru-RU" sz="2500" spc="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формировать</a:t>
            </a:r>
            <a:r>
              <a:rPr lang="ru-RU" sz="2500" spc="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любые</a:t>
            </a:r>
            <a:r>
              <a:rPr lang="ru-RU" sz="2500" spc="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запросы</a:t>
            </a:r>
            <a:r>
              <a:rPr lang="ru-RU" sz="2500" spc="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 данной</a:t>
            </a:r>
            <a:r>
              <a:rPr lang="ru-RU" sz="2500" spc="18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таблице,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но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не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имеет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права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модифицировать</a:t>
            </a:r>
            <a:r>
              <a:rPr lang="ru-RU" sz="2500" spc="18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данные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этой таблицы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или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формировать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какой-либо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запрос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другой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таблице.</a:t>
            </a:r>
          </a:p>
          <a:p>
            <a:pPr marL="0" indent="0" algn="just">
              <a:spcBef>
                <a:spcPts val="0"/>
              </a:spcBef>
              <a:buNone/>
            </a:pPr>
            <a:endParaRPr lang="ru-RU" sz="2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21761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9A59A0-8F50-123F-714C-79499E097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9" name="Rectangle 3">
            <a:extLst>
              <a:ext uri="{FF2B5EF4-FFF2-40B4-BE49-F238E27FC236}">
                <a16:creationId xmlns:a16="http://schemas.microsoft.com/office/drawing/2014/main" id="{EEF943B5-4A9B-47F8-A117-161079C5F3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1"/>
            <a:ext cx="9144000" cy="6669088"/>
          </a:xfrm>
        </p:spPr>
        <p:txBody>
          <a:bodyPr/>
          <a:lstStyle/>
          <a:p>
            <a:pPr marL="0" indent="0" algn="just">
              <a:spcBef>
                <a:spcPts val="0"/>
              </a:spcBef>
              <a:buNone/>
            </a:pP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	</a:t>
            </a:r>
            <a:r>
              <a:rPr lang="ru-RU" sz="2500" spc="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Привилегия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spc="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доступа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объекту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базы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spc="5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управляет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spc="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работой</a:t>
            </a:r>
            <a:r>
              <a:rPr lang="ru-RU" sz="2500" spc="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пользователя</a:t>
            </a:r>
            <a:r>
              <a:rPr lang="ru-RU" sz="2500" spc="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</a:t>
            </a:r>
            <a:r>
              <a:rPr lang="ru-RU" sz="2500" spc="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конкретным</a:t>
            </a:r>
            <a:r>
              <a:rPr lang="ru-RU" sz="2500" spc="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объектом.</a:t>
            </a:r>
            <a:r>
              <a:rPr lang="ru-RU" sz="2500" spc="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Например, администратор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может управлять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списком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пользователей,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которые имеют право выполнять выборку из конкретной таблицы. Для этого он предоставляет привилегии SELECT на эту таблицу конкретным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пользователям</a:t>
            </a:r>
            <a:r>
              <a:rPr lang="ru-RU" sz="2500" spc="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или</a:t>
            </a:r>
            <a:r>
              <a:rPr lang="ru-RU" sz="2500" spc="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ролям.</a:t>
            </a:r>
            <a:r>
              <a:rPr lang="ru-RU" sz="2500" spc="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ru-RU" sz="2500" spc="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r>
              <a:rPr lang="ru-RU" sz="2500" spc="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Механизм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привилегий</a:t>
            </a:r>
            <a:r>
              <a:rPr lang="ru-RU" sz="2500" spc="16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доступа</a:t>
            </a:r>
            <a:r>
              <a:rPr lang="ru-RU" sz="2500" spc="3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</a:t>
            </a:r>
            <a:r>
              <a:rPr lang="ru-RU" sz="2500" spc="2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объекту</a:t>
            </a:r>
            <a:r>
              <a:rPr lang="ru-RU" sz="2500" spc="2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дает</a:t>
            </a:r>
            <a:r>
              <a:rPr lang="ru-RU" sz="2500" spc="2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администратору</a:t>
            </a:r>
            <a:r>
              <a:rPr lang="ru-RU" sz="2500" spc="2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возможность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детально</a:t>
            </a:r>
            <a:r>
              <a:rPr lang="ru-RU" sz="2500" spc="3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управлять</a:t>
            </a:r>
            <a:r>
              <a:rPr lang="ru-RU" sz="2500" spc="27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доступом</a:t>
            </a:r>
            <a:r>
              <a:rPr lang="ru-RU" sz="2500" spc="3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</a:t>
            </a:r>
            <a:r>
              <a:rPr lang="ru-RU" sz="2500" spc="3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информации</a:t>
            </a:r>
            <a:r>
              <a:rPr lang="ru-RU" sz="2500" spc="3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базы</a:t>
            </a:r>
            <a:r>
              <a:rPr lang="ru-RU" sz="2500" spc="26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данных.</a:t>
            </a:r>
            <a:endParaRPr lang="ru-RU" sz="25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 algn="just">
              <a:spcBef>
                <a:spcPts val="0"/>
              </a:spcBef>
              <a:buNone/>
            </a:pP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В завершение темы необходимо отметить важный принцип: </a:t>
            </a:r>
            <a:r>
              <a:rPr lang="ru-RU" sz="25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 своей схеме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(с объектами, владельцем которых является пользователь) разрешены </a:t>
            </a:r>
            <a:r>
              <a:rPr lang="ru-RU" sz="25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любые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операции. То есть со своими таблицами, представлениями, хранимыми программами и т. п. пользователь волен делать что угодно. Если привилегий оказалось достаточно, чтобы создать объекты, то даже после отмены этих привилегий пользователь по-прежнему сможет производить любые действия с уже существующими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объектами.</a:t>
            </a:r>
          </a:p>
        </p:txBody>
      </p:sp>
    </p:spTree>
    <p:extLst>
      <p:ext uri="{BB962C8B-B14F-4D97-AF65-F5344CB8AC3E}">
        <p14:creationId xmlns:p14="http://schemas.microsoft.com/office/powerpoint/2010/main" val="9745601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BA68B7-6D10-8C89-B0E9-62B1DCD0CF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9" name="Rectangle 3">
            <a:extLst>
              <a:ext uri="{FF2B5EF4-FFF2-40B4-BE49-F238E27FC236}">
                <a16:creationId xmlns:a16="http://schemas.microsoft.com/office/drawing/2014/main" id="{CA5CF2A5-0782-1E15-DB0E-46DFA60395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2" y="546"/>
            <a:ext cx="9144000" cy="6857454"/>
          </a:xfrm>
        </p:spPr>
        <p:txBody>
          <a:bodyPr/>
          <a:lstStyle/>
          <a:p>
            <a:pPr marL="457200" lvl="1" indent="0" algn="ctr">
              <a:spcBef>
                <a:spcPts val="0"/>
              </a:spcBef>
              <a:buNone/>
              <a:tabLst>
                <a:tab pos="664845" algn="l"/>
              </a:tabLst>
            </a:pPr>
            <a:r>
              <a:rPr lang="ru-RU" sz="2500" b="1" spc="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 Предоставление</a:t>
            </a:r>
            <a:r>
              <a:rPr lang="ru-RU" sz="2500" b="1" spc="2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b="1" spc="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системных</a:t>
            </a:r>
            <a:r>
              <a:rPr lang="ru-RU" sz="2500" b="1" spc="2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b="1" spc="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привилегий</a:t>
            </a:r>
            <a:endParaRPr lang="ru-RU" sz="2500" spc="-6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 algn="just">
              <a:spcBef>
                <a:spcPts val="0"/>
              </a:spcBef>
              <a:buNone/>
            </a:pP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Системные привилегии могут быть предоставлены </a:t>
            </a:r>
            <a:r>
              <a:rPr lang="ru-RU" sz="25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сервером СУБД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двум объектам системы: пользователям (USER) и ролям (ROLE). Роль представляет собой поименованный набор привилегий. Назначение и языковые средства определения ролей будем рассматривать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позже.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Предоставление</a:t>
            </a:r>
            <a:r>
              <a:rPr lang="ru-RU" sz="2500" spc="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системных</a:t>
            </a:r>
            <a:r>
              <a:rPr lang="ru-RU" sz="2500" spc="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привилегий</a:t>
            </a:r>
            <a:r>
              <a:rPr lang="ru-RU" sz="2500" spc="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дает</a:t>
            </a:r>
            <a:r>
              <a:rPr lang="ru-RU" sz="2500" spc="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возможность</a:t>
            </a:r>
            <a:r>
              <a:rPr lang="ru-RU" sz="2500" spc="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их </a:t>
            </a:r>
            <a:r>
              <a:rPr lang="ru-RU" sz="2500" spc="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носителю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расширять множество объектов системы. </a:t>
            </a:r>
            <a:r>
              <a:rPr lang="ru-RU" sz="2500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Заметим</a:t>
            </a:r>
            <a:r>
              <a:rPr lang="ru-RU" sz="2500" u="sng" spc="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sz="2500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что </a:t>
            </a:r>
            <a:r>
              <a:rPr lang="ru-RU" sz="2500" u="sng" spc="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предоставление системных </a:t>
            </a:r>
            <a:r>
              <a:rPr lang="ru-RU" sz="2500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привилегий достаточно большому числу пользователей нецелесообразно. С позиций обеспечения безопасности бесконтрольное или плохо контролируемое увеличение объектов системы снижает защищенность и управляемость системы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Во многих случаях достаточно управления привилегиями доступа к объектам. Сами же объекты должны быть созданы проектировщиками системы либо создаваться администратором безопасности, с четким осознанием того, что </a:t>
            </a:r>
            <a:r>
              <a:rPr lang="ru-RU" sz="2500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среди большого количества объектов проще затеряться носителю</a:t>
            </a:r>
            <a:r>
              <a:rPr lang="ru-RU" sz="2500" u="sng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деструктивных</a:t>
            </a:r>
            <a:r>
              <a:rPr lang="ru-RU" sz="2500" u="sng" spc="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воздействий</a:t>
            </a:r>
            <a:r>
              <a:rPr lang="ru-RU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.(СМ эргономика)</a:t>
            </a:r>
          </a:p>
        </p:txBody>
      </p:sp>
    </p:spTree>
    <p:extLst>
      <p:ext uri="{BB962C8B-B14F-4D97-AF65-F5344CB8AC3E}">
        <p14:creationId xmlns:p14="http://schemas.microsoft.com/office/powerpoint/2010/main" val="21215717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BA23A2-7322-AE66-44D0-BD12E6CEBF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9" name="Rectangle 3">
            <a:extLst>
              <a:ext uri="{FF2B5EF4-FFF2-40B4-BE49-F238E27FC236}">
                <a16:creationId xmlns:a16="http://schemas.microsoft.com/office/drawing/2014/main" id="{920E086E-2E1A-6052-D2D7-80DD7A1E39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1"/>
            <a:ext cx="9144000" cy="6669088"/>
          </a:xfrm>
        </p:spPr>
        <p:txBody>
          <a:bodyPr/>
          <a:lstStyle/>
          <a:p>
            <a:pPr marL="0" marR="302895" indent="0" algn="just">
              <a:buNone/>
            </a:pP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 общем случае набор привилегий зависит от реализации СУБД</a:t>
            </a:r>
            <a:r>
              <a:rPr lang="ru-RU" sz="2500" spc="-7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</a:t>
            </a:r>
            <a:r>
              <a:rPr lang="ru-RU" sz="2500" spc="-7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определяется</a:t>
            </a:r>
            <a:r>
              <a:rPr lang="ru-RU" sz="2500" spc="-7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производителем.</a:t>
            </a:r>
            <a:r>
              <a:rPr lang="ru-RU" sz="2500" spc="-6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Но</a:t>
            </a:r>
            <a:r>
              <a:rPr lang="ru-RU" sz="2500" spc="-7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обычно</a:t>
            </a:r>
            <a:r>
              <a:rPr lang="ru-RU" sz="2500" spc="-7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выделяют</a:t>
            </a:r>
            <a:r>
              <a:rPr lang="ru-RU" sz="2500" spc="-7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следующие виды привилегий, указанные в таблице. Ключевое слово ALL</a:t>
            </a:r>
            <a:r>
              <a:rPr lang="ru-RU" sz="2500" spc="-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PRIVILEGES</a:t>
            </a:r>
            <a:r>
              <a:rPr lang="ru-RU" sz="2500" spc="-16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позволяет предоставить указанному пользователю все существующие привилегии без необходимости их пере</a:t>
            </a:r>
            <a:r>
              <a:rPr lang="ru-RU" sz="25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числения.</a:t>
            </a:r>
          </a:p>
          <a:p>
            <a:pPr marL="0" marR="302895" indent="0" algn="just">
              <a:buNone/>
            </a:pPr>
            <a:endParaRPr lang="ru-RU" sz="25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89BE65EB-B94D-861C-94A3-108A54F531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5201457"/>
              </p:ext>
            </p:extLst>
          </p:nvPr>
        </p:nvGraphicFramePr>
        <p:xfrm>
          <a:off x="467544" y="2364610"/>
          <a:ext cx="8208912" cy="4068757"/>
        </p:xfrm>
        <a:graphic>
          <a:graphicData uri="http://schemas.openxmlformats.org/drawingml/2006/table">
            <a:tbl>
              <a:tblPr firstRow="1" firstCol="1" lastRow="1" lastCol="1" bandRow="1" bandCol="1">
                <a:noFill/>
                <a:tableStyleId>{5C22544A-7EE6-4342-B048-85BDC9FD1C3A}</a:tableStyleId>
              </a:tblPr>
              <a:tblGrid>
                <a:gridCol w="2448272">
                  <a:extLst>
                    <a:ext uri="{9D8B030D-6E8A-4147-A177-3AD203B41FA5}">
                      <a16:colId xmlns:a16="http://schemas.microsoft.com/office/drawing/2014/main" val="1554420519"/>
                    </a:ext>
                  </a:extLst>
                </a:gridCol>
                <a:gridCol w="2808097">
                  <a:extLst>
                    <a:ext uri="{9D8B030D-6E8A-4147-A177-3AD203B41FA5}">
                      <a16:colId xmlns:a16="http://schemas.microsoft.com/office/drawing/2014/main" val="4030914781"/>
                    </a:ext>
                  </a:extLst>
                </a:gridCol>
                <a:gridCol w="2952543">
                  <a:extLst>
                    <a:ext uri="{9D8B030D-6E8A-4147-A177-3AD203B41FA5}">
                      <a16:colId xmlns:a16="http://schemas.microsoft.com/office/drawing/2014/main" val="3710615817"/>
                    </a:ext>
                  </a:extLst>
                </a:gridCol>
              </a:tblGrid>
              <a:tr h="571711"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</a:pPr>
                      <a:r>
                        <a:rPr lang="en-US" sz="2000" spc="-10" dirty="0" err="1">
                          <a:solidFill>
                            <a:schemeClr val="tx1"/>
                          </a:solidFill>
                          <a:effectLst/>
                        </a:rPr>
                        <a:t>Привилегия</a:t>
                      </a:r>
                      <a:endParaRPr lang="ru-RU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</a:pPr>
                      <a:r>
                        <a:rPr lang="en-US" sz="2000" spc="-10" dirty="0" err="1">
                          <a:solidFill>
                            <a:schemeClr val="tx1"/>
                          </a:solidFill>
                          <a:effectLst/>
                        </a:rPr>
                        <a:t>Описание</a:t>
                      </a:r>
                      <a:endParaRPr lang="ru-RU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</a:pPr>
                      <a:r>
                        <a:rPr lang="en-US" sz="2000" spc="-10">
                          <a:solidFill>
                            <a:schemeClr val="tx1"/>
                          </a:solidFill>
                          <a:effectLst/>
                        </a:rPr>
                        <a:t>Применимо</a:t>
                      </a:r>
                      <a:endParaRPr lang="ru-RU" sz="200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0" algn="ctr">
                        <a:lnSpc>
                          <a:spcPct val="100000"/>
                        </a:lnSpc>
                        <a:spcBef>
                          <a:spcPts val="230"/>
                        </a:spcBef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</a:rPr>
                        <a:t>к</a:t>
                      </a:r>
                      <a:r>
                        <a:rPr lang="en-US" sz="2000" spc="-10">
                          <a:solidFill>
                            <a:schemeClr val="tx1"/>
                          </a:solidFill>
                          <a:effectLst/>
                        </a:rPr>
                        <a:t> объектам</a:t>
                      </a:r>
                      <a:endParaRPr lang="ru-RU" sz="20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2138198"/>
                  </a:ext>
                </a:extLst>
              </a:tr>
              <a:tr h="548842"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</a:rPr>
                        <a:t>ALL</a:t>
                      </a:r>
                      <a:r>
                        <a:rPr lang="en-US" sz="2000" spc="-25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spc="-10">
                          <a:solidFill>
                            <a:schemeClr val="tx1"/>
                          </a:solidFill>
                          <a:effectLst/>
                        </a:rPr>
                        <a:t>PRIVILEGIES</a:t>
                      </a:r>
                      <a:endParaRPr lang="ru-RU" sz="20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</a:rPr>
                        <a:t>Назначить</a:t>
                      </a:r>
                      <a:r>
                        <a:rPr lang="en-US" sz="2000" spc="-2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</a:rPr>
                        <a:t>все</a:t>
                      </a:r>
                      <a:r>
                        <a:rPr lang="en-US" sz="2000" spc="-15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spc="-10">
                          <a:solidFill>
                            <a:schemeClr val="tx1"/>
                          </a:solidFill>
                          <a:effectLst/>
                        </a:rPr>
                        <a:t>привилегии</a:t>
                      </a:r>
                      <a:endParaRPr lang="ru-RU" sz="20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</a:rPr>
                        <a:t>Ко</a:t>
                      </a:r>
                      <a:r>
                        <a:rPr lang="en-US" sz="2000" spc="-5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</a:rPr>
                        <a:t>всем</a:t>
                      </a:r>
                      <a:r>
                        <a:rPr lang="en-US" sz="2000" spc="-10">
                          <a:solidFill>
                            <a:schemeClr val="tx1"/>
                          </a:solidFill>
                          <a:effectLst/>
                        </a:rPr>
                        <a:t> объектам</a:t>
                      </a:r>
                      <a:endParaRPr lang="ru-RU" sz="20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2314064"/>
                  </a:ext>
                </a:extLst>
              </a:tr>
              <a:tr h="1439378"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SELECT</a:t>
                      </a:r>
                      <a:r>
                        <a:rPr lang="en-US" sz="2000" spc="-2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|</a:t>
                      </a:r>
                      <a:r>
                        <a:rPr lang="en-US" sz="2000" spc="-15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spc="-10" dirty="0">
                          <a:solidFill>
                            <a:schemeClr val="tx1"/>
                          </a:solidFill>
                          <a:effectLst/>
                        </a:rPr>
                        <a:t>INSERT</a:t>
                      </a:r>
                      <a:endParaRPr lang="ru-RU" sz="20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0" marR="63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|</a:t>
                      </a:r>
                      <a:r>
                        <a:rPr lang="en-US" sz="2000" spc="-65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UPDATE</a:t>
                      </a:r>
                      <a:r>
                        <a:rPr lang="en-US" sz="2000" spc="-65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|</a:t>
                      </a:r>
                      <a:r>
                        <a:rPr lang="en-US" sz="2000" spc="-65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DE</a:t>
                      </a:r>
                      <a:r>
                        <a:rPr lang="en-US" sz="2000" spc="-20" dirty="0">
                          <a:solidFill>
                            <a:schemeClr val="tx1"/>
                          </a:solidFill>
                          <a:effectLst/>
                        </a:rPr>
                        <a:t>LETE</a:t>
                      </a:r>
                      <a:endParaRPr lang="ru-RU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43815" algn="ctr">
                        <a:lnSpc>
                          <a:spcPct val="100000"/>
                        </a:lnSpc>
                      </a:pPr>
                      <a:r>
                        <a:rPr lang="ru-RU" sz="2000" dirty="0">
                          <a:solidFill>
                            <a:schemeClr val="tx1"/>
                          </a:solidFill>
                          <a:effectLst/>
                        </a:rPr>
                        <a:t>Право на просмотр, вставку,</a:t>
                      </a:r>
                      <a:r>
                        <a:rPr lang="ru-RU" sz="2000" spc="-6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ru-RU" sz="2000" dirty="0">
                          <a:solidFill>
                            <a:schemeClr val="tx1"/>
                          </a:solidFill>
                          <a:effectLst/>
                        </a:rPr>
                        <a:t>редактирование</a:t>
                      </a:r>
                      <a:r>
                        <a:rPr lang="ru-RU" sz="2000" spc="-55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ru-RU" sz="2000" dirty="0">
                          <a:solidFill>
                            <a:schemeClr val="tx1"/>
                          </a:solidFill>
                          <a:effectLst/>
                        </a:rPr>
                        <a:t>и удаление данных в </a:t>
                      </a:r>
                      <a:r>
                        <a:rPr lang="ru-RU" sz="2000" dirty="0" err="1">
                          <a:solidFill>
                            <a:schemeClr val="tx1"/>
                          </a:solidFill>
                          <a:effectLst/>
                        </a:rPr>
                        <a:t>таб</a:t>
                      </a:r>
                      <a:r>
                        <a:rPr lang="ru-RU" sz="2000" dirty="0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</a:p>
                    <a:p>
                      <a:pPr marL="0" algn="ctr">
                        <a:lnSpc>
                          <a:spcPct val="100000"/>
                        </a:lnSpc>
                      </a:pP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лице</a:t>
                      </a:r>
                      <a:r>
                        <a:rPr lang="en-US" sz="2000" spc="-35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spc="-10" dirty="0">
                          <a:solidFill>
                            <a:schemeClr val="tx1"/>
                          </a:solidFill>
                          <a:effectLst/>
                        </a:rPr>
                        <a:t>(</a:t>
                      </a:r>
                      <a:r>
                        <a:rPr lang="en-US" sz="2000" spc="-10" dirty="0" err="1">
                          <a:solidFill>
                            <a:schemeClr val="tx1"/>
                          </a:solidFill>
                          <a:effectLst/>
                        </a:rPr>
                        <a:t>столбце</a:t>
                      </a:r>
                      <a:r>
                        <a:rPr lang="en-US" sz="2000" spc="-10" dirty="0">
                          <a:solidFill>
                            <a:schemeClr val="tx1"/>
                          </a:solidFill>
                          <a:effectLst/>
                        </a:rPr>
                        <a:t>)</a:t>
                      </a:r>
                      <a:endParaRPr lang="ru-RU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105410" algn="ctr">
                        <a:lnSpc>
                          <a:spcPct val="100000"/>
                        </a:lnSpc>
                      </a:pPr>
                      <a:r>
                        <a:rPr lang="ru-RU" sz="2000" dirty="0">
                          <a:solidFill>
                            <a:schemeClr val="tx1"/>
                          </a:solidFill>
                          <a:effectLst/>
                        </a:rPr>
                        <a:t>Таблицы, столбцы, представления</a:t>
                      </a:r>
                      <a:r>
                        <a:rPr lang="ru-RU" sz="2000" spc="-6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ru-RU" sz="2000" dirty="0">
                          <a:solidFill>
                            <a:schemeClr val="tx1"/>
                          </a:solidFill>
                          <a:effectLst/>
                        </a:rPr>
                        <a:t>(только </a:t>
                      </a:r>
                      <a:r>
                        <a:rPr lang="en-US" sz="2000" spc="-10" dirty="0">
                          <a:solidFill>
                            <a:schemeClr val="tx1"/>
                          </a:solidFill>
                          <a:effectLst/>
                        </a:rPr>
                        <a:t>SELECT</a:t>
                      </a:r>
                      <a:r>
                        <a:rPr lang="ru-RU" sz="2000" spc="-10" dirty="0">
                          <a:solidFill>
                            <a:schemeClr val="tx1"/>
                          </a:solidFill>
                          <a:effectLst/>
                        </a:rPr>
                        <a:t>)</a:t>
                      </a:r>
                      <a:endParaRPr lang="ru-RU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1299782"/>
                  </a:ext>
                </a:extLst>
              </a:tr>
              <a:tr h="1384779"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lang="en-US" sz="2000" spc="-10">
                          <a:solidFill>
                            <a:schemeClr val="tx1"/>
                          </a:solidFill>
                          <a:effectLst/>
                        </a:rPr>
                        <a:t>REFERENCES</a:t>
                      </a:r>
                      <a:endParaRPr lang="ru-RU" sz="20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</a:pPr>
                      <a:r>
                        <a:rPr lang="ru-RU" sz="2000" dirty="0">
                          <a:solidFill>
                            <a:schemeClr val="tx1"/>
                          </a:solidFill>
                          <a:effectLst/>
                        </a:rPr>
                        <a:t>Право</a:t>
                      </a:r>
                      <a:r>
                        <a:rPr lang="ru-RU" sz="2000" spc="-6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ru-RU" sz="2000" dirty="0">
                          <a:solidFill>
                            <a:schemeClr val="tx1"/>
                          </a:solidFill>
                          <a:effectLst/>
                        </a:rPr>
                        <a:t>управления</a:t>
                      </a:r>
                      <a:r>
                        <a:rPr lang="ru-RU" sz="2000" spc="-55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ru-RU" sz="2000" dirty="0">
                          <a:solidFill>
                            <a:schemeClr val="tx1"/>
                          </a:solidFill>
                          <a:effectLst/>
                        </a:rPr>
                        <a:t>ограничением внешнего ключа</a:t>
                      </a:r>
                      <a:endParaRPr lang="ru-RU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</a:pP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Таблицы</a:t>
                      </a:r>
                      <a:r>
                        <a:rPr lang="en-US" sz="2000" spc="-2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и</a:t>
                      </a:r>
                      <a:r>
                        <a:rPr lang="en-US" sz="2000" spc="-2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spc="-10" dirty="0" err="1">
                          <a:solidFill>
                            <a:schemeClr val="tx1"/>
                          </a:solidFill>
                          <a:effectLst/>
                        </a:rPr>
                        <a:t>столбцы</a:t>
                      </a:r>
                      <a:endParaRPr lang="ru-RU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0529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49466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5D2C08-8827-85B5-091B-5A5341855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9" name="Rectangle 3">
            <a:extLst>
              <a:ext uri="{FF2B5EF4-FFF2-40B4-BE49-F238E27FC236}">
                <a16:creationId xmlns:a16="http://schemas.microsoft.com/office/drawing/2014/main" id="{6B7324CD-5683-FB88-2884-8ACA78DE4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1"/>
            <a:ext cx="9144000" cy="6669088"/>
          </a:xfrm>
        </p:spPr>
        <p:txBody>
          <a:bodyPr/>
          <a:lstStyle/>
          <a:p>
            <a:pPr marL="0" indent="0" algn="ctr">
              <a:lnSpc>
                <a:spcPct val="115000"/>
              </a:lnSpc>
              <a:spcBef>
                <a:spcPts val="0"/>
              </a:spcBef>
              <a:buNone/>
            </a:pPr>
            <a:endParaRPr lang="ru-RU" sz="2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A99C6777-6446-ABE3-B216-BFCDDFBE42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5969634"/>
              </p:ext>
            </p:extLst>
          </p:nvPr>
        </p:nvGraphicFramePr>
        <p:xfrm>
          <a:off x="395536" y="407497"/>
          <a:ext cx="8280919" cy="4155672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2596194">
                  <a:extLst>
                    <a:ext uri="{9D8B030D-6E8A-4147-A177-3AD203B41FA5}">
                      <a16:colId xmlns:a16="http://schemas.microsoft.com/office/drawing/2014/main" val="4132200209"/>
                    </a:ext>
                  </a:extLst>
                </a:gridCol>
                <a:gridCol w="3019316">
                  <a:extLst>
                    <a:ext uri="{9D8B030D-6E8A-4147-A177-3AD203B41FA5}">
                      <a16:colId xmlns:a16="http://schemas.microsoft.com/office/drawing/2014/main" val="1151715231"/>
                    </a:ext>
                  </a:extLst>
                </a:gridCol>
                <a:gridCol w="2665409">
                  <a:extLst>
                    <a:ext uri="{9D8B030D-6E8A-4147-A177-3AD203B41FA5}">
                      <a16:colId xmlns:a16="http://schemas.microsoft.com/office/drawing/2014/main" val="3895803156"/>
                    </a:ext>
                  </a:extLst>
                </a:gridCol>
              </a:tblGrid>
              <a:tr h="1912882">
                <a:tc>
                  <a:txBody>
                    <a:bodyPr/>
                    <a:lstStyle/>
                    <a:p>
                      <a:pPr marL="6794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lang="en-US" sz="2000" spc="-10" dirty="0">
                          <a:solidFill>
                            <a:schemeClr val="tx1"/>
                          </a:solidFill>
                          <a:effectLst/>
                        </a:rPr>
                        <a:t>USAGE</a:t>
                      </a:r>
                      <a:endParaRPr lang="ru-RU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67945" algn="ctr">
                        <a:lnSpc>
                          <a:spcPct val="100000"/>
                        </a:lnSpc>
                      </a:pPr>
                      <a:r>
                        <a:rPr lang="ru-RU" sz="2000" dirty="0">
                          <a:solidFill>
                            <a:schemeClr val="tx1"/>
                          </a:solidFill>
                          <a:effectLst/>
                        </a:rPr>
                        <a:t>Дает</a:t>
                      </a:r>
                      <a:r>
                        <a:rPr lang="ru-RU" sz="2000" spc="-15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ru-RU" sz="2000" dirty="0">
                          <a:solidFill>
                            <a:schemeClr val="tx1"/>
                          </a:solidFill>
                          <a:effectLst/>
                        </a:rPr>
                        <a:t>право</a:t>
                      </a:r>
                      <a:r>
                        <a:rPr lang="ru-RU" sz="2000" spc="-5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ru-RU" sz="2000" spc="-10" dirty="0">
                          <a:solidFill>
                            <a:schemeClr val="tx1"/>
                          </a:solidFill>
                          <a:effectLst/>
                        </a:rPr>
                        <a:t>использовать</a:t>
                      </a:r>
                      <a:endParaRPr lang="ru-RU" sz="20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67945"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lang="ru-RU" sz="2000" dirty="0">
                          <a:solidFill>
                            <a:schemeClr val="tx1"/>
                          </a:solidFill>
                          <a:effectLst/>
                        </a:rPr>
                        <a:t>данный</a:t>
                      </a:r>
                      <a:r>
                        <a:rPr lang="ru-RU" sz="2000" spc="-6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ru-RU" sz="2000" dirty="0">
                          <a:solidFill>
                            <a:schemeClr val="tx1"/>
                          </a:solidFill>
                          <a:effectLst/>
                        </a:rPr>
                        <a:t>объект</a:t>
                      </a:r>
                      <a:r>
                        <a:rPr lang="ru-RU" sz="2000" spc="-55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ru-RU" sz="2000" dirty="0">
                          <a:solidFill>
                            <a:schemeClr val="tx1"/>
                          </a:solidFill>
                          <a:effectLst/>
                        </a:rPr>
                        <a:t>для</a:t>
                      </a:r>
                      <a:r>
                        <a:rPr lang="ru-RU" sz="2000" spc="-55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ru-RU" sz="2000" dirty="0">
                          <a:solidFill>
                            <a:schemeClr val="tx1"/>
                          </a:solidFill>
                          <a:effectLst/>
                        </a:rPr>
                        <a:t>определения другого объекта</a:t>
                      </a:r>
                      <a:endParaRPr lang="ru-RU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67945" marR="80645" algn="ctr">
                        <a:lnSpc>
                          <a:spcPct val="100000"/>
                        </a:lnSpc>
                      </a:pPr>
                      <a:r>
                        <a:rPr lang="ru-RU" sz="2000">
                          <a:solidFill>
                            <a:schemeClr val="tx1"/>
                          </a:solidFill>
                          <a:effectLst/>
                        </a:rPr>
                        <a:t>Домены,</a:t>
                      </a:r>
                      <a:r>
                        <a:rPr lang="ru-RU" sz="2000" spc="-6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ru-RU" sz="2000">
                          <a:solidFill>
                            <a:schemeClr val="tx1"/>
                          </a:solidFill>
                          <a:effectLst/>
                        </a:rPr>
                        <a:t>пользователь- ские типы данных,</a:t>
                      </a:r>
                    </a:p>
                    <a:p>
                      <a:pPr marL="67945" algn="ctr">
                        <a:lnSpc>
                          <a:spcPct val="100000"/>
                        </a:lnSpc>
                      </a:pPr>
                      <a:r>
                        <a:rPr lang="ru-RU" sz="2000">
                          <a:solidFill>
                            <a:schemeClr val="tx1"/>
                          </a:solidFill>
                          <a:effectLst/>
                        </a:rPr>
                        <a:t>наборы</a:t>
                      </a:r>
                      <a:r>
                        <a:rPr lang="ru-RU" sz="2000" spc="-2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ru-RU" sz="2000">
                          <a:solidFill>
                            <a:schemeClr val="tx1"/>
                          </a:solidFill>
                          <a:effectLst/>
                        </a:rPr>
                        <a:t>символов,</a:t>
                      </a:r>
                      <a:r>
                        <a:rPr lang="ru-RU" sz="2000" spc="-15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ru-RU" sz="2000" spc="-25">
                          <a:solidFill>
                            <a:schemeClr val="tx1"/>
                          </a:solidFill>
                          <a:effectLst/>
                        </a:rPr>
                        <a:t>по-</a:t>
                      </a:r>
                      <a:endParaRPr lang="ru-RU" sz="200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67945"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lang="ru-RU" sz="2000">
                          <a:solidFill>
                            <a:schemeClr val="tx1"/>
                          </a:solidFill>
                          <a:effectLst/>
                        </a:rPr>
                        <a:t>рядки</a:t>
                      </a:r>
                      <a:r>
                        <a:rPr lang="ru-RU" sz="2000" spc="-6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ru-RU" sz="2000">
                          <a:solidFill>
                            <a:schemeClr val="tx1"/>
                          </a:solidFill>
                          <a:effectLst/>
                        </a:rPr>
                        <a:t>сравнения</a:t>
                      </a:r>
                      <a:r>
                        <a:rPr lang="ru-RU" sz="2000" spc="-55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ru-RU" sz="2000">
                          <a:solidFill>
                            <a:schemeClr val="tx1"/>
                          </a:solidFill>
                          <a:effectLst/>
                        </a:rPr>
                        <a:t>и</a:t>
                      </a:r>
                      <a:r>
                        <a:rPr lang="ru-RU" sz="2000" spc="-55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ru-RU" sz="2000">
                          <a:solidFill>
                            <a:schemeClr val="tx1"/>
                          </a:solidFill>
                          <a:effectLst/>
                        </a:rPr>
                        <a:t>сор- тировки, трансляции</a:t>
                      </a:r>
                      <a:endParaRPr lang="ru-RU" sz="20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4503193"/>
                  </a:ext>
                </a:extLst>
              </a:tr>
              <a:tr h="664195">
                <a:tc>
                  <a:txBody>
                    <a:bodyPr/>
                    <a:lstStyle/>
                    <a:p>
                      <a:pPr marL="6794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lang="en-US" sz="2000" spc="-10">
                          <a:solidFill>
                            <a:schemeClr val="tx1"/>
                          </a:solidFill>
                          <a:effectLst/>
                        </a:rPr>
                        <a:t>UNDER</a:t>
                      </a:r>
                      <a:endParaRPr lang="ru-RU" sz="20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67945" algn="ctr">
                        <a:lnSpc>
                          <a:spcPct val="100000"/>
                        </a:lnSpc>
                      </a:pPr>
                      <a:r>
                        <a:rPr lang="ru-RU" sz="2000" dirty="0">
                          <a:solidFill>
                            <a:schemeClr val="tx1"/>
                          </a:solidFill>
                          <a:effectLst/>
                        </a:rPr>
                        <a:t>Право</a:t>
                      </a:r>
                      <a:r>
                        <a:rPr lang="ru-RU" sz="2000" spc="-1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ru-RU" sz="2000" dirty="0">
                          <a:solidFill>
                            <a:schemeClr val="tx1"/>
                          </a:solidFill>
                          <a:effectLst/>
                        </a:rPr>
                        <a:t>на</a:t>
                      </a:r>
                      <a:r>
                        <a:rPr lang="ru-RU" sz="2000" spc="-15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ru-RU" sz="2000" dirty="0">
                          <a:solidFill>
                            <a:schemeClr val="tx1"/>
                          </a:solidFill>
                          <a:effectLst/>
                        </a:rPr>
                        <a:t>создание</a:t>
                      </a:r>
                      <a:r>
                        <a:rPr lang="ru-RU" sz="2000" spc="-10" dirty="0">
                          <a:solidFill>
                            <a:schemeClr val="tx1"/>
                          </a:solidFill>
                          <a:effectLst/>
                        </a:rPr>
                        <a:t> подти</a:t>
                      </a:r>
                      <a:r>
                        <a:rPr lang="ru-RU" sz="2000" dirty="0">
                          <a:solidFill>
                            <a:schemeClr val="tx1"/>
                          </a:solidFill>
                          <a:effectLst/>
                        </a:rPr>
                        <a:t>пов</a:t>
                      </a:r>
                      <a:r>
                        <a:rPr lang="ru-RU" sz="2000" spc="-15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ru-RU" sz="2000" dirty="0">
                          <a:solidFill>
                            <a:schemeClr val="tx1"/>
                          </a:solidFill>
                          <a:effectLst/>
                        </a:rPr>
                        <a:t>или</a:t>
                      </a:r>
                      <a:r>
                        <a:rPr lang="ru-RU" sz="2000" spc="-15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ru-RU" sz="2000" dirty="0">
                          <a:solidFill>
                            <a:schemeClr val="tx1"/>
                          </a:solidFill>
                          <a:effectLst/>
                        </a:rPr>
                        <a:t>объектных</a:t>
                      </a:r>
                      <a:r>
                        <a:rPr lang="ru-RU" sz="2000" spc="-10" dirty="0">
                          <a:solidFill>
                            <a:schemeClr val="tx1"/>
                          </a:solidFill>
                          <a:effectLst/>
                        </a:rPr>
                        <a:t> таблиц</a:t>
                      </a:r>
                      <a:endParaRPr lang="ru-RU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67945" algn="ctr">
                        <a:lnSpc>
                          <a:spcPct val="100000"/>
                        </a:lnSpc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</a:rPr>
                        <a:t>Структурные</a:t>
                      </a:r>
                      <a:r>
                        <a:rPr lang="en-US" sz="2000" spc="-35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spc="-20">
                          <a:solidFill>
                            <a:schemeClr val="tx1"/>
                          </a:solidFill>
                          <a:effectLst/>
                        </a:rPr>
                        <a:t>типы</a:t>
                      </a:r>
                      <a:endParaRPr lang="ru-RU" sz="20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218646"/>
                  </a:ext>
                </a:extLst>
              </a:tr>
              <a:tr h="664195">
                <a:tc>
                  <a:txBody>
                    <a:bodyPr/>
                    <a:lstStyle/>
                    <a:p>
                      <a:pPr marL="6794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lang="en-US" sz="2000" spc="-10">
                          <a:solidFill>
                            <a:schemeClr val="tx1"/>
                          </a:solidFill>
                          <a:effectLst/>
                        </a:rPr>
                        <a:t>TRIGGER</a:t>
                      </a:r>
                      <a:endParaRPr lang="ru-RU" sz="20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67945" algn="ctr">
                        <a:lnSpc>
                          <a:spcPct val="100000"/>
                        </a:lnSpc>
                      </a:pPr>
                      <a:r>
                        <a:rPr lang="ru-RU" sz="2000" dirty="0">
                          <a:solidFill>
                            <a:schemeClr val="tx1"/>
                          </a:solidFill>
                          <a:effectLst/>
                        </a:rPr>
                        <a:t>Право</a:t>
                      </a:r>
                      <a:r>
                        <a:rPr lang="ru-RU" sz="2000" spc="-2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ru-RU" sz="2000" dirty="0">
                          <a:solidFill>
                            <a:schemeClr val="tx1"/>
                          </a:solidFill>
                          <a:effectLst/>
                        </a:rPr>
                        <a:t>на</a:t>
                      </a:r>
                      <a:r>
                        <a:rPr lang="ru-RU" sz="2000" spc="-15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ru-RU" sz="2000" dirty="0">
                          <a:solidFill>
                            <a:schemeClr val="tx1"/>
                          </a:solidFill>
                          <a:effectLst/>
                        </a:rPr>
                        <a:t>создание</a:t>
                      </a:r>
                      <a:r>
                        <a:rPr lang="ru-RU" sz="2000" spc="-1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ru-RU" sz="2000" spc="-20" dirty="0">
                          <a:solidFill>
                            <a:schemeClr val="tx1"/>
                          </a:solidFill>
                          <a:effectLst/>
                        </a:rPr>
                        <a:t>триггера</a:t>
                      </a:r>
                      <a:endParaRPr lang="ru-RU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67945" algn="ctr">
                        <a:lnSpc>
                          <a:spcPct val="100000"/>
                        </a:lnSpc>
                      </a:pPr>
                      <a:r>
                        <a:rPr lang="en-US" sz="2000" spc="-10" dirty="0" err="1">
                          <a:solidFill>
                            <a:schemeClr val="tx1"/>
                          </a:solidFill>
                          <a:effectLst/>
                        </a:rPr>
                        <a:t>Таблицы</a:t>
                      </a:r>
                      <a:endParaRPr lang="ru-RU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3462004"/>
                  </a:ext>
                </a:extLst>
              </a:tr>
              <a:tr h="664195">
                <a:tc>
                  <a:txBody>
                    <a:bodyPr/>
                    <a:lstStyle/>
                    <a:p>
                      <a:pPr marL="67945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lang="en-US" sz="2000" spc="-10">
                          <a:solidFill>
                            <a:schemeClr val="tx1"/>
                          </a:solidFill>
                          <a:effectLst/>
                        </a:rPr>
                        <a:t>EXECUTE</a:t>
                      </a:r>
                      <a:endParaRPr lang="ru-RU" sz="20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67945" algn="ctr">
                        <a:lnSpc>
                          <a:spcPct val="100000"/>
                        </a:lnSpc>
                      </a:pP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Запуск</a:t>
                      </a:r>
                      <a:r>
                        <a:rPr lang="en-US" sz="2000" spc="-2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на</a:t>
                      </a:r>
                      <a:r>
                        <a:rPr lang="en-US" sz="2000" spc="-5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spc="-10" dirty="0" err="1">
                          <a:solidFill>
                            <a:schemeClr val="tx1"/>
                          </a:solidFill>
                          <a:effectLst/>
                        </a:rPr>
                        <a:t>выполнение</a:t>
                      </a:r>
                      <a:endParaRPr lang="ru-RU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67945" algn="ctr">
                        <a:lnSpc>
                          <a:spcPct val="100000"/>
                        </a:lnSpc>
                      </a:pP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</a:rPr>
                        <a:t>Хранимые</a:t>
                      </a:r>
                      <a:r>
                        <a:rPr lang="en-US" sz="2000" spc="-25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spc="-10" dirty="0" err="1">
                          <a:solidFill>
                            <a:schemeClr val="tx1"/>
                          </a:solidFill>
                          <a:effectLst/>
                        </a:rPr>
                        <a:t>процедуры</a:t>
                      </a:r>
                      <a:endParaRPr lang="ru-RU" sz="20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67945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и</a:t>
                      </a:r>
                      <a:r>
                        <a:rPr lang="en-US" sz="2000" spc="-5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spc="-10" dirty="0" err="1">
                          <a:solidFill>
                            <a:schemeClr val="tx1"/>
                          </a:solidFill>
                          <a:effectLst/>
                        </a:rPr>
                        <a:t>функции</a:t>
                      </a:r>
                      <a:endParaRPr lang="ru-RU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25362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24899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44A84-623A-30BD-EF7B-40A2F5F92B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9" name="Rectangle 3">
            <a:extLst>
              <a:ext uri="{FF2B5EF4-FFF2-40B4-BE49-F238E27FC236}">
                <a16:creationId xmlns:a16="http://schemas.microsoft.com/office/drawing/2014/main" id="{1C4F3986-AD18-98B4-B0AF-4BE42BB1C6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1"/>
            <a:ext cx="9144000" cy="6669088"/>
          </a:xfrm>
        </p:spPr>
        <p:txBody>
          <a:bodyPr/>
          <a:lstStyle/>
          <a:p>
            <a:pPr marL="0" indent="0" algn="just">
              <a:spcBef>
                <a:spcPts val="0"/>
              </a:spcBef>
              <a:buNone/>
            </a:pPr>
            <a:r>
              <a:rPr lang="ru-RU" sz="25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	Еще одним ш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ироко используемым, простым и</a:t>
            </a:r>
            <a:r>
              <a:rPr lang="ru-RU" sz="25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эффективным способом разграничения доступа является</a:t>
            </a:r>
            <a:r>
              <a:rPr lang="ru-RU" sz="25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использование </a:t>
            </a:r>
            <a:r>
              <a:rPr lang="ru-RU" sz="2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представлени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й (</a:t>
            </a:r>
            <a:r>
              <a:rPr lang="ru-RU" sz="25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view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). 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ru-RU" sz="25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</a:t>
            </a:r>
            <a:r>
              <a:rPr lang="ru-RU" sz="25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Представление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-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это динамически поддерживаемая сервером выборка из одной или нескольких таблиц.(</a:t>
            </a:r>
            <a:r>
              <a:rPr lang="ru-RU" sz="2200" b="0" i="0" dirty="0">
                <a:solidFill>
                  <a:srgbClr val="222222"/>
                </a:solidFill>
                <a:effectLst/>
                <a:latin typeface="Helvetica" panose="020B0604020202020204" pitchFamily="34" charset="0"/>
              </a:rPr>
              <a:t>можно рассматривать как виртуальную таблицу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 Оператор SELECT, определяющий выборку,</a:t>
            </a:r>
            <a:r>
              <a:rPr lang="ru-RU" sz="2500" spc="-6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ограничивает</a:t>
            </a:r>
            <a:r>
              <a:rPr lang="ru-RU" sz="25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видимые пользователем</a:t>
            </a:r>
            <a:r>
              <a:rPr lang="ru-RU" sz="2500" spc="-7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данные.</a:t>
            </a:r>
            <a:r>
              <a:rPr lang="ru-RU" sz="2500" spc="-6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Кроме</a:t>
            </a:r>
            <a:r>
              <a:rPr lang="ru-RU" sz="2500" spc="-6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того,</a:t>
            </a:r>
            <a:r>
              <a:rPr lang="ru-RU" sz="2500" spc="-6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представление</a:t>
            </a:r>
            <a:r>
              <a:rPr lang="ru-RU" sz="2500" spc="-5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позволяет</a:t>
            </a:r>
            <a:r>
              <a:rPr lang="ru-RU" sz="2500" spc="-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эффективно ограничить</a:t>
            </a:r>
            <a:r>
              <a:rPr lang="ru-RU" sz="2500" spc="-8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данные,</a:t>
            </a:r>
            <a:r>
              <a:rPr lang="ru-RU" sz="2500" spc="-7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которые</a:t>
            </a:r>
            <a:r>
              <a:rPr lang="ru-RU" sz="2500" spc="-6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пользователь</a:t>
            </a:r>
            <a:r>
              <a:rPr lang="ru-RU" sz="2500" spc="-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может</a:t>
            </a:r>
            <a:r>
              <a:rPr lang="ru-RU" sz="2500" spc="-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модифицировать.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ru-RU" sz="25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Сервер гарантирует актуальность представления, т.е. формирование представления (подстановка соответствующего запроса) </a:t>
            </a:r>
            <a:r>
              <a:rPr lang="ru-RU" sz="2500" spc="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производится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каждый раз при </a:t>
            </a:r>
            <a:r>
              <a:rPr lang="ru-RU" sz="2500" spc="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обращении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 нему.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Используя представления, администратор безопасности ограничивает доступную пользователю часть базы данных только теми данными, которые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реально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необходимы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для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выполнения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его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работы.</a:t>
            </a:r>
          </a:p>
          <a:p>
            <a:pPr marL="88900" marR="43180" indent="0" algn="just">
              <a:lnSpc>
                <a:spcPct val="115000"/>
              </a:lnSpc>
              <a:spcBef>
                <a:spcPts val="90"/>
              </a:spcBef>
              <a:spcAft>
                <a:spcPts val="0"/>
              </a:spcAft>
              <a:buNone/>
            </a:pP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07223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34DF80-5A95-1A67-50C8-898022E21A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9" name="Rectangle 3">
            <a:extLst>
              <a:ext uri="{FF2B5EF4-FFF2-40B4-BE49-F238E27FC236}">
                <a16:creationId xmlns:a16="http://schemas.microsoft.com/office/drawing/2014/main" id="{E1279FE0-10FB-BD43-E8A7-C3C5640747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1"/>
            <a:ext cx="9144000" cy="6669088"/>
          </a:xfrm>
        </p:spPr>
        <p:txBody>
          <a:bodyPr/>
          <a:lstStyle/>
          <a:p>
            <a:pPr marL="0" marR="300355" lvl="0" indent="342900" algn="just">
              <a:buSzPts val="1100"/>
              <a:buFont typeface="Symbol" panose="05050102010706020507" pitchFamily="18" charset="2"/>
              <a:buChar char=""/>
              <a:tabLst>
                <a:tab pos="558165" algn="l"/>
              </a:tabLst>
            </a:pPr>
            <a:r>
              <a:rPr lang="ru-RU" sz="25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Наличие такого объекта, как представление, позволяет администратору делать действие привилегий более избирательным. Создавая представление, которое на основе одной или нескольких таблиц базы данных формирует набор строк и столбцов, реально необходимых пользователю для работы, администратор безопасности определяет необходимые привилегии на представление. </a:t>
            </a:r>
          </a:p>
          <a:p>
            <a:pPr marL="0" indent="0" algn="just">
              <a:buNone/>
            </a:pPr>
            <a:r>
              <a:rPr lang="ru-RU" sz="2500" kern="0" dirty="0">
                <a:latin typeface="Times New Roman" panose="02020603050405020304" pitchFamily="18" charset="0"/>
              </a:rPr>
              <a:t>  Чтобы конструктивно работать с представлением, пользователь должен иметь привилегию SELECT для всех таблиц, которые участвуют в запросе, формирующем данные представления.</a:t>
            </a:r>
          </a:p>
          <a:p>
            <a:pPr marL="0" indent="0" algn="just">
              <a:buNone/>
            </a:pPr>
            <a:r>
              <a:rPr lang="ru-RU" sz="2500" kern="0" dirty="0">
                <a:latin typeface="Times New Roman" panose="02020603050405020304" pitchFamily="18" charset="0"/>
              </a:rPr>
              <a:t>    Поэтому данная привилегия наследуется представлением для пользователя, который его создает. Если пользователь обладает любой комбинацией привилегий INSERT, UPDATE, DELETE для базовых таблиц, они также будут автоматически наследоваться представлением. В то же время пользователь, не имеющий привилегий на модификацию строк базовых таблиц, не может получить соответствующие привилегии в представлении. </a:t>
            </a:r>
            <a:endParaRPr lang="ru-RU" sz="2600" i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47047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C8FB95-DA78-0A6D-2975-ED0628600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9" name="Rectangle 3">
            <a:extLst>
              <a:ext uri="{FF2B5EF4-FFF2-40B4-BE49-F238E27FC236}">
                <a16:creationId xmlns:a16="http://schemas.microsoft.com/office/drawing/2014/main" id="{93E7FDE3-FA77-61EE-37DE-0F671866EC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1"/>
            <a:ext cx="9144000" cy="6669088"/>
          </a:xfrm>
        </p:spPr>
        <p:txBody>
          <a:bodyPr/>
          <a:lstStyle/>
          <a:p>
            <a:pPr marL="0" indent="0" algn="just">
              <a:buNone/>
            </a:pPr>
            <a:r>
              <a:rPr lang="ru-RU" sz="2500" kern="0" dirty="0">
                <a:latin typeface="Times New Roman" panose="02020603050405020304" pitchFamily="18" charset="0"/>
              </a:rPr>
              <a:t>   С позиций разграничения доступа часто целесообразно предоставить пользователю не первичную, а производную информацию, строящуюся на основе информации из базовых таблиц. Для реализации такого полхода также используют представления.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Представление в </a:t>
            </a:r>
            <a:r>
              <a:rPr lang="ru-RU" sz="25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PostgreSQL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удовлетворяет всем упомянутым характеристикам и может быть создано с помощью синтаксиса:</a:t>
            </a:r>
            <a:b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endParaRPr lang="ru-RU" sz="25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22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CREATE [TEMP | TEMPORARY] VIEW </a:t>
            </a:r>
            <a:r>
              <a:rPr lang="ru-RU" sz="22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имя</a:t>
            </a:r>
            <a:r>
              <a:rPr lang="en-US" sz="22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_</a:t>
            </a:r>
            <a:r>
              <a:rPr lang="ru-RU" sz="22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представления </a:t>
            </a:r>
            <a:r>
              <a:rPr lang="en-US" sz="22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AS</a:t>
            </a:r>
            <a:endParaRPr lang="ru-RU" sz="2200" i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22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SELECT </a:t>
            </a:r>
            <a:r>
              <a:rPr lang="ru-RU" sz="22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столбец</a:t>
            </a:r>
            <a:r>
              <a:rPr lang="en-US" sz="22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1, </a:t>
            </a:r>
            <a:r>
              <a:rPr lang="ru-RU" sz="22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столбец</a:t>
            </a:r>
            <a:r>
              <a:rPr lang="en-US" sz="22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2.....</a:t>
            </a:r>
            <a:endParaRPr lang="ru-RU" sz="2200" i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22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FROM </a:t>
            </a:r>
            <a:r>
              <a:rPr lang="ru-RU" sz="22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имя</a:t>
            </a:r>
            <a:r>
              <a:rPr lang="en-US" sz="22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_</a:t>
            </a:r>
            <a:r>
              <a:rPr lang="ru-RU" sz="22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таблицы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22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WHERE [условие];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Здесь имя представления указывается после ключевых слов 'CREATE VIEW', после чего следуют требуемые столбцы из таблицы, а затем условие WHERE. Ключевое слово '</a:t>
            </a:r>
            <a:r>
              <a:rPr lang="ru-RU" sz="25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Temp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/</a:t>
            </a:r>
            <a:r>
              <a:rPr lang="ru-RU" sz="25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Temporary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' не является обязательным и задается, если создается вр</a:t>
            </a:r>
            <a:r>
              <a:rPr lang="ru-RU" sz="2500" b="1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е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менное представление. Вр</a:t>
            </a:r>
            <a:r>
              <a:rPr lang="ru-RU" sz="2500" b="1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е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менное представление прекращает существование в конце текущего сеанса.</a:t>
            </a:r>
          </a:p>
          <a:p>
            <a:pPr marL="0" indent="0" algn="just">
              <a:buNone/>
            </a:pPr>
            <a:endParaRPr lang="ru-RU" sz="2500" kern="0" dirty="0">
              <a:latin typeface="Times New Roman" panose="02020603050405020304" pitchFamily="18" charset="0"/>
            </a:endParaRPr>
          </a:p>
          <a:p>
            <a:pPr marL="88900" marR="43180" indent="259080" algn="just">
              <a:lnSpc>
                <a:spcPct val="115000"/>
              </a:lnSpc>
              <a:spcBef>
                <a:spcPts val="90"/>
              </a:spcBef>
              <a:spcAft>
                <a:spcPts val="0"/>
              </a:spcAft>
            </a:pP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66996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80F29617-2413-D7C0-D9BD-CE29C8F7E8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12" y="0"/>
            <a:ext cx="8784976" cy="6858000"/>
          </a:xfrm>
        </p:spPr>
        <p:txBody>
          <a:bodyPr/>
          <a:lstStyle/>
          <a:p>
            <a:pPr marL="0" indent="0" algn="just">
              <a:lnSpc>
                <a:spcPct val="115000"/>
              </a:lnSpc>
              <a:spcBef>
                <a:spcPts val="0"/>
              </a:spcBef>
              <a:buNone/>
              <a:tabLst>
                <a:tab pos="779780" algn="l"/>
              </a:tabLst>
            </a:pPr>
            <a:r>
              <a:rPr lang="ru-RU" sz="1800" i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sz="1800" i="1" kern="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DB91F4-5503-8032-9B35-772EB281BA30}"/>
              </a:ext>
            </a:extLst>
          </p:cNvPr>
          <p:cNvSpPr txBox="1"/>
          <p:nvPr/>
        </p:nvSpPr>
        <p:spPr>
          <a:xfrm>
            <a:off x="0" y="0"/>
            <a:ext cx="9144000" cy="66325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Еще один мощный и гибкий способ ограничить множество потенциально </a:t>
            </a:r>
            <a:r>
              <a:rPr lang="ru-RU" sz="25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деструктивных</a:t>
            </a:r>
            <a:r>
              <a:rPr lang="ru-RU" sz="2500" spc="-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действий,</a:t>
            </a:r>
            <a:r>
              <a:rPr lang="ru-RU" sz="2500" spc="-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которые</a:t>
            </a:r>
            <a:r>
              <a:rPr lang="ru-RU" sz="2500" spc="-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пользователь</a:t>
            </a:r>
            <a:r>
              <a:rPr lang="ru-RU" sz="2500" spc="-5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может</a:t>
            </a:r>
            <a:r>
              <a:rPr lang="ru-RU" sz="2500" spc="-5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производить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 базой данных дают </a:t>
            </a:r>
            <a:r>
              <a:rPr lang="ru-RU" sz="2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хранимые процедуры и функции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СУБД. </a:t>
            </a:r>
          </a:p>
          <a:p>
            <a:pPr algn="just"/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</a:t>
            </a:r>
            <a:r>
              <a:rPr lang="ru-RU" sz="2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Хранимая</a:t>
            </a:r>
            <a:r>
              <a:rPr lang="ru-RU" sz="2500" spc="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процедура или функция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- это множество объединенных общим замыслом предложений языка SQL, которые хранятся</a:t>
            </a:r>
            <a:r>
              <a:rPr lang="ru-RU" sz="2500" spc="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на</a:t>
            </a:r>
            <a:r>
              <a:rPr lang="ru-RU" sz="2500" spc="-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сервере</a:t>
            </a:r>
            <a:r>
              <a:rPr lang="ru-RU" sz="2500" spc="-5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</a:t>
            </a:r>
            <a:r>
              <a:rPr lang="ru-RU" sz="2500" spc="-7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откомпилированной</a:t>
            </a:r>
            <a:r>
              <a:rPr lang="ru-RU" sz="2500" spc="-6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форме и</a:t>
            </a:r>
            <a:r>
              <a:rPr lang="ru-RU" sz="25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исполняются по</a:t>
            </a:r>
            <a:r>
              <a:rPr lang="ru-RU" sz="2500" spc="-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запросу клиентского предложения.</a:t>
            </a:r>
            <a:r>
              <a:rPr lang="ru-RU" sz="2500" spc="-6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Процедуры или</a:t>
            </a:r>
            <a:r>
              <a:rPr lang="ru-RU" sz="2500" spc="-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функции создаются для выполнения некоторой конкретной работы пользователем. При этом пользователю достаточно предоставить привилегию на</a:t>
            </a:r>
            <a:r>
              <a:rPr lang="ru-RU" sz="25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исполнение</a:t>
            </a:r>
            <a:r>
              <a:rPr lang="ru-RU" sz="2500" spc="-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процедуры</a:t>
            </a:r>
            <a:r>
              <a:rPr lang="ru-RU" sz="2500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созданной</a:t>
            </a:r>
            <a:r>
              <a:rPr lang="ru-RU" sz="2500" spc="-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для</a:t>
            </a:r>
            <a:r>
              <a:rPr lang="ru-RU" sz="25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поддержки его</a:t>
            </a:r>
            <a:r>
              <a:rPr lang="ru-RU" sz="2500" spc="-7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деятельности.</a:t>
            </a:r>
            <a:r>
              <a:rPr lang="ru-RU" sz="2500" spc="-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Важным</a:t>
            </a:r>
            <a:r>
              <a:rPr lang="ru-RU" sz="2500" u="sng" spc="-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факторам</a:t>
            </a:r>
            <a:r>
              <a:rPr lang="ru-RU" sz="2500" u="sng" spc="6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является то,</a:t>
            </a:r>
            <a:r>
              <a:rPr lang="ru-RU" sz="2500" u="sng" spc="-7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что</a:t>
            </a:r>
            <a:r>
              <a:rPr lang="ru-RU" sz="2500" u="sng" spc="-5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пользователю не требуется</a:t>
            </a:r>
            <a:r>
              <a:rPr lang="ru-RU" sz="2500" u="sng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предоставления прав доступа к данным, обрабатываемым процедурой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Наличие такого механизма позволяет </a:t>
            </a:r>
            <a:r>
              <a:rPr lang="ru-RU" sz="25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исключить</a:t>
            </a:r>
            <a:r>
              <a:rPr lang="ru-RU" sz="2500" spc="-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обработку</a:t>
            </a:r>
            <a:r>
              <a:rPr lang="ru-RU" sz="2500" spc="-5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данных</a:t>
            </a:r>
            <a:r>
              <a:rPr lang="ru-RU" sz="2500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пользователем,</a:t>
            </a:r>
            <a:r>
              <a:rPr lang="ru-RU" sz="2500" spc="-5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не предусмотренную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разработчиком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системы или администратором безопасности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525313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9" name="Rectangle 3"/>
          <p:cNvSpPr>
            <a:spLocks noGrp="1"/>
          </p:cNvSpPr>
          <p:nvPr>
            <p:ph type="body" idx="1"/>
          </p:nvPr>
        </p:nvSpPr>
        <p:spPr>
          <a:xfrm>
            <a:off x="0" y="116632"/>
            <a:ext cx="9144000" cy="6741368"/>
          </a:xfrm>
        </p:spPr>
        <p:txBody>
          <a:bodyPr/>
          <a:lstStyle/>
          <a:p>
            <a:pPr marL="0" indent="0" algn="just">
              <a:spcBef>
                <a:spcPts val="0"/>
              </a:spcBef>
              <a:buNone/>
            </a:pP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По аналогии с привилегиями, используемыми для работы с </a:t>
            </a:r>
            <a:r>
              <a:rPr lang="ru-RU" sz="25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процедурами,</a:t>
            </a:r>
            <a:r>
              <a:rPr lang="ru-RU" sz="2500" spc="-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функциями</a:t>
            </a:r>
            <a:r>
              <a:rPr lang="ru-RU" sz="25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</a:t>
            </a:r>
            <a:r>
              <a:rPr lang="ru-RU" sz="2500" spc="-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пакетами,</a:t>
            </a:r>
            <a:r>
              <a:rPr lang="ru-RU" sz="2500" spc="-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построены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</a:t>
            </a:r>
            <a:r>
              <a:rPr lang="ru-RU" sz="2500" spc="-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привилегии</a:t>
            </a:r>
            <a:r>
              <a:rPr lang="ru-RU" sz="25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предусмотренные для работы </a:t>
            </a:r>
            <a:r>
              <a:rPr lang="ru-RU" sz="2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с триггерами</a:t>
            </a:r>
            <a:r>
              <a:rPr lang="ru-RU" sz="2500" spc="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базы данных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ru-RU" sz="2500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Триггер</a:t>
            </a:r>
            <a:r>
              <a:rPr lang="ru-RU" sz="25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-</a:t>
            </a:r>
            <a:r>
              <a:rPr lang="ru-RU" sz="2500" kern="0" spc="-7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</a:t>
            </a:r>
            <a:r>
              <a:rPr lang="ru-RU" sz="25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это</a:t>
            </a:r>
            <a:r>
              <a:rPr lang="ru-RU" sz="2500" kern="0" spc="-7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совокупность</a:t>
            </a:r>
            <a:r>
              <a:rPr lang="ru-RU" sz="2500" kern="0" spc="-7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пр</a:t>
            </a:r>
            <a:r>
              <a:rPr lang="ru-RU" sz="25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едложений</a:t>
            </a:r>
            <a:r>
              <a:rPr lang="ru-RU" sz="2500" kern="0" spc="-7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языка</a:t>
            </a:r>
            <a:r>
              <a:rPr lang="ru-RU" sz="2500" kern="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SQ</a:t>
            </a:r>
            <a:r>
              <a:rPr lang="ru-RU" sz="2500" kern="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</a:t>
            </a:r>
            <a:r>
              <a:rPr lang="ru-RU" sz="25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</a:t>
            </a:r>
            <a:r>
              <a:rPr lang="ru-RU" sz="2500" kern="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kern="0" spc="-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автоматически</a:t>
            </a:r>
            <a:r>
              <a:rPr lang="ru-RU" sz="2500" kern="0" spc="-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kern="0" spc="-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запускаемая</a:t>
            </a:r>
            <a:r>
              <a:rPr lang="ru-RU" sz="2500" kern="0" spc="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kern="0" spc="-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при</a:t>
            </a:r>
            <a:r>
              <a:rPr lang="ru-RU" sz="25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kern="0" spc="-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регистрации</a:t>
            </a:r>
            <a:r>
              <a:rPr lang="ru-RU" sz="25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kern="0" spc="-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сервером</a:t>
            </a:r>
            <a:r>
              <a:rPr lang="ru-RU" sz="2500" kern="0" spc="-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kern="0" spc="-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опреде</a:t>
            </a:r>
            <a:r>
              <a:rPr lang="ru-RU" sz="2500" kern="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ленных</a:t>
            </a:r>
            <a:r>
              <a:rPr lang="ru-RU" sz="2500" kern="0" spc="-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kern="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событий</a:t>
            </a:r>
            <a:r>
              <a:rPr lang="ru-RU" sz="2500" kern="0" spc="-6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kern="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</a:t>
            </a:r>
            <a:r>
              <a:rPr lang="ru-RU" sz="2500" kern="0" spc="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kern="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системе.</a:t>
            </a:r>
            <a:r>
              <a:rPr lang="ru-RU" sz="2500" kern="0" spc="-6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kern="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Триггеры</a:t>
            </a:r>
            <a:r>
              <a:rPr lang="ru-RU" sz="2500" kern="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kern="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выполняются</a:t>
            </a:r>
            <a:r>
              <a:rPr lang="ru-RU" sz="2500" kern="0" spc="-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kern="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системой авт</a:t>
            </a:r>
            <a:r>
              <a:rPr lang="ru-RU" sz="2500" kern="0" spc="-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оматически</a:t>
            </a:r>
            <a:r>
              <a:rPr lang="ru-RU" sz="2500" kern="0" spc="-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kern="0" spc="-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до</a:t>
            </a:r>
            <a:r>
              <a:rPr lang="ru-RU" sz="2500" kern="0" spc="-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kern="0" spc="-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или</a:t>
            </a:r>
            <a:r>
              <a:rPr lang="ru-RU" sz="2500" kern="0" spc="-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kern="0" spc="-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после</a:t>
            </a:r>
            <a:r>
              <a:rPr lang="ru-RU" sz="2500" kern="0" spc="-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kern="0" spc="-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возникновения</a:t>
            </a:r>
            <a:r>
              <a:rPr lang="ru-RU" sz="2500" kern="0" spc="-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kern="0" spc="-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предопределенных </a:t>
            </a:r>
            <a:r>
              <a:rPr lang="ru-RU" sz="2500" kern="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событий,</a:t>
            </a:r>
            <a:r>
              <a:rPr lang="ru-RU" sz="2500" kern="0" spc="-6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kern="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таких,</a:t>
            </a:r>
            <a:r>
              <a:rPr lang="ru-RU" sz="2500" kern="0" spc="-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kern="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как</a:t>
            </a:r>
            <a:r>
              <a:rPr lang="ru-RU" sz="2500" kern="0" spc="-6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kern="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выполнения</a:t>
            </a:r>
            <a:r>
              <a:rPr lang="ru-RU" sz="2500" kern="0" spc="-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kern="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операций</a:t>
            </a:r>
            <a:r>
              <a:rPr lang="ru-RU" sz="2500" kern="0" spc="-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kern="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INSERT,</a:t>
            </a:r>
            <a:r>
              <a:rPr lang="ru-RU" sz="2500" kern="0" spc="-6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kern="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UPDATE, </a:t>
            </a:r>
            <a:r>
              <a:rPr lang="ru-RU" sz="25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DELETE. Способы использование триггеров для</a:t>
            </a:r>
            <a:r>
              <a:rPr lang="ru-RU" sz="2500" kern="0" spc="-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повышения</a:t>
            </a:r>
            <a:r>
              <a:rPr lang="ru-RU" sz="25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kern="0" spc="-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защищенности системы подобны использова</a:t>
            </a:r>
            <a:r>
              <a:rPr lang="ru-RU" sz="25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нию</a:t>
            </a:r>
            <a:r>
              <a:rPr lang="ru-RU" sz="2500" kern="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хранимых процедур. Их </a:t>
            </a:r>
            <a:r>
              <a:rPr lang="ru-RU" sz="2500" u="sng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особенностью является реализуемая</a:t>
            </a:r>
            <a:r>
              <a:rPr lang="ru-RU" sz="2500" u="sng" kern="0" spc="-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u="sng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возможность выполнить</a:t>
            </a:r>
            <a:r>
              <a:rPr lang="ru-RU" sz="2500" u="sng" kern="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u="sng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необходимые проверки полномочий перед выполнением операции над таблицами.</a:t>
            </a:r>
            <a:r>
              <a:rPr lang="ru-RU" sz="25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kern="0" spc="-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Отметим, что</a:t>
            </a:r>
            <a:r>
              <a:rPr lang="ru-RU" sz="2500" kern="0" spc="-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kern="0" spc="-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на</a:t>
            </a:r>
            <a:r>
              <a:rPr lang="ru-RU" sz="2500" kern="0" spc="-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kern="0" spc="-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одном</a:t>
            </a:r>
            <a:r>
              <a:rPr lang="ru-RU" sz="2500" kern="0" spc="-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kern="0" spc="-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множестве</a:t>
            </a:r>
            <a:r>
              <a:rPr lang="ru-RU" sz="2500" kern="0" spc="-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kern="0" spc="-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таблиц</a:t>
            </a:r>
            <a:r>
              <a:rPr lang="ru-RU" sz="2500" kern="0" spc="-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kern="0" spc="-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может </a:t>
            </a:r>
            <a:r>
              <a:rPr lang="ru-RU" sz="25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быть определено несколько триггеров.</a:t>
            </a:r>
            <a:r>
              <a:rPr lang="ru-RU" sz="2500" kern="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Комбинации триггеров.</a:t>
            </a:r>
            <a:r>
              <a:rPr lang="ru-RU" sz="2500" kern="0" spc="-7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выполняемых</a:t>
            </a:r>
            <a:r>
              <a:rPr lang="ru-RU" sz="2500" kern="0" spc="-7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до</a:t>
            </a:r>
            <a:r>
              <a:rPr lang="ru-RU" sz="2500" kern="0" spc="-7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</a:t>
            </a:r>
            <a:r>
              <a:rPr lang="ru-RU" sz="2500" kern="0" spc="-7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после</a:t>
            </a:r>
            <a:r>
              <a:rPr lang="ru-RU" sz="2500" kern="0" spc="-7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операций,</a:t>
            </a:r>
            <a:r>
              <a:rPr lang="ru-RU" sz="2500" kern="0" spc="-7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позволяют</a:t>
            </a:r>
            <a:r>
              <a:rPr lang="ru-RU" sz="2500" kern="0" spc="-5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создавать изощренные механизмы проверки допустимости тех</a:t>
            </a:r>
            <a:r>
              <a:rPr lang="ru-RU" sz="2500" kern="0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или</a:t>
            </a:r>
            <a:r>
              <a:rPr lang="ru-RU" sz="2500" kern="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иных действий</a:t>
            </a:r>
            <a:r>
              <a:rPr lang="ru-RU" sz="2500" kern="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 базе данных</a:t>
            </a:r>
            <a:endParaRPr lang="ru-RU" sz="25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01600" marR="300990" indent="0" algn="just">
              <a:lnSpc>
                <a:spcPct val="120000"/>
              </a:lnSpc>
              <a:spcBef>
                <a:spcPts val="50"/>
              </a:spcBef>
              <a:buNone/>
            </a:pPr>
            <a:endParaRPr lang="ru-RU" sz="2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 algn="just">
              <a:lnSpc>
                <a:spcPct val="115000"/>
              </a:lnSpc>
              <a:spcBef>
                <a:spcPts val="0"/>
              </a:spcBef>
              <a:buNone/>
              <a:tabLst>
                <a:tab pos="857250" algn="l"/>
              </a:tabLst>
            </a:pPr>
            <a:endParaRPr lang="ru-RU" sz="2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Rectangle 3"/>
          <p:cNvSpPr>
            <a:spLocks noGrp="1"/>
          </p:cNvSpPr>
          <p:nvPr>
            <p:ph type="body" idx="1"/>
          </p:nvPr>
        </p:nvSpPr>
        <p:spPr>
          <a:xfrm>
            <a:off x="0" y="1"/>
            <a:ext cx="9036496" cy="6858000"/>
          </a:xfrm>
        </p:spPr>
        <p:txBody>
          <a:bodyPr/>
          <a:lstStyle/>
          <a:p>
            <a:pPr marL="0" indent="0" algn="ctr">
              <a:spcBef>
                <a:spcPts val="1800"/>
              </a:spcBef>
              <a:buNone/>
            </a:pPr>
            <a:r>
              <a:rPr lang="ru-RU" sz="2500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3 Предоставление привилегий доступа к объекту</a:t>
            </a:r>
            <a:endParaRPr lang="ru-RU" sz="2500" b="1" kern="100" dirty="0">
              <a:effectLst/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  <a:p>
            <a:pPr marL="0" indent="0" algn="just">
              <a:buNone/>
            </a:pPr>
            <a:r>
              <a:rPr lang="ru-RU" sz="25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  Привилегии доступа к объекту могут быть предоставлены сервером двум объектам системы: пользователям (</a:t>
            </a:r>
            <a:r>
              <a:rPr lang="en-US" sz="25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USER</a:t>
            </a:r>
            <a:r>
              <a:rPr lang="ru-RU" sz="25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) и ролям (</a:t>
            </a:r>
            <a:r>
              <a:rPr lang="en-US" sz="25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ROL</a:t>
            </a:r>
            <a:r>
              <a:rPr lang="ru-RU" sz="25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Е). Роль представляет собой поименованный набор привилегий. Назначение и языковые средства определения ролей будут рассмотрены позже.</a:t>
            </a:r>
            <a:endParaRPr lang="ru-RU" sz="2500" kern="100" dirty="0">
              <a:effectLst/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  <a:p>
            <a:pPr marL="0" indent="0" algn="just">
              <a:spcBef>
                <a:spcPts val="0"/>
              </a:spcBef>
              <a:buNone/>
            </a:pPr>
            <a:r>
              <a:rPr lang="ru-RU" sz="25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Для предоставления привилегий пользователю, в соответствии с требованиями стандарта, используется команда </a:t>
            </a:r>
            <a:r>
              <a:rPr lang="en-US" sz="25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GRAN</a:t>
            </a:r>
            <a:r>
              <a:rPr lang="ru-RU" sz="25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Т. Пользователь, выдавший эту команду, либо должен быть владельцем объекта (т.е. пользователем, в схеме которого создан данный объект), либо наследовать соответствующую привилегию.</a:t>
            </a:r>
          </a:p>
          <a:p>
            <a:pPr marL="0" marR="301625" indent="0" algn="just">
              <a:buNone/>
            </a:pP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Среди привилегии создания/изменения объектов БД приведем в таблице наиболее часто используемые. В реализациях могут присутствовать и другие разновидности привилегий.</a:t>
            </a:r>
          </a:p>
          <a:p>
            <a:pPr marL="0" indent="0" algn="just">
              <a:spcBef>
                <a:spcPts val="0"/>
              </a:spcBef>
              <a:buNone/>
            </a:pPr>
            <a:endParaRPr lang="ru-RU" sz="2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1" name="Rectangle 3"/>
          <p:cNvSpPr>
            <a:spLocks noGrp="1"/>
          </p:cNvSpPr>
          <p:nvPr>
            <p:ph type="body" idx="1"/>
          </p:nvPr>
        </p:nvSpPr>
        <p:spPr>
          <a:xfrm>
            <a:off x="0" y="0"/>
            <a:ext cx="9144000" cy="6741368"/>
          </a:xfrm>
        </p:spPr>
        <p:txBody>
          <a:bodyPr/>
          <a:lstStyle/>
          <a:p>
            <a:pPr marL="0" indent="0" algn="ctr">
              <a:lnSpc>
                <a:spcPct val="115000"/>
              </a:lnSpc>
              <a:spcBef>
                <a:spcPts val="0"/>
              </a:spcBef>
              <a:buNone/>
            </a:pPr>
            <a:endParaRPr lang="ru-RU" sz="2600" kern="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 algn="ctr">
              <a:lnSpc>
                <a:spcPct val="115000"/>
              </a:lnSpc>
              <a:spcBef>
                <a:spcPts val="0"/>
              </a:spcBef>
              <a:buNone/>
            </a:pPr>
            <a:endParaRPr lang="ru-RU" sz="2600" kern="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 algn="ctr">
              <a:lnSpc>
                <a:spcPct val="115000"/>
              </a:lnSpc>
              <a:spcBef>
                <a:spcPts val="0"/>
              </a:spcBef>
              <a:buNone/>
            </a:pPr>
            <a:endParaRPr lang="ru-RU" sz="2600" kern="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 algn="ctr">
              <a:lnSpc>
                <a:spcPct val="115000"/>
              </a:lnSpc>
              <a:spcBef>
                <a:spcPts val="0"/>
              </a:spcBef>
              <a:buNone/>
            </a:pPr>
            <a:endParaRPr lang="ru-RU" sz="2600" kern="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3C82B61A-2AB4-D219-4F15-BA6BE385AD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7543748"/>
              </p:ext>
            </p:extLst>
          </p:nvPr>
        </p:nvGraphicFramePr>
        <p:xfrm>
          <a:off x="1259632" y="1700808"/>
          <a:ext cx="6408712" cy="3384375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3220022">
                  <a:extLst>
                    <a:ext uri="{9D8B030D-6E8A-4147-A177-3AD203B41FA5}">
                      <a16:colId xmlns:a16="http://schemas.microsoft.com/office/drawing/2014/main" val="2477903018"/>
                    </a:ext>
                  </a:extLst>
                </a:gridCol>
                <a:gridCol w="3188690">
                  <a:extLst>
                    <a:ext uri="{9D8B030D-6E8A-4147-A177-3AD203B41FA5}">
                      <a16:colId xmlns:a16="http://schemas.microsoft.com/office/drawing/2014/main" val="3640610024"/>
                    </a:ext>
                  </a:extLst>
                </a:gridCol>
              </a:tblGrid>
              <a:tr h="831716"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lang="en-US" sz="2400" b="0" spc="-10">
                          <a:solidFill>
                            <a:schemeClr val="tx1"/>
                          </a:solidFill>
                          <a:effectLst/>
                        </a:rPr>
                        <a:t>Привилегия</a:t>
                      </a:r>
                      <a:endParaRPr lang="ru-RU" sz="2400" b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lang="en-US" sz="2400" b="0" spc="-10">
                          <a:solidFill>
                            <a:schemeClr val="tx1"/>
                          </a:solidFill>
                          <a:effectLst/>
                        </a:rPr>
                        <a:t>Описание</a:t>
                      </a:r>
                      <a:endParaRPr lang="ru-RU" sz="2400" b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8598991"/>
                  </a:ext>
                </a:extLst>
              </a:tr>
              <a:tr h="847199"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lang="en-US" sz="2400" b="0">
                          <a:solidFill>
                            <a:schemeClr val="tx1"/>
                          </a:solidFill>
                          <a:effectLst/>
                        </a:rPr>
                        <a:t>CREATE</a:t>
                      </a:r>
                      <a:r>
                        <a:rPr lang="en-US" sz="2400" b="0" spc="-25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400" b="0">
                          <a:solidFill>
                            <a:schemeClr val="tx1"/>
                          </a:solidFill>
                          <a:effectLst/>
                        </a:rPr>
                        <a:t>&lt;тип</a:t>
                      </a:r>
                      <a:r>
                        <a:rPr lang="en-US" sz="2400" b="0" spc="-25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400" b="0" spc="-10">
                          <a:solidFill>
                            <a:schemeClr val="tx1"/>
                          </a:solidFill>
                          <a:effectLst/>
                        </a:rPr>
                        <a:t>объекта&gt;</a:t>
                      </a:r>
                      <a:endParaRPr lang="ru-RU" sz="2400" b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</a:pPr>
                      <a:r>
                        <a:rPr lang="en-US" sz="2400" b="0">
                          <a:solidFill>
                            <a:schemeClr val="tx1"/>
                          </a:solidFill>
                          <a:effectLst/>
                        </a:rPr>
                        <a:t>Создание</a:t>
                      </a:r>
                      <a:r>
                        <a:rPr lang="en-US" sz="2400" b="0" spc="-2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400" b="0">
                          <a:solidFill>
                            <a:schemeClr val="tx1"/>
                          </a:solidFill>
                          <a:effectLst/>
                        </a:rPr>
                        <a:t>объекта</a:t>
                      </a:r>
                      <a:r>
                        <a:rPr lang="en-US" sz="2400" b="0" spc="-15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400" b="0">
                          <a:solidFill>
                            <a:schemeClr val="tx1"/>
                          </a:solidFill>
                          <a:effectLst/>
                        </a:rPr>
                        <a:t>некоторого</a:t>
                      </a:r>
                      <a:r>
                        <a:rPr lang="en-US" sz="2400" b="0" spc="-15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400" b="0" spc="-20">
                          <a:solidFill>
                            <a:schemeClr val="tx1"/>
                          </a:solidFill>
                          <a:effectLst/>
                        </a:rPr>
                        <a:t>типа</a:t>
                      </a:r>
                      <a:endParaRPr lang="ru-RU" sz="2400" b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6714104"/>
                  </a:ext>
                </a:extLst>
              </a:tr>
              <a:tr h="853836"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lang="en-US" sz="2400" b="0">
                          <a:solidFill>
                            <a:schemeClr val="tx1"/>
                          </a:solidFill>
                          <a:effectLst/>
                        </a:rPr>
                        <a:t>ALTER</a:t>
                      </a:r>
                      <a:r>
                        <a:rPr lang="en-US" sz="2400" b="0" spc="-25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400" b="0">
                          <a:solidFill>
                            <a:schemeClr val="tx1"/>
                          </a:solidFill>
                          <a:effectLst/>
                        </a:rPr>
                        <a:t>&lt;тип</a:t>
                      </a:r>
                      <a:r>
                        <a:rPr lang="en-US" sz="2400" b="0" spc="-2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400" b="0" spc="-10">
                          <a:solidFill>
                            <a:schemeClr val="tx1"/>
                          </a:solidFill>
                          <a:effectLst/>
                        </a:rPr>
                        <a:t>объекта&gt;</a:t>
                      </a:r>
                      <a:endParaRPr lang="ru-RU" sz="2400" b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</a:pPr>
                      <a:r>
                        <a:rPr lang="en-US" sz="2400" b="0" dirty="0" err="1">
                          <a:solidFill>
                            <a:schemeClr val="tx1"/>
                          </a:solidFill>
                          <a:effectLst/>
                        </a:rPr>
                        <a:t>Изменение</a:t>
                      </a:r>
                      <a:r>
                        <a:rPr lang="en-US" sz="2400" b="0" spc="-3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400" b="0" dirty="0" err="1">
                          <a:solidFill>
                            <a:schemeClr val="tx1"/>
                          </a:solidFill>
                          <a:effectLst/>
                        </a:rPr>
                        <a:t>структуры</a:t>
                      </a:r>
                      <a:r>
                        <a:rPr lang="en-US" sz="2400" b="0" spc="-3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400" b="0" spc="-10" dirty="0" err="1">
                          <a:solidFill>
                            <a:schemeClr val="tx1"/>
                          </a:solidFill>
                          <a:effectLst/>
                        </a:rPr>
                        <a:t>объекта</a:t>
                      </a:r>
                      <a:endParaRPr lang="ru-RU" sz="24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0666090"/>
                  </a:ext>
                </a:extLst>
              </a:tr>
              <a:tr h="851624"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lang="en-US" sz="2400" b="0">
                          <a:solidFill>
                            <a:schemeClr val="tx1"/>
                          </a:solidFill>
                          <a:effectLst/>
                        </a:rPr>
                        <a:t>DROP</a:t>
                      </a:r>
                      <a:r>
                        <a:rPr lang="en-US" sz="2400" b="0" spc="-2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400" b="0">
                          <a:solidFill>
                            <a:schemeClr val="tx1"/>
                          </a:solidFill>
                          <a:effectLst/>
                        </a:rPr>
                        <a:t>&lt;тип</a:t>
                      </a:r>
                      <a:r>
                        <a:rPr lang="en-US" sz="2400" b="0" spc="-2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400" b="0" spc="-10">
                          <a:solidFill>
                            <a:schemeClr val="tx1"/>
                          </a:solidFill>
                          <a:effectLst/>
                        </a:rPr>
                        <a:t>объекта&gt;</a:t>
                      </a:r>
                      <a:endParaRPr lang="ru-RU" sz="2400" b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</a:pPr>
                      <a:r>
                        <a:rPr lang="en-US" sz="2400" b="0" dirty="0" err="1">
                          <a:solidFill>
                            <a:schemeClr val="tx1"/>
                          </a:solidFill>
                          <a:effectLst/>
                        </a:rPr>
                        <a:t>Удаление</a:t>
                      </a:r>
                      <a:r>
                        <a:rPr lang="en-US" sz="2400" b="0" spc="-25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400" b="0" spc="-10" dirty="0" err="1">
                          <a:solidFill>
                            <a:schemeClr val="tx1"/>
                          </a:solidFill>
                          <a:effectLst/>
                        </a:rPr>
                        <a:t>объекта</a:t>
                      </a:r>
                      <a:endParaRPr lang="ru-RU" sz="24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755841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5" name="Rectangle 3"/>
          <p:cNvSpPr>
            <a:spLocks noGrp="1"/>
          </p:cNvSpPr>
          <p:nvPr>
            <p:ph type="body" idx="1"/>
          </p:nvPr>
        </p:nvSpPr>
        <p:spPr>
          <a:xfrm>
            <a:off x="0" y="1"/>
            <a:ext cx="9144000" cy="6858000"/>
          </a:xfrm>
        </p:spPr>
        <p:txBody>
          <a:bodyPr/>
          <a:lstStyle/>
          <a:p>
            <a:pPr marL="101600" marR="302260" indent="0" algn="ctr">
              <a:lnSpc>
                <a:spcPct val="120000"/>
              </a:lnSpc>
              <a:buNone/>
            </a:pPr>
            <a:r>
              <a:rPr lang="ru-RU" sz="25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4 Отмена привилегий</a:t>
            </a:r>
          </a:p>
          <a:p>
            <a:pPr marL="101600" marR="302260" indent="0" algn="just">
              <a:lnSpc>
                <a:spcPct val="120000"/>
              </a:lnSpc>
              <a:buNone/>
            </a:pP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 языке SQL для отмены привилегий, предоставленных пользователям посредством оператора </a:t>
            </a:r>
            <a:r>
              <a:rPr lang="ru-RU" sz="25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GRANT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используется оператор </a:t>
            </a:r>
            <a:r>
              <a:rPr lang="ru-RU" sz="25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REVOKE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r>
              <a:rPr lang="ru-RU" sz="2500" spc="-5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</a:t>
            </a:r>
            <a:r>
              <a:rPr lang="ru-RU" sz="2500" spc="-5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помощью</a:t>
            </a:r>
            <a:r>
              <a:rPr lang="ru-RU" sz="2500" spc="-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этого</a:t>
            </a:r>
            <a:r>
              <a:rPr lang="ru-RU" sz="2500" spc="-5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оператора</a:t>
            </a:r>
            <a:r>
              <a:rPr lang="ru-RU" sz="2500" spc="-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могут</a:t>
            </a:r>
            <a:r>
              <a:rPr lang="ru-RU" sz="2500" spc="-5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быть</a:t>
            </a:r>
            <a:r>
              <a:rPr lang="ru-RU" sz="2500" spc="-5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отменены</a:t>
            </a:r>
            <a:r>
              <a:rPr lang="ru-RU" sz="2500" spc="-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все</a:t>
            </a:r>
            <a:r>
              <a:rPr lang="ru-RU" sz="2500" spc="-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или некоторые из привилегий, полученных указанным пользователем раньше. Оператор </a:t>
            </a:r>
            <a:r>
              <a:rPr lang="ru-RU" sz="25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REVOKE</a:t>
            </a:r>
            <a:r>
              <a:rPr lang="ru-RU" sz="2500" spc="-24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имеет следующий формат:</a:t>
            </a:r>
          </a:p>
          <a:p>
            <a:pPr marL="0" marR="300355" indent="0">
              <a:lnSpc>
                <a:spcPct val="121000"/>
              </a:lnSpc>
              <a:spcBef>
                <a:spcPts val="1170"/>
              </a:spcBef>
              <a:buNone/>
            </a:pPr>
            <a:r>
              <a:rPr lang="ru-RU" sz="2200" b="1" i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REVOKE</a:t>
            </a:r>
            <a:r>
              <a:rPr lang="ru-RU" sz="2200" b="1" i="1" spc="2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i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ru-RU" sz="2200" b="1" i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GRANT</a:t>
            </a:r>
            <a:r>
              <a:rPr lang="ru-RU" sz="2200" b="1" i="1" spc="2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b="1" i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OPTION</a:t>
            </a:r>
            <a:r>
              <a:rPr lang="ru-RU" sz="2200" b="1" i="1" spc="2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b="1" i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ru-RU" sz="2200" i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ru-RU" sz="2200" i="1" spc="2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i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{привилегия</a:t>
            </a:r>
            <a:r>
              <a:rPr lang="ru-RU" sz="2200" i="1" spc="2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i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на</a:t>
            </a:r>
            <a:r>
              <a:rPr lang="ru-RU" sz="2200" i="1" spc="2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i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объект [,…] | имя роли [,…]}</a:t>
            </a:r>
            <a:endParaRPr lang="ru-RU" sz="2200" i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lnSpc>
                <a:spcPts val="1085"/>
              </a:lnSpc>
              <a:buNone/>
            </a:pPr>
            <a:r>
              <a:rPr lang="ru-RU" sz="2200" b="1" i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lang="ru-RU" sz="2200" b="1" i="1" spc="-25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i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имя</a:t>
            </a:r>
            <a:r>
              <a:rPr lang="ru-RU" sz="2200" i="1" spc="-15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i="1" spc="-1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объекта</a:t>
            </a:r>
            <a:endParaRPr lang="ru-RU" sz="2200" i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1268730" indent="0">
              <a:lnSpc>
                <a:spcPct val="120000"/>
              </a:lnSpc>
              <a:spcBef>
                <a:spcPts val="220"/>
              </a:spcBef>
              <a:buNone/>
            </a:pPr>
            <a:r>
              <a:rPr lang="ru-RU" sz="2200" b="1" i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ru-RU" sz="2200" b="1" i="1" spc="-5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i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{получатель</a:t>
            </a:r>
            <a:r>
              <a:rPr lang="ru-RU" sz="2200" i="1" spc="-45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i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привилегии</a:t>
            </a:r>
            <a:r>
              <a:rPr lang="ru-RU" sz="2200" i="1" spc="-5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i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[,…]} [</a:t>
            </a:r>
            <a:r>
              <a:rPr lang="ru-RU" sz="2200" b="1" i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RESTRICT </a:t>
            </a:r>
            <a:r>
              <a:rPr lang="ru-RU" sz="2200" i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| </a:t>
            </a:r>
            <a:r>
              <a:rPr lang="ru-RU" sz="2200" b="1" i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CASCADE</a:t>
            </a:r>
            <a:r>
              <a:rPr lang="ru-RU" sz="2200" i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ru-RU" sz="2200" i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01600" indent="0" algn="l">
              <a:spcBef>
                <a:spcPts val="25"/>
              </a:spcBef>
              <a:buNone/>
            </a:pPr>
            <a:r>
              <a:rPr lang="ru-RU" sz="2200" i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ru-RU" sz="2200" i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</a:t>
            </a:r>
            <a:r>
              <a:rPr lang="ru-RU" sz="25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таблице</a:t>
            </a:r>
            <a:r>
              <a:rPr lang="ru-RU" sz="25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приведены</a:t>
            </a:r>
            <a:r>
              <a:rPr lang="ru-RU" sz="25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опции</a:t>
            </a:r>
            <a:r>
              <a:rPr lang="ru-RU" sz="25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для</a:t>
            </a:r>
            <a:r>
              <a:rPr lang="ru-RU" sz="25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отзыва</a:t>
            </a:r>
            <a:r>
              <a:rPr lang="ru-RU" sz="25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привилегий</a:t>
            </a:r>
            <a:endParaRPr lang="ru-RU" sz="25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marL="0" lvl="0" indent="0" algn="just">
              <a:lnSpc>
                <a:spcPct val="115000"/>
              </a:lnSpc>
              <a:buNone/>
              <a:tabLst>
                <a:tab pos="475615" algn="l"/>
              </a:tabLst>
            </a:pPr>
            <a:r>
              <a:rPr lang="ru-RU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ru-RU" sz="2600" spc="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B0143F-3297-FF61-0A2A-E8395B82B7D6}"/>
              </a:ext>
            </a:extLst>
          </p:cNvPr>
          <p:cNvSpPr txBox="1"/>
          <p:nvPr/>
        </p:nvSpPr>
        <p:spPr>
          <a:xfrm>
            <a:off x="0" y="116632"/>
            <a:ext cx="9144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180340" algn="just"/>
            <a:r>
              <a:rPr lang="ru-RU" sz="24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56CB5A32-EE56-2040-4FE6-85AAE38AF1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5943238"/>
              </p:ext>
            </p:extLst>
          </p:nvPr>
        </p:nvGraphicFramePr>
        <p:xfrm>
          <a:off x="467544" y="372408"/>
          <a:ext cx="8064896" cy="6493570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1682943">
                  <a:extLst>
                    <a:ext uri="{9D8B030D-6E8A-4147-A177-3AD203B41FA5}">
                      <a16:colId xmlns:a16="http://schemas.microsoft.com/office/drawing/2014/main" val="4287971322"/>
                    </a:ext>
                  </a:extLst>
                </a:gridCol>
                <a:gridCol w="6381953">
                  <a:extLst>
                    <a:ext uri="{9D8B030D-6E8A-4147-A177-3AD203B41FA5}">
                      <a16:colId xmlns:a16="http://schemas.microsoft.com/office/drawing/2014/main" val="1747189271"/>
                    </a:ext>
                  </a:extLst>
                </a:gridCol>
              </a:tblGrid>
              <a:tr h="496444"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lang="ru-RU" sz="2200" b="0" spc="-20" dirty="0">
                          <a:solidFill>
                            <a:schemeClr val="tx1"/>
                          </a:solidFill>
                          <a:effectLst/>
                        </a:rPr>
                        <a:t>Опция</a:t>
                      </a:r>
                      <a:endParaRPr lang="ru-RU" sz="2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lang="ru-RU" sz="2200" b="0" spc="-10">
                          <a:solidFill>
                            <a:schemeClr val="tx1"/>
                          </a:solidFill>
                          <a:effectLst/>
                        </a:rPr>
                        <a:t>Описание</a:t>
                      </a:r>
                      <a:endParaRPr lang="ru-RU" sz="2200" b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8361010"/>
                  </a:ext>
                </a:extLst>
              </a:tr>
              <a:tr h="949549"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lang="ru-RU" sz="2200" b="0">
                          <a:solidFill>
                            <a:schemeClr val="tx1"/>
                          </a:solidFill>
                          <a:effectLst/>
                        </a:rPr>
                        <a:t>ALL</a:t>
                      </a:r>
                      <a:r>
                        <a:rPr lang="ru-RU" sz="2200" b="0" spc="-145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ru-RU" sz="2200" b="0">
                          <a:solidFill>
                            <a:schemeClr val="tx1"/>
                          </a:solidFill>
                          <a:effectLst/>
                        </a:rPr>
                        <a:t>PRIVI- </a:t>
                      </a:r>
                      <a:r>
                        <a:rPr lang="ru-RU" sz="2200" b="0" spc="-10">
                          <a:solidFill>
                            <a:schemeClr val="tx1"/>
                          </a:solidFill>
                          <a:effectLst/>
                        </a:rPr>
                        <a:t>LEGIES</a:t>
                      </a:r>
                      <a:endParaRPr lang="ru-RU" sz="2200" b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lang="ru-RU" sz="2200" b="0" dirty="0">
                          <a:solidFill>
                            <a:schemeClr val="tx1"/>
                          </a:solidFill>
                          <a:effectLst/>
                        </a:rPr>
                        <a:t>Отзываются все привилегии,</a:t>
                      </a:r>
                      <a:r>
                        <a:rPr lang="ru-RU" sz="2200" b="0" spc="9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ru-RU" sz="2200" b="0" dirty="0">
                          <a:solidFill>
                            <a:schemeClr val="tx1"/>
                          </a:solidFill>
                          <a:effectLst/>
                        </a:rPr>
                        <a:t>предоставленные</a:t>
                      </a:r>
                      <a:r>
                        <a:rPr lang="ru-RU" sz="2200" b="0" spc="9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ru-RU" sz="2200" b="0" dirty="0">
                          <a:solidFill>
                            <a:schemeClr val="tx1"/>
                          </a:solidFill>
                          <a:effectLst/>
                        </a:rPr>
                        <a:t>ему ранее тем пользователем, который ввел данный оператор</a:t>
                      </a:r>
                      <a:endParaRPr lang="ru-RU" sz="2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2995137"/>
                  </a:ext>
                </a:extLst>
              </a:tr>
              <a:tr h="1148238"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lang="ru-RU" sz="2200" b="0">
                          <a:solidFill>
                            <a:schemeClr val="tx1"/>
                          </a:solidFill>
                          <a:effectLst/>
                        </a:rPr>
                        <a:t>GRANT</a:t>
                      </a:r>
                      <a:r>
                        <a:rPr lang="ru-RU" sz="2200" b="0" spc="-145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ru-RU" sz="2200" b="0">
                          <a:solidFill>
                            <a:schemeClr val="tx1"/>
                          </a:solidFill>
                          <a:effectLst/>
                        </a:rPr>
                        <a:t>OP- TION FOR</a:t>
                      </a:r>
                      <a:endParaRPr lang="ru-RU" sz="2200" b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60960"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lang="ru-RU" sz="2200" b="0" dirty="0">
                          <a:solidFill>
                            <a:schemeClr val="tx1"/>
                          </a:solidFill>
                          <a:effectLst/>
                        </a:rPr>
                        <a:t>Отзывается только право передачи привилегии, но не сама привилегия. Без этого указания отзывается и привилегия, и право назначать привилегии.</a:t>
                      </a:r>
                      <a:endParaRPr lang="ru-RU" sz="2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9259333"/>
                  </a:ext>
                </a:extLst>
              </a:tr>
              <a:tr h="1496088"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lang="ru-RU" sz="2200" b="0" spc="-10">
                          <a:solidFill>
                            <a:schemeClr val="tx1"/>
                          </a:solidFill>
                          <a:effectLst/>
                        </a:rPr>
                        <a:t>CASCADE</a:t>
                      </a:r>
                      <a:endParaRPr lang="ru-RU" sz="2200" b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61595"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lang="ru-RU" sz="2200" b="0" dirty="0">
                          <a:solidFill>
                            <a:schemeClr val="tx1"/>
                          </a:solidFill>
                          <a:effectLst/>
                        </a:rPr>
                        <a:t>Отзыв</a:t>
                      </a:r>
                      <a:r>
                        <a:rPr lang="ru-RU" sz="2200" b="0" spc="-3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ru-RU" sz="2200" b="0" dirty="0">
                          <a:solidFill>
                            <a:schemeClr val="tx1"/>
                          </a:solidFill>
                          <a:effectLst/>
                        </a:rPr>
                        <a:t>привилегий</a:t>
                      </a:r>
                      <a:r>
                        <a:rPr lang="ru-RU" sz="2200" b="0" spc="-35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ru-RU" sz="2200" b="0" dirty="0">
                          <a:solidFill>
                            <a:schemeClr val="tx1"/>
                          </a:solidFill>
                          <a:effectLst/>
                        </a:rPr>
                        <a:t>не</a:t>
                      </a:r>
                      <a:r>
                        <a:rPr lang="ru-RU" sz="2200" b="0" spc="-25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ru-RU" sz="2200" b="0" dirty="0">
                          <a:solidFill>
                            <a:schemeClr val="tx1"/>
                          </a:solidFill>
                          <a:effectLst/>
                        </a:rPr>
                        <a:t>только</a:t>
                      </a:r>
                      <a:r>
                        <a:rPr lang="ru-RU" sz="2200" b="0" spc="-25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ru-RU" sz="2200" b="0" dirty="0">
                          <a:solidFill>
                            <a:schemeClr val="tx1"/>
                          </a:solidFill>
                          <a:effectLst/>
                        </a:rPr>
                        <a:t>непосредственно</a:t>
                      </a:r>
                      <a:r>
                        <a:rPr lang="ru-RU" sz="2200" b="0" spc="-2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ru-RU" sz="2200" b="0" dirty="0">
                          <a:solidFill>
                            <a:schemeClr val="tx1"/>
                          </a:solidFill>
                          <a:effectLst/>
                        </a:rPr>
                        <a:t>у</a:t>
                      </a:r>
                      <a:r>
                        <a:rPr lang="ru-RU" sz="2200" b="0" spc="-35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ru-RU" sz="2200" b="0" dirty="0">
                          <a:solidFill>
                            <a:schemeClr val="tx1"/>
                          </a:solidFill>
                          <a:effectLst/>
                        </a:rPr>
                        <a:t>указанного пользователя, но и у всех пользователей, которым он выдавал привилегии используя опцию GRANT OP- </a:t>
                      </a:r>
                      <a:r>
                        <a:rPr lang="ru-RU" sz="2200" b="0" spc="-10" dirty="0">
                          <a:solidFill>
                            <a:schemeClr val="tx1"/>
                          </a:solidFill>
                          <a:effectLst/>
                        </a:rPr>
                        <a:t>TION.</a:t>
                      </a:r>
                      <a:endParaRPr lang="ru-RU" sz="2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479988"/>
                  </a:ext>
                </a:extLst>
              </a:tr>
              <a:tr h="2246384"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lang="ru-RU" sz="2200" b="0" spc="-10">
                          <a:solidFill>
                            <a:schemeClr val="tx1"/>
                          </a:solidFill>
                          <a:effectLst/>
                        </a:rPr>
                        <a:t>RESTRICT</a:t>
                      </a:r>
                      <a:endParaRPr lang="ru-RU" sz="2200" b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59690"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lang="ru-RU" sz="2200" b="0" dirty="0">
                          <a:solidFill>
                            <a:schemeClr val="tx1"/>
                          </a:solidFill>
                          <a:effectLst/>
                        </a:rPr>
                        <a:t>Отзыв привилегий касается только непосредственно пользователя, указанного в операторе REVOKE, но при наличии у этого пользователя делегированных с помощью опции GRANT OPTION</a:t>
                      </a:r>
                      <a:r>
                        <a:rPr lang="ru-RU" sz="2200" b="0" spc="-4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ru-RU" sz="2200" b="0" dirty="0">
                          <a:solidFill>
                            <a:schemeClr val="tx1"/>
                          </a:solidFill>
                          <a:effectLst/>
                        </a:rPr>
                        <a:t>привилегий возникнет ошибка. Такой подход позволяет избежать возникновения так называемых «брошенных» привилегий.</a:t>
                      </a:r>
                      <a:endParaRPr lang="ru-RU" sz="2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432872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9" name="Rectangle 3"/>
          <p:cNvSpPr>
            <a:spLocks noGrp="1"/>
          </p:cNvSpPr>
          <p:nvPr>
            <p:ph type="body" idx="1"/>
          </p:nvPr>
        </p:nvSpPr>
        <p:spPr>
          <a:xfrm>
            <a:off x="-78828" y="57944"/>
            <a:ext cx="9222828" cy="6742112"/>
          </a:xfrm>
        </p:spPr>
        <p:txBody>
          <a:bodyPr/>
          <a:lstStyle/>
          <a:p>
            <a:pPr marL="0" indent="0" algn="just">
              <a:spcBef>
                <a:spcPts val="0"/>
              </a:spcBef>
              <a:buNone/>
            </a:pPr>
            <a:r>
              <a:rPr lang="ru-RU" sz="25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ВНИМАНИЕ!! Привилегии,</a:t>
            </a:r>
            <a:r>
              <a:rPr lang="ru-RU" sz="25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которые</a:t>
            </a:r>
            <a:r>
              <a:rPr lang="ru-RU" sz="2500" spc="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были</a:t>
            </a:r>
            <a:r>
              <a:rPr lang="ru-RU" sz="2500" spc="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предоставлены</a:t>
            </a:r>
            <a:r>
              <a:rPr lang="ru-RU" sz="2500" spc="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указанному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пользо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вателю</a:t>
            </a:r>
            <a:r>
              <a:rPr lang="ru-RU" sz="2500" spc="-6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другими</a:t>
            </a:r>
            <a:r>
              <a:rPr lang="ru-RU" sz="2500" spc="-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пользователями,</a:t>
            </a:r>
            <a:r>
              <a:rPr lang="ru-RU" sz="2500" spc="-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не</a:t>
            </a:r>
            <a:r>
              <a:rPr lang="ru-RU" sz="2500" spc="-7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могут</a:t>
            </a:r>
            <a:r>
              <a:rPr lang="ru-RU" sz="2500" spc="-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быть</a:t>
            </a:r>
            <a:r>
              <a:rPr lang="ru-RU" sz="2500" spc="-5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затронуты</a:t>
            </a:r>
            <a:r>
              <a:rPr lang="ru-RU" sz="2500" spc="-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оператором </a:t>
            </a:r>
            <a:r>
              <a:rPr lang="ru-RU" sz="25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REVOKE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Следовательно, если другой пользователь также предоставил данному пользователю удаляемую привилегию, то право доступа к соответствующей таблице у указанного пользователя сохранится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рассмотрим</a:t>
            </a:r>
            <a:r>
              <a:rPr lang="ru-RU" sz="2500" spc="-6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ситуацию,</a:t>
            </a:r>
            <a:r>
              <a:rPr lang="ru-RU" sz="2500" spc="-7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приведенную</a:t>
            </a:r>
            <a:r>
              <a:rPr lang="ru-RU" sz="2500" spc="-7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на</a:t>
            </a:r>
            <a:r>
              <a:rPr lang="ru-RU" sz="2500" spc="-7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рисунке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B9FB97E-5C9F-B5CA-144B-C062729612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133" y="2870683"/>
            <a:ext cx="8158906" cy="3929373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3" name="Rectangle 3"/>
          <p:cNvSpPr>
            <a:spLocks noGrp="1"/>
          </p:cNvSpPr>
          <p:nvPr>
            <p:ph type="body" idx="1"/>
          </p:nvPr>
        </p:nvSpPr>
        <p:spPr>
          <a:xfrm>
            <a:off x="0" y="116632"/>
            <a:ext cx="8964488" cy="6624736"/>
          </a:xfrm>
        </p:spPr>
        <p:txBody>
          <a:bodyPr/>
          <a:lstStyle/>
          <a:p>
            <a:pPr marL="101600" marR="300990" indent="0" algn="just">
              <a:buNone/>
            </a:pP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ИТАК пусть</a:t>
            </a:r>
            <a:r>
              <a:rPr lang="ru-RU" sz="25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пользователи</a:t>
            </a:r>
            <a:r>
              <a:rPr lang="ru-RU" sz="2500" spc="1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user1</a:t>
            </a:r>
            <a:r>
              <a:rPr lang="ru-RU" sz="2500" spc="-165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</a:t>
            </a:r>
            <a:r>
              <a:rPr lang="ru-RU" sz="2500" spc="1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user5</a:t>
            </a:r>
            <a:r>
              <a:rPr lang="ru-RU" sz="2500" spc="-165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имели</a:t>
            </a:r>
            <a:r>
              <a:rPr lang="ru-RU" sz="2500" spc="1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право</a:t>
            </a:r>
            <a:r>
              <a:rPr lang="ru-RU" sz="2500" spc="1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на</a:t>
            </a:r>
            <a:r>
              <a:rPr lang="ru-RU" sz="2500" spc="1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чтение таблицы</a:t>
            </a:r>
            <a:r>
              <a:rPr lang="ru-RU" sz="2500" spc="-7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orders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</a:t>
            </a:r>
            <a:r>
              <a:rPr lang="ru-RU" sz="2500" spc="-7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т.е.</a:t>
            </a:r>
            <a:r>
              <a:rPr lang="ru-RU" sz="2500" spc="-7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право</a:t>
            </a:r>
            <a:r>
              <a:rPr lang="ru-RU" sz="2500" spc="-6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SELECT</a:t>
            </a:r>
            <a:r>
              <a:rPr lang="ru-RU" sz="2500" spc="-165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на</a:t>
            </a:r>
            <a:r>
              <a:rPr lang="ru-RU" sz="2500" spc="-7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таблицу</a:t>
            </a:r>
            <a:r>
              <a:rPr lang="ru-RU" sz="2500" spc="-7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orders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r>
              <a:rPr lang="ru-RU" sz="2500" spc="-7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Рассмотрим следующие этапы:</a:t>
            </a:r>
          </a:p>
          <a:p>
            <a:pPr marL="342900" marR="301625" lvl="0" indent="-342900" algn="just">
              <a:spcBef>
                <a:spcPts val="155"/>
              </a:spcBef>
              <a:buSzPts val="1100"/>
              <a:buFont typeface="Times New Roman" panose="02020603050405020304" pitchFamily="18" charset="0"/>
              <a:buAutoNum type="arabicParenR"/>
              <a:tabLst>
                <a:tab pos="558800" algn="l"/>
              </a:tabLst>
            </a:pPr>
            <a:r>
              <a:rPr lang="ru-RU" sz="25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пользователь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spc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user1 </a:t>
            </a:r>
            <a:r>
              <a:rPr lang="ru-RU" sz="25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предоставил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пользователю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spc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user2 </a:t>
            </a:r>
            <a:r>
              <a:rPr lang="ru-RU" sz="25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привилегию</a:t>
            </a:r>
            <a:r>
              <a:rPr lang="ru-RU" sz="2500" spc="-7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spc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SELECT</a:t>
            </a:r>
            <a:r>
              <a:rPr lang="ru-RU" sz="2500" spc="-165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5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для</a:t>
            </a:r>
            <a:r>
              <a:rPr lang="ru-RU" sz="2500" spc="-7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таблицы</a:t>
            </a:r>
            <a:r>
              <a:rPr lang="ru-RU" sz="2500" spc="-7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spc="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orders</a:t>
            </a:r>
            <a:r>
              <a:rPr lang="ru-RU" sz="2500" spc="-165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5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</a:t>
            </a:r>
            <a:r>
              <a:rPr lang="ru-RU" sz="2500" spc="-7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указанием</a:t>
            </a:r>
            <a:r>
              <a:rPr lang="ru-RU" sz="2500" spc="-6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оп- </a:t>
            </a:r>
            <a:r>
              <a:rPr lang="ru-RU" sz="2500" spc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ции</a:t>
            </a:r>
            <a:r>
              <a:rPr lang="ru-RU" sz="25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spc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WITH GRANT OPTION</a:t>
            </a:r>
            <a:r>
              <a:rPr lang="ru-RU" sz="25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;</a:t>
            </a:r>
          </a:p>
          <a:p>
            <a:pPr marL="342900" lvl="0" indent="-342900" algn="just">
              <a:spcBef>
                <a:spcPts val="70"/>
              </a:spcBef>
              <a:buSzPts val="1100"/>
              <a:buFont typeface="Times New Roman" panose="02020603050405020304" pitchFamily="18" charset="0"/>
              <a:buAutoNum type="arabicParenR"/>
              <a:tabLst>
                <a:tab pos="558165" algn="l"/>
              </a:tabLst>
            </a:pPr>
            <a:r>
              <a:rPr lang="ru-RU" sz="25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пользователь</a:t>
            </a:r>
            <a:r>
              <a:rPr lang="ru-RU" sz="25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spc="-1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user2</a:t>
            </a:r>
            <a:r>
              <a:rPr lang="ru-RU" sz="2500" spc="-385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5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передал</a:t>
            </a:r>
            <a:r>
              <a:rPr lang="ru-RU" sz="2500" spc="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эту привилегию</a:t>
            </a:r>
            <a:r>
              <a:rPr lang="ru-RU" sz="2500" spc="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пользователю</a:t>
            </a:r>
            <a:r>
              <a:rPr lang="ru-RU" sz="2500" spc="-1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user3</a:t>
            </a:r>
            <a:r>
              <a:rPr lang="ru-RU" sz="25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;</a:t>
            </a:r>
            <a:endParaRPr lang="ru-RU" sz="25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304165" lvl="0" indent="-342900" algn="just">
              <a:spcBef>
                <a:spcPts val="265"/>
              </a:spcBef>
              <a:buSzPts val="1100"/>
              <a:buFont typeface="Times New Roman" panose="02020603050405020304" pitchFamily="18" charset="0"/>
              <a:buAutoNum type="arabicParenR"/>
              <a:tabLst>
                <a:tab pos="558800" algn="l"/>
              </a:tabLst>
            </a:pPr>
            <a:r>
              <a:rPr lang="ru-RU" sz="25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пользователь</a:t>
            </a:r>
            <a:r>
              <a:rPr lang="ru-RU" sz="2500" spc="-7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spc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user3</a:t>
            </a:r>
            <a:r>
              <a:rPr lang="ru-RU" sz="2500" spc="-165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5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получил</a:t>
            </a:r>
            <a:r>
              <a:rPr lang="ru-RU" sz="2500" spc="-7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ту</a:t>
            </a:r>
            <a:r>
              <a:rPr lang="ru-RU" sz="2500" spc="-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же привилегию от пользователя </a:t>
            </a:r>
            <a:r>
              <a:rPr lang="ru-RU" sz="2500" spc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user5</a:t>
            </a:r>
            <a:r>
              <a:rPr lang="ru-RU" sz="25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;</a:t>
            </a:r>
          </a:p>
          <a:p>
            <a:pPr marL="342900" marR="304165" lvl="0" indent="-342900" algn="just">
              <a:spcBef>
                <a:spcPts val="50"/>
              </a:spcBef>
              <a:buSzPts val="1100"/>
              <a:buFont typeface="Times New Roman" panose="02020603050405020304" pitchFamily="18" charset="0"/>
              <a:buAutoNum type="arabicParenR"/>
              <a:tabLst>
                <a:tab pos="558800" algn="l"/>
              </a:tabLst>
            </a:pPr>
            <a:r>
              <a:rPr lang="ru-RU" sz="25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пользователь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spc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user3</a:t>
            </a:r>
            <a:r>
              <a:rPr lang="ru-RU" sz="2500" spc="-7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5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предоставил</a:t>
            </a:r>
            <a:r>
              <a:rPr lang="ru-RU" sz="25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привилегию пользователю </a:t>
            </a:r>
            <a:r>
              <a:rPr lang="ru-RU" sz="2500" spc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user4</a:t>
            </a:r>
            <a:r>
              <a:rPr lang="ru-RU" sz="25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pPr marL="0" marR="302895" indent="0" algn="just">
              <a:spcBef>
                <a:spcPts val="0"/>
              </a:spcBef>
              <a:buNone/>
            </a:pPr>
            <a:r>
              <a:rPr lang="ru-RU" sz="25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Когда</a:t>
            </a:r>
            <a:r>
              <a:rPr lang="ru-RU" sz="2500" spc="-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пользователь</a:t>
            </a:r>
            <a:r>
              <a:rPr lang="ru-RU" sz="2500" spc="-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spc="-1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user1</a:t>
            </a:r>
            <a:r>
              <a:rPr lang="ru-RU" sz="2500" spc="-155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5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отменяет</a:t>
            </a:r>
            <a:r>
              <a:rPr lang="ru-RU" sz="2500" spc="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привилегию</a:t>
            </a:r>
            <a:r>
              <a:rPr lang="ru-RU" sz="2500" spc="8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spc="-1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SELECT</a:t>
            </a:r>
            <a:r>
              <a:rPr lang="ru-RU" sz="2500" spc="-155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5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для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пользователя </a:t>
            </a:r>
            <a:r>
              <a:rPr lang="ru-RU" sz="25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user2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она не может быть отменена и для пользователя</a:t>
            </a:r>
            <a:r>
              <a:rPr lang="ru-RU" sz="2500" spc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user3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</a:t>
            </a:r>
            <a:r>
              <a:rPr lang="ru-RU" sz="2500" spc="1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поскольку</a:t>
            </a:r>
            <a:r>
              <a:rPr lang="ru-RU" sz="2500" spc="10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ранее</a:t>
            </a:r>
            <a:r>
              <a:rPr lang="ru-RU" sz="2500" spc="1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он</a:t>
            </a:r>
            <a:r>
              <a:rPr lang="ru-RU" sz="2500" spc="1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уже</a:t>
            </a:r>
            <a:r>
              <a:rPr lang="ru-RU" sz="2500" spc="1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получил</a:t>
            </a:r>
            <a:r>
              <a:rPr lang="ru-RU" sz="2500" spc="1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ее</a:t>
            </a:r>
            <a:r>
              <a:rPr lang="ru-RU" sz="2500" spc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от</a:t>
            </a:r>
            <a:r>
              <a:rPr lang="ru-RU" sz="2500" spc="1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пользователя</a:t>
            </a:r>
            <a:endParaRPr lang="ru-RU" sz="25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01600" marR="303530" indent="269240" algn="just">
              <a:lnSpc>
                <a:spcPct val="118000"/>
              </a:lnSpc>
              <a:spcBef>
                <a:spcPts val="370"/>
              </a:spcBef>
            </a:pPr>
            <a:b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endParaRPr lang="ru-RU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22696B-AC06-7DDC-2F27-5924E3CE0A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3" name="Rectangle 3">
            <a:extLst>
              <a:ext uri="{FF2B5EF4-FFF2-40B4-BE49-F238E27FC236}">
                <a16:creationId xmlns:a16="http://schemas.microsoft.com/office/drawing/2014/main" id="{E02F7BDB-315D-0351-36B9-F14E4240EA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116632"/>
            <a:ext cx="8964488" cy="7056784"/>
          </a:xfrm>
        </p:spPr>
        <p:txBody>
          <a:bodyPr/>
          <a:lstStyle/>
          <a:p>
            <a:pPr marL="0" marR="303530" indent="0" algn="just">
              <a:spcBef>
                <a:spcPts val="370"/>
              </a:spcBef>
              <a:buNone/>
            </a:pPr>
            <a:r>
              <a:rPr lang="ru-RU" sz="25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user5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r>
              <a:rPr lang="ru-RU" sz="2500" spc="-7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Если</a:t>
            </a:r>
            <a:r>
              <a:rPr lang="ru-RU" sz="2500" spc="-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бы пользователь </a:t>
            </a:r>
            <a:r>
              <a:rPr lang="ru-RU" sz="25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user5</a:t>
            </a:r>
            <a:r>
              <a:rPr lang="ru-RU" sz="2500" spc="-165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не предоставил данной привилегии пользователю </a:t>
            </a:r>
            <a:r>
              <a:rPr lang="ru-RU" sz="25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user3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то удаление привилегии пользователя</a:t>
            </a:r>
            <a:r>
              <a:rPr lang="ru-RU" sz="2500" spc="-7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user2</a:t>
            </a:r>
            <a:r>
              <a:rPr lang="ru-RU" sz="2500" spc="-165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имело</a:t>
            </a:r>
            <a:r>
              <a:rPr lang="ru-RU" sz="25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бы следствием каскадное удаление привилегий для пользователей </a:t>
            </a:r>
            <a:r>
              <a:rPr lang="ru-RU" sz="25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user3</a:t>
            </a:r>
            <a:r>
              <a:rPr lang="ru-RU" sz="2500" spc="-225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 </a:t>
            </a:r>
            <a:r>
              <a:rPr lang="ru-RU" sz="25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user4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pPr marL="0" marR="302895" indent="0" algn="just">
              <a:buNone/>
            </a:pP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Разрешения, предоставленные роли или группе, наследуются их членами. Хотя пользователю может быть предоставлен доступ через членство в одной роли, роль другого уровня может иметь запрещение на действие с объектом. В таком случае возникает конфликт доступа.</a:t>
            </a:r>
          </a:p>
          <a:p>
            <a:pPr marL="0" marR="301625" indent="0" algn="just">
              <a:spcBef>
                <a:spcPts val="0"/>
              </a:spcBef>
              <a:buNone/>
            </a:pP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При разрешении конфликтов доступа руководствуются следующим принципом: </a:t>
            </a:r>
            <a:r>
              <a:rPr lang="ru-RU" sz="2500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разрешение на предоставление доступа имеет самый низкий приоритет,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а </a:t>
            </a:r>
            <a:r>
              <a:rPr lang="ru-RU" sz="2500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на запрещение доступа – самый высокий.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Это значит, что доступ к данным может быть получен только явным</a:t>
            </a:r>
            <a:r>
              <a:rPr lang="ru-RU" sz="2500" spc="-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его</a:t>
            </a:r>
            <a:r>
              <a:rPr lang="ru-RU" sz="2500" spc="-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предоставлением</a:t>
            </a:r>
            <a:r>
              <a:rPr lang="ru-RU" sz="2500" spc="-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при</a:t>
            </a:r>
            <a:r>
              <a:rPr lang="ru-RU" sz="2500" spc="-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отсутствии</a:t>
            </a:r>
            <a:r>
              <a:rPr lang="ru-RU" sz="2500" spc="-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запрещения</a:t>
            </a:r>
            <a:r>
              <a:rPr lang="ru-RU" sz="2500" spc="-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доступа</a:t>
            </a:r>
            <a:r>
              <a:rPr lang="ru-RU" sz="2500" spc="-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на любом другом уровне иерархии системы безопасности.</a:t>
            </a:r>
          </a:p>
          <a:p>
            <a:pPr marL="0" indent="0" algn="just">
              <a:spcBef>
                <a:spcPts val="0"/>
              </a:spcBef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7295566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15605</TotalTime>
  <Words>2640</Words>
  <Application>Microsoft Office PowerPoint</Application>
  <PresentationFormat>Экран (4:3)</PresentationFormat>
  <Paragraphs>131</Paragraphs>
  <Slides>25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25</vt:i4>
      </vt:variant>
    </vt:vector>
  </HeadingPairs>
  <TitlesOfParts>
    <vt:vector size="33" baseType="lpstr">
      <vt:lpstr>Arial</vt:lpstr>
      <vt:lpstr>Calibri</vt:lpstr>
      <vt:lpstr>Cambria</vt:lpstr>
      <vt:lpstr>Courier New</vt:lpstr>
      <vt:lpstr>Helvetica</vt:lpstr>
      <vt:lpstr>Symbol</vt:lpstr>
      <vt:lpstr>Times New Roman</vt:lpstr>
      <vt:lpstr>Тема Office</vt:lpstr>
      <vt:lpstr>  Лекция 8 Методы дискреционного разграничения доступа  1 Реализация модели дискреционного управления доступом в СУБД 2 Предоставление системных привилегий 3 Предоставление привилегий доступа к объекту 4 Отмена привилегий   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*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Основные понятия и определения в области информационной безопасности</dc:title>
  <dc:creator>Марина</dc:creator>
  <dc:description>Методы дискреционного разграничения доступа_x000b__x000b_1 Реализация модели дискреционного управления доступом в СУБД_x000b_2 Предоставление системных привилегий_x000b_3 Предоставление привилегий доступа к объекту_x000b_4 Отмена привилегий</dc:description>
  <cp:lastModifiedBy>Алексей</cp:lastModifiedBy>
  <cp:revision>367</cp:revision>
  <dcterms:created xsi:type="dcterms:W3CDTF">2013-02-04T18:05:09Z</dcterms:created>
  <dcterms:modified xsi:type="dcterms:W3CDTF">2025-10-19T07:14:30Z</dcterms:modified>
</cp:coreProperties>
</file>