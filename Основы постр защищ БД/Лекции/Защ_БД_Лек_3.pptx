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22" r:id="rId2"/>
    <p:sldId id="321" r:id="rId3"/>
    <p:sldId id="323" r:id="rId4"/>
    <p:sldId id="324" r:id="rId5"/>
    <p:sldId id="325" r:id="rId6"/>
    <p:sldId id="299" r:id="rId7"/>
    <p:sldId id="297" r:id="rId8"/>
    <p:sldId id="312" r:id="rId9"/>
    <p:sldId id="300" r:id="rId10"/>
    <p:sldId id="301" r:id="rId11"/>
    <p:sldId id="302" r:id="rId12"/>
    <p:sldId id="320" r:id="rId13"/>
    <p:sldId id="303" r:id="rId14"/>
    <p:sldId id="304" r:id="rId15"/>
    <p:sldId id="311" r:id="rId16"/>
    <p:sldId id="305" r:id="rId17"/>
    <p:sldId id="306" r:id="rId18"/>
    <p:sldId id="307" r:id="rId19"/>
    <p:sldId id="308" r:id="rId20"/>
    <p:sldId id="309" r:id="rId21"/>
    <p:sldId id="310" r:id="rId22"/>
    <p:sldId id="313" r:id="rId23"/>
    <p:sldId id="314" r:id="rId24"/>
    <p:sldId id="315" r:id="rId25"/>
    <p:sldId id="316" r:id="rId26"/>
    <p:sldId id="317" r:id="rId27"/>
    <p:sldId id="318" r:id="rId28"/>
    <p:sldId id="319" r:id="rId29"/>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530" autoAdjust="0"/>
  </p:normalViewPr>
  <p:slideViewPr>
    <p:cSldViewPr>
      <p:cViewPr>
        <p:scale>
          <a:sx n="60" d="100"/>
          <a:sy n="60" d="100"/>
        </p:scale>
        <p:origin x="1686" y="-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ADCFCD-624C-46CB-B296-321CFCDD592D}" type="datetimeFigureOut">
              <a:rPr lang="ru-RU" smtClean="0"/>
              <a:t>14.09.2025</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32B78-96D7-46BF-8914-49F28A1DBD33}" type="slidenum">
              <a:rPr lang="ru-RU" smtClean="0"/>
              <a:t>‹#›</a:t>
            </a:fld>
            <a:endParaRPr lang="ru-RU"/>
          </a:p>
        </p:txBody>
      </p:sp>
    </p:spTree>
    <p:extLst>
      <p:ext uri="{BB962C8B-B14F-4D97-AF65-F5344CB8AC3E}">
        <p14:creationId xmlns:p14="http://schemas.microsoft.com/office/powerpoint/2010/main" val="832760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18632B78-96D7-46BF-8914-49F28A1DBD33}" type="slidenum">
              <a:rPr lang="ru-RU" smtClean="0"/>
              <a:t>10</a:t>
            </a:fld>
            <a:endParaRPr lang="ru-RU"/>
          </a:p>
        </p:txBody>
      </p:sp>
    </p:spTree>
    <p:extLst>
      <p:ext uri="{BB962C8B-B14F-4D97-AF65-F5344CB8AC3E}">
        <p14:creationId xmlns:p14="http://schemas.microsoft.com/office/powerpoint/2010/main" val="3240507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18632B78-96D7-46BF-8914-49F28A1DBD33}" type="slidenum">
              <a:rPr lang="ru-RU" smtClean="0"/>
              <a:t>11</a:t>
            </a:fld>
            <a:endParaRPr lang="ru-RU"/>
          </a:p>
        </p:txBody>
      </p:sp>
    </p:spTree>
    <p:extLst>
      <p:ext uri="{BB962C8B-B14F-4D97-AF65-F5344CB8AC3E}">
        <p14:creationId xmlns:p14="http://schemas.microsoft.com/office/powerpoint/2010/main" val="471317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18632B78-96D7-46BF-8914-49F28A1DBD33}" type="slidenum">
              <a:rPr lang="ru-RU" smtClean="0"/>
              <a:t>19</a:t>
            </a:fld>
            <a:endParaRPr lang="ru-RU"/>
          </a:p>
        </p:txBody>
      </p:sp>
    </p:spTree>
    <p:extLst>
      <p:ext uri="{BB962C8B-B14F-4D97-AF65-F5344CB8AC3E}">
        <p14:creationId xmlns:p14="http://schemas.microsoft.com/office/powerpoint/2010/main" val="1945048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18632B78-96D7-46BF-8914-49F28A1DBD33}" type="slidenum">
              <a:rPr lang="ru-RU" smtClean="0"/>
              <a:t>21</a:t>
            </a:fld>
            <a:endParaRPr lang="ru-RU"/>
          </a:p>
        </p:txBody>
      </p:sp>
    </p:spTree>
    <p:extLst>
      <p:ext uri="{BB962C8B-B14F-4D97-AF65-F5344CB8AC3E}">
        <p14:creationId xmlns:p14="http://schemas.microsoft.com/office/powerpoint/2010/main" val="2202615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lvl1pPr>
              <a:defRPr/>
            </a:lvl1pPr>
          </a:lstStyle>
          <a:p>
            <a:pPr>
              <a:defRPr/>
            </a:pPr>
            <a:fld id="{C257B83E-89B6-4219-BF87-7529AD0C6C87}" type="datetimeFigureOut">
              <a:rPr lang="ru-RU"/>
              <a:pPr>
                <a:defRPr/>
              </a:pPr>
              <a:t>14.09.2025</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A2E8D8B0-E8CE-47F4-9E84-C91982F6FE25}" type="slidenum">
              <a:rPr lang="ru-RU"/>
              <a:pPr>
                <a:defRPr/>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lvl1pPr>
          </a:lstStyle>
          <a:p>
            <a:pPr>
              <a:defRPr/>
            </a:pPr>
            <a:fld id="{4BCD223D-52D0-454B-8A3C-7005BF6D46BA}" type="datetimeFigureOut">
              <a:rPr lang="ru-RU"/>
              <a:pPr>
                <a:defRPr/>
              </a:pPr>
              <a:t>14.09.2025</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26B31C54-36C6-4FAF-B4D7-FB6AB5B168FA}" type="slidenum">
              <a:rPr lang="ru-RU"/>
              <a:pPr>
                <a:defRPr/>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lvl1pPr>
              <a:defRPr/>
            </a:lvl1pPr>
          </a:lstStyle>
          <a:p>
            <a:pPr>
              <a:defRPr/>
            </a:pPr>
            <a:fld id="{75A5F859-55F1-4D4C-A012-509E1096357C}" type="datetimeFigureOut">
              <a:rPr lang="ru-RU"/>
              <a:pPr>
                <a:defRPr/>
              </a:pPr>
              <a:t>14.09.2025</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06D06DA6-85DF-41EE-B567-E5F810D14457}" type="slidenum">
              <a:rPr lang="ru-RU"/>
              <a:pPr>
                <a:defRPr/>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3"/>
          <p:cNvSpPr>
            <a:spLocks noGrp="1"/>
          </p:cNvSpPr>
          <p:nvPr>
            <p:ph type="dt" sz="half" idx="10"/>
          </p:nvPr>
        </p:nvSpPr>
        <p:spPr/>
        <p:txBody>
          <a:bodyPr/>
          <a:lstStyle>
            <a:lvl1pPr>
              <a:defRPr/>
            </a:lvl1pPr>
          </a:lstStyle>
          <a:p>
            <a:pPr>
              <a:defRPr/>
            </a:pPr>
            <a:fld id="{0337C992-A112-4A99-8FCC-9E199C84E769}" type="datetimeFigureOut">
              <a:rPr lang="ru-RU"/>
              <a:pPr>
                <a:defRPr/>
              </a:pPr>
              <a:t>14.09.2025</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44C7B5FC-EE2B-4CC9-9BBD-2EB5625FE57A}" type="slidenum">
              <a:rPr lang="ru-RU"/>
              <a:pPr>
                <a:defRPr/>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3"/>
          <p:cNvSpPr>
            <a:spLocks noGrp="1"/>
          </p:cNvSpPr>
          <p:nvPr>
            <p:ph type="dt" sz="half" idx="10"/>
          </p:nvPr>
        </p:nvSpPr>
        <p:spPr/>
        <p:txBody>
          <a:bodyPr/>
          <a:lstStyle>
            <a:lvl1pPr>
              <a:defRPr/>
            </a:lvl1pPr>
          </a:lstStyle>
          <a:p>
            <a:pPr>
              <a:defRPr/>
            </a:pPr>
            <a:fld id="{58AEDD4C-0A06-4AA1-A776-F6E4452F976C}" type="datetimeFigureOut">
              <a:rPr lang="ru-RU"/>
              <a:pPr>
                <a:defRPr/>
              </a:pPr>
              <a:t>14.09.2025</a:t>
            </a:fld>
            <a:endParaRPr lang="ru-RU"/>
          </a:p>
        </p:txBody>
      </p:sp>
      <p:sp>
        <p:nvSpPr>
          <p:cNvPr id="8" name="Нижний колонтитул 4"/>
          <p:cNvSpPr>
            <a:spLocks noGrp="1"/>
          </p:cNvSpPr>
          <p:nvPr>
            <p:ph type="ftr" sz="quarter" idx="11"/>
          </p:nvPr>
        </p:nvSpPr>
        <p:spPr/>
        <p:txBody>
          <a:bodyPr/>
          <a:lstStyle>
            <a:lvl1pPr>
              <a:defRPr/>
            </a:lvl1pPr>
          </a:lstStyle>
          <a:p>
            <a:pPr>
              <a:defRPr/>
            </a:pPr>
            <a:endParaRPr lang="ru-RU"/>
          </a:p>
        </p:txBody>
      </p:sp>
      <p:sp>
        <p:nvSpPr>
          <p:cNvPr id="9" name="Номер слайда 5"/>
          <p:cNvSpPr>
            <a:spLocks noGrp="1"/>
          </p:cNvSpPr>
          <p:nvPr>
            <p:ph type="sldNum" sz="quarter" idx="12"/>
          </p:nvPr>
        </p:nvSpPr>
        <p:spPr/>
        <p:txBody>
          <a:bodyPr/>
          <a:lstStyle>
            <a:lvl1pPr>
              <a:defRPr/>
            </a:lvl1pPr>
          </a:lstStyle>
          <a:p>
            <a:pPr>
              <a:defRPr/>
            </a:pPr>
            <a:fld id="{92C40005-CC87-4B15-9632-BAD0E57F2B71}" type="slidenum">
              <a:rPr lang="ru-RU"/>
              <a:pPr>
                <a:defRPr/>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3"/>
          <p:cNvSpPr>
            <a:spLocks noGrp="1"/>
          </p:cNvSpPr>
          <p:nvPr>
            <p:ph type="dt" sz="half" idx="10"/>
          </p:nvPr>
        </p:nvSpPr>
        <p:spPr/>
        <p:txBody>
          <a:bodyPr/>
          <a:lstStyle>
            <a:lvl1pPr>
              <a:defRPr/>
            </a:lvl1pPr>
          </a:lstStyle>
          <a:p>
            <a:pPr>
              <a:defRPr/>
            </a:pPr>
            <a:fld id="{40DB19AA-4753-447B-A4F2-BC874F559128}" type="datetimeFigureOut">
              <a:rPr lang="ru-RU"/>
              <a:pPr>
                <a:defRPr/>
              </a:pPr>
              <a:t>14.09.2025</a:t>
            </a:fld>
            <a:endParaRPr lang="ru-RU"/>
          </a:p>
        </p:txBody>
      </p:sp>
      <p:sp>
        <p:nvSpPr>
          <p:cNvPr id="4" name="Нижний колонтитул 4"/>
          <p:cNvSpPr>
            <a:spLocks noGrp="1"/>
          </p:cNvSpPr>
          <p:nvPr>
            <p:ph type="ftr" sz="quarter" idx="11"/>
          </p:nvPr>
        </p:nvSpPr>
        <p:spPr/>
        <p:txBody>
          <a:bodyPr/>
          <a:lstStyle>
            <a:lvl1pPr>
              <a:defRPr/>
            </a:lvl1pPr>
          </a:lstStyle>
          <a:p>
            <a:pPr>
              <a:defRPr/>
            </a:pPr>
            <a:endParaRPr lang="ru-RU"/>
          </a:p>
        </p:txBody>
      </p:sp>
      <p:sp>
        <p:nvSpPr>
          <p:cNvPr id="5" name="Номер слайда 5"/>
          <p:cNvSpPr>
            <a:spLocks noGrp="1"/>
          </p:cNvSpPr>
          <p:nvPr>
            <p:ph type="sldNum" sz="quarter" idx="12"/>
          </p:nvPr>
        </p:nvSpPr>
        <p:spPr/>
        <p:txBody>
          <a:bodyPr/>
          <a:lstStyle>
            <a:lvl1pPr>
              <a:defRPr/>
            </a:lvl1pPr>
          </a:lstStyle>
          <a:p>
            <a:pPr>
              <a:defRPr/>
            </a:pPr>
            <a:fld id="{74C91F2D-58F0-49BD-958C-20072085558C}" type="slidenum">
              <a:rPr lang="ru-RU"/>
              <a:pPr>
                <a:defRPr/>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3"/>
          <p:cNvSpPr>
            <a:spLocks noGrp="1"/>
          </p:cNvSpPr>
          <p:nvPr>
            <p:ph type="dt" sz="half" idx="10"/>
          </p:nvPr>
        </p:nvSpPr>
        <p:spPr/>
        <p:txBody>
          <a:bodyPr/>
          <a:lstStyle>
            <a:lvl1pPr>
              <a:defRPr/>
            </a:lvl1pPr>
          </a:lstStyle>
          <a:p>
            <a:pPr>
              <a:defRPr/>
            </a:pPr>
            <a:fld id="{9E9189E0-E272-4B64-AD19-E5766F84BB3A}" type="datetimeFigureOut">
              <a:rPr lang="ru-RU"/>
              <a:pPr>
                <a:defRPr/>
              </a:pPr>
              <a:t>14.09.2025</a:t>
            </a:fld>
            <a:endParaRPr lang="ru-RU"/>
          </a:p>
        </p:txBody>
      </p:sp>
      <p:sp>
        <p:nvSpPr>
          <p:cNvPr id="3" name="Нижний колонтитул 4"/>
          <p:cNvSpPr>
            <a:spLocks noGrp="1"/>
          </p:cNvSpPr>
          <p:nvPr>
            <p:ph type="ftr" sz="quarter" idx="11"/>
          </p:nvPr>
        </p:nvSpPr>
        <p:spPr/>
        <p:txBody>
          <a:bodyPr/>
          <a:lstStyle>
            <a:lvl1pPr>
              <a:defRPr/>
            </a:lvl1pPr>
          </a:lstStyle>
          <a:p>
            <a:pPr>
              <a:defRPr/>
            </a:pPr>
            <a:endParaRPr lang="ru-RU"/>
          </a:p>
        </p:txBody>
      </p:sp>
      <p:sp>
        <p:nvSpPr>
          <p:cNvPr id="4" name="Номер слайда 5"/>
          <p:cNvSpPr>
            <a:spLocks noGrp="1"/>
          </p:cNvSpPr>
          <p:nvPr>
            <p:ph type="sldNum" sz="quarter" idx="12"/>
          </p:nvPr>
        </p:nvSpPr>
        <p:spPr/>
        <p:txBody>
          <a:bodyPr/>
          <a:lstStyle>
            <a:lvl1pPr>
              <a:defRPr/>
            </a:lvl1pPr>
          </a:lstStyle>
          <a:p>
            <a:pPr>
              <a:defRPr/>
            </a:pPr>
            <a:fld id="{2EB25A93-5571-4D0E-95F4-D42D2A541D0F}" type="slidenum">
              <a:rPr lang="ru-RU"/>
              <a:pPr>
                <a:defRPr/>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3"/>
          <p:cNvSpPr>
            <a:spLocks noGrp="1"/>
          </p:cNvSpPr>
          <p:nvPr>
            <p:ph type="dt" sz="half" idx="10"/>
          </p:nvPr>
        </p:nvSpPr>
        <p:spPr/>
        <p:txBody>
          <a:bodyPr/>
          <a:lstStyle>
            <a:lvl1pPr>
              <a:defRPr/>
            </a:lvl1pPr>
          </a:lstStyle>
          <a:p>
            <a:pPr>
              <a:defRPr/>
            </a:pPr>
            <a:fld id="{EA3F0F59-934F-4AA1-94E4-4CD406483BC5}" type="datetimeFigureOut">
              <a:rPr lang="ru-RU"/>
              <a:pPr>
                <a:defRPr/>
              </a:pPr>
              <a:t>14.09.2025</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A5A011C6-6047-4248-AD70-7F6A6C504C19}" type="slidenum">
              <a:rPr lang="ru-RU"/>
              <a:pPr>
                <a:defRPr/>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3"/>
          <p:cNvSpPr>
            <a:spLocks noGrp="1"/>
          </p:cNvSpPr>
          <p:nvPr>
            <p:ph type="dt" sz="half" idx="10"/>
          </p:nvPr>
        </p:nvSpPr>
        <p:spPr/>
        <p:txBody>
          <a:bodyPr/>
          <a:lstStyle>
            <a:lvl1pPr>
              <a:defRPr/>
            </a:lvl1pPr>
          </a:lstStyle>
          <a:p>
            <a:pPr>
              <a:defRPr/>
            </a:pPr>
            <a:fld id="{790A09DA-2DD2-416E-92C9-55AB2324AF4E}" type="datetimeFigureOut">
              <a:rPr lang="ru-RU"/>
              <a:pPr>
                <a:defRPr/>
              </a:pPr>
              <a:t>14.09.2025</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D207CC22-513C-4212-96B6-6948D0B0F301}" type="slidenum">
              <a:rPr lang="ru-RU"/>
              <a:pPr>
                <a:defRPr/>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lvl1pPr>
          </a:lstStyle>
          <a:p>
            <a:pPr>
              <a:defRPr/>
            </a:pPr>
            <a:fld id="{EDDB4FAB-08C6-438F-9A97-FA3D70DE0926}" type="datetimeFigureOut">
              <a:rPr lang="ru-RU"/>
              <a:pPr>
                <a:defRPr/>
              </a:pPr>
              <a:t>14.09.2025</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8E9FAF17-A4D8-4288-BD27-EF208B0589C6}" type="slidenum">
              <a:rPr lang="ru-RU"/>
              <a:pPr>
                <a:defRPr/>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lvl1pPr>
          </a:lstStyle>
          <a:p>
            <a:pPr>
              <a:defRPr/>
            </a:pPr>
            <a:fld id="{BF3E32C7-ACD9-496A-A7A0-28EBC05CAD79}" type="datetimeFigureOut">
              <a:rPr lang="ru-RU"/>
              <a:pPr>
                <a:defRPr/>
              </a:pPr>
              <a:t>14.09.2025</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02BCAD07-7381-4FC1-9683-1CDE49BC4E3B}" type="slidenum">
              <a:rPr lang="ru-RU"/>
              <a:pPr>
                <a:defRPr/>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Заголовок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1027" name="Текст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A6FC1E4-7E55-406F-9484-5BBA316FBA48}" type="datetimeFigureOut">
              <a:rPr lang="ru-RU"/>
              <a:pPr>
                <a:defRPr/>
              </a:pPr>
              <a:t>14.09.2025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D6FA8D75-543B-4D8A-934A-603AA0E11D6C}"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php?id=9999+union+select+null,USER(),null/*" TargetMode="External"/><Relationship Id="rId2" Type="http://schemas.openxmlformats.org/officeDocument/2006/relationships/hyperlink" Target="http://.../php?id=9999+union+select+null,DATABASE(),null/*" TargetMode="External"/><Relationship Id="rId1" Type="http://schemas.openxmlformats.org/officeDocument/2006/relationships/slideLayout" Target="../slideLayouts/slideLayout2.xml"/><Relationship Id="rId4" Type="http://schemas.openxmlformats.org/officeDocument/2006/relationships/hyperlink" Target="http://.../php?id=9999+union+select+null,VERSION(),nul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D7F55A-A58E-E18B-2BA2-E4C059A6FE15}"/>
              </a:ext>
            </a:extLst>
          </p:cNvPr>
          <p:cNvSpPr>
            <a:spLocks noGrp="1"/>
          </p:cNvSpPr>
          <p:nvPr>
            <p:ph type="ctrTitle"/>
          </p:nvPr>
        </p:nvSpPr>
        <p:spPr>
          <a:xfrm>
            <a:off x="685800" y="692697"/>
            <a:ext cx="7772400" cy="1440159"/>
          </a:xfrm>
        </p:spPr>
        <p:txBody>
          <a:bodyPr/>
          <a:lstStyle/>
          <a:p>
            <a:r>
              <a:rPr lang="ru-RU" sz="4000" b="1" spc="120" dirty="0">
                <a:latin typeface="Times New Roman" panose="02020603050405020304" pitchFamily="18" charset="0"/>
                <a:cs typeface="Times New Roman" panose="02020603050405020304" pitchFamily="18" charset="0"/>
              </a:rPr>
              <a:t>Лекция 3</a:t>
            </a:r>
            <a:br>
              <a:rPr lang="ru-RU" sz="4000" b="1" spc="120" dirty="0">
                <a:latin typeface="Times New Roman" panose="02020603050405020304" pitchFamily="18" charset="0"/>
                <a:cs typeface="Times New Roman" panose="02020603050405020304" pitchFamily="18" charset="0"/>
              </a:rPr>
            </a:br>
            <a:r>
              <a:rPr lang="ru-RU" sz="4000" b="1" spc="120" dirty="0">
                <a:latin typeface="Times New Roman" panose="02020603050405020304" pitchFamily="18" charset="0"/>
                <a:cs typeface="Times New Roman" panose="02020603050405020304" pitchFamily="18" charset="0"/>
              </a:rPr>
              <a:t> </a:t>
            </a:r>
            <a:r>
              <a:rPr lang="ru-RU" b="1" spc="115" dirty="0">
                <a:latin typeface="Times New Roman" panose="02020603050405020304" pitchFamily="18" charset="0"/>
                <a:ea typeface="Times New Roman" panose="02020603050405020304" pitchFamily="18" charset="0"/>
              </a:rPr>
              <a:t>Атаки </a:t>
            </a:r>
            <a:r>
              <a:rPr lang="ru-RU" b="1" dirty="0">
                <a:latin typeface="Times New Roman" panose="02020603050405020304" pitchFamily="18" charset="0"/>
                <a:ea typeface="Times New Roman" panose="02020603050405020304" pitchFamily="18" charset="0"/>
              </a:rPr>
              <a:t>на </a:t>
            </a:r>
            <a:r>
              <a:rPr lang="ru-RU" b="1" spc="65" dirty="0">
                <a:latin typeface="Times New Roman" panose="02020603050405020304" pitchFamily="18" charset="0"/>
                <a:ea typeface="Times New Roman" panose="02020603050405020304" pitchFamily="18" charset="0"/>
              </a:rPr>
              <a:t>базы данных</a:t>
            </a:r>
            <a:endParaRPr lang="ru-RU" dirty="0"/>
          </a:p>
        </p:txBody>
      </p:sp>
      <p:sp>
        <p:nvSpPr>
          <p:cNvPr id="3" name="Подзаголовок 2">
            <a:extLst>
              <a:ext uri="{FF2B5EF4-FFF2-40B4-BE49-F238E27FC236}">
                <a16:creationId xmlns:a16="http://schemas.microsoft.com/office/drawing/2014/main" id="{C4F65344-7CC9-A9B9-DC11-1B5A395D9B69}"/>
              </a:ext>
            </a:extLst>
          </p:cNvPr>
          <p:cNvSpPr>
            <a:spLocks noGrp="1"/>
          </p:cNvSpPr>
          <p:nvPr>
            <p:ph type="subTitle" idx="1"/>
          </p:nvPr>
        </p:nvSpPr>
        <p:spPr>
          <a:xfrm>
            <a:off x="0" y="2132855"/>
            <a:ext cx="9144000" cy="4032447"/>
          </a:xfrm>
        </p:spPr>
        <p:txBody>
          <a:bodyPr/>
          <a:lstStyle/>
          <a:p>
            <a:pPr algn="l"/>
            <a:br>
              <a:rPr lang="ru-RU" sz="2800" b="1" spc="65" dirty="0">
                <a:latin typeface="Times New Roman" panose="02020603050405020304" pitchFamily="18" charset="0"/>
                <a:ea typeface="Times New Roman" panose="02020603050405020304" pitchFamily="18" charset="0"/>
              </a:rPr>
            </a:br>
            <a:r>
              <a:rPr lang="ru-RU" sz="2800" b="1" spc="-60" dirty="0">
                <a:solidFill>
                  <a:schemeClr val="tx1"/>
                </a:solidFill>
                <a:latin typeface="Times New Roman" panose="02020603050405020304" pitchFamily="18" charset="0"/>
              </a:rPr>
              <a:t>1. Подбор и манипуляция с паролями как метод реализации несанкционированных прав</a:t>
            </a:r>
            <a:br>
              <a:rPr lang="ru-RU" sz="2800" b="1" spc="-60" dirty="0">
                <a:solidFill>
                  <a:schemeClr val="tx1"/>
                </a:solidFill>
                <a:latin typeface="Times New Roman" panose="02020603050405020304" pitchFamily="18" charset="0"/>
              </a:rPr>
            </a:br>
            <a:r>
              <a:rPr lang="ru-RU" sz="2800" b="1" strike="sngStrike" spc="50" dirty="0">
                <a:solidFill>
                  <a:schemeClr val="tx1"/>
                </a:solidFill>
                <a:latin typeface="Times New Roman" panose="02020603050405020304" pitchFamily="18" charset="0"/>
                <a:ea typeface="Times New Roman" panose="02020603050405020304" pitchFamily="18" charset="0"/>
              </a:rPr>
              <a:t> </a:t>
            </a:r>
            <a:r>
              <a:rPr lang="ru-RU" sz="2800" b="1" dirty="0">
                <a:solidFill>
                  <a:schemeClr val="tx1"/>
                </a:solidFill>
                <a:latin typeface="Times New Roman" panose="02020603050405020304" pitchFamily="18" charset="0"/>
                <a:ea typeface="Times New Roman" panose="02020603050405020304" pitchFamily="18" charset="0"/>
              </a:rPr>
              <a:t>2</a:t>
            </a:r>
            <a:r>
              <a:rPr lang="ru-RU" sz="2800" dirty="0">
                <a:solidFill>
                  <a:schemeClr val="tx1"/>
                </a:solidFill>
                <a:latin typeface="Times New Roman" panose="02020603050405020304" pitchFamily="18" charset="0"/>
                <a:ea typeface="Times New Roman" panose="02020603050405020304" pitchFamily="18" charset="0"/>
              </a:rPr>
              <a:t>.</a:t>
            </a:r>
            <a:r>
              <a:rPr lang="ru-RU" sz="2800" b="1" spc="50" dirty="0">
                <a:solidFill>
                  <a:schemeClr val="tx1"/>
                </a:solidFill>
                <a:latin typeface="Times New Roman" panose="02020603050405020304" pitchFamily="18" charset="0"/>
                <a:ea typeface="Times New Roman" panose="02020603050405020304" pitchFamily="18" charset="0"/>
              </a:rPr>
              <a:t> </a:t>
            </a:r>
            <a:r>
              <a:rPr lang="ru-RU" sz="2800" b="1" spc="-60" dirty="0">
                <a:solidFill>
                  <a:schemeClr val="tx1"/>
                </a:solidFill>
                <a:latin typeface="Times New Roman" panose="02020603050405020304" pitchFamily="18" charset="0"/>
                <a:ea typeface="Times New Roman" panose="02020603050405020304" pitchFamily="18" charset="0"/>
              </a:rPr>
              <a:t>Нецелевое расходование вычислительных ресурсов сервера</a:t>
            </a:r>
            <a:br>
              <a:rPr lang="ru-RU" sz="2800" b="1" spc="-60" dirty="0">
                <a:solidFill>
                  <a:schemeClr val="tx1"/>
                </a:solidFill>
                <a:latin typeface="Times New Roman" panose="02020603050405020304" pitchFamily="18" charset="0"/>
                <a:ea typeface="Times New Roman" panose="02020603050405020304" pitchFamily="18" charset="0"/>
              </a:rPr>
            </a:br>
            <a:r>
              <a:rPr lang="ru-RU" sz="2800" b="1" spc="-60" dirty="0">
                <a:solidFill>
                  <a:schemeClr val="tx1"/>
                </a:solidFill>
                <a:latin typeface="Times New Roman" panose="02020603050405020304" pitchFamily="18" charset="0"/>
                <a:ea typeface="Times New Roman" panose="02020603050405020304" pitchFamily="18" charset="0"/>
              </a:rPr>
              <a:t>3. Использование триггеров </a:t>
            </a:r>
            <a:r>
              <a:rPr lang="ru-RU" sz="2800" b="1" spc="-60" dirty="0">
                <a:solidFill>
                  <a:schemeClr val="tx1"/>
                </a:solidFill>
                <a:latin typeface="Times New Roman" panose="02020603050405020304" pitchFamily="18" charset="0"/>
              </a:rPr>
              <a:t>для</a:t>
            </a:r>
            <a:r>
              <a:rPr lang="ru-RU" sz="2800" spc="-60" dirty="0">
                <a:solidFill>
                  <a:schemeClr val="tx1"/>
                </a:solidFill>
                <a:latin typeface="Times New Roman" panose="02020603050405020304" pitchFamily="18" charset="0"/>
                <a:ea typeface="Times New Roman" panose="02020603050405020304" pitchFamily="18" charset="0"/>
              </a:rPr>
              <a:t> </a:t>
            </a:r>
            <a:r>
              <a:rPr lang="ru-RU" sz="2800" b="1" spc="-60" dirty="0">
                <a:solidFill>
                  <a:schemeClr val="tx1"/>
                </a:solidFill>
                <a:latin typeface="Times New Roman" panose="02020603050405020304" pitchFamily="18" charset="0"/>
                <a:ea typeface="Times New Roman" panose="02020603050405020304" pitchFamily="18" charset="0"/>
              </a:rPr>
              <a:t>выполнения незапланированных функций</a:t>
            </a:r>
            <a:br>
              <a:rPr lang="ru-RU" sz="2800" b="1" spc="-60" dirty="0">
                <a:solidFill>
                  <a:schemeClr val="tx1"/>
                </a:solidFill>
                <a:latin typeface="Times New Roman" panose="02020603050405020304" pitchFamily="18" charset="0"/>
                <a:ea typeface="Times New Roman" panose="02020603050405020304" pitchFamily="18" charset="0"/>
              </a:rPr>
            </a:br>
            <a:r>
              <a:rPr lang="ru-RU" sz="2800" b="1" spc="-60" dirty="0">
                <a:solidFill>
                  <a:schemeClr val="tx1"/>
                </a:solidFill>
                <a:latin typeface="Times New Roman" panose="02020603050405020304" pitchFamily="18" charset="0"/>
                <a:ea typeface="Times New Roman" panose="02020603050405020304" pitchFamily="18" charset="0"/>
              </a:rPr>
              <a:t>4. Использование </a:t>
            </a:r>
            <a:r>
              <a:rPr lang="ru-RU" sz="2800" b="1" spc="-60" dirty="0">
                <a:solidFill>
                  <a:schemeClr val="tx1"/>
                </a:solidFill>
                <a:latin typeface="Times New Roman" panose="02020603050405020304" pitchFamily="18" charset="0"/>
              </a:rPr>
              <a:t>SQL-инъекции для нештатного </a:t>
            </a:r>
            <a:r>
              <a:rPr lang="ru-RU" sz="2800" b="1" spc="-60" dirty="0">
                <a:solidFill>
                  <a:schemeClr val="tx1"/>
                </a:solidFill>
                <a:latin typeface="Times New Roman" panose="02020603050405020304" pitchFamily="18" charset="0"/>
                <a:ea typeface="Times New Roman" panose="02020603050405020304" pitchFamily="18" charset="0"/>
              </a:rPr>
              <a:t>использования процедур и функций</a:t>
            </a:r>
            <a:br>
              <a:rPr lang="ru-RU" sz="2800" b="1" spc="-60" dirty="0">
                <a:solidFill>
                  <a:schemeClr val="tx1"/>
                </a:solidFill>
                <a:latin typeface="Times New Roman" panose="02020603050405020304" pitchFamily="18" charset="0"/>
                <a:ea typeface="Times New Roman" panose="02020603050405020304" pitchFamily="18" charset="0"/>
              </a:rPr>
            </a:br>
            <a:endParaRPr lang="ru-RU" sz="2800" dirty="0">
              <a:solidFill>
                <a:schemeClr val="tx1"/>
              </a:solidFill>
            </a:endParaRPr>
          </a:p>
        </p:txBody>
      </p:sp>
    </p:spTree>
    <p:extLst>
      <p:ext uri="{BB962C8B-B14F-4D97-AF65-F5344CB8AC3E}">
        <p14:creationId xmlns:p14="http://schemas.microsoft.com/office/powerpoint/2010/main" val="2414606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97B2096-6118-2F07-669E-CC71EC595E89}"/>
              </a:ext>
            </a:extLst>
          </p:cNvPr>
          <p:cNvSpPr>
            <a:spLocks noGrp="1"/>
          </p:cNvSpPr>
          <p:nvPr>
            <p:ph idx="1"/>
          </p:nvPr>
        </p:nvSpPr>
        <p:spPr>
          <a:xfrm>
            <a:off x="179512" y="0"/>
            <a:ext cx="8856984" cy="6858000"/>
          </a:xfrm>
        </p:spPr>
        <p:txBody>
          <a:bodyPr/>
          <a:lstStyle/>
          <a:p>
            <a:pPr marL="0" indent="0" algn="ctr">
              <a:spcBef>
                <a:spcPts val="0"/>
              </a:spcBef>
              <a:buNone/>
            </a:pPr>
            <a:r>
              <a:rPr lang="ru-RU" sz="2500" b="1" dirty="0">
                <a:latin typeface="Times New Roman" panose="02020603050405020304" pitchFamily="18" charset="0"/>
                <a:cs typeface="Times New Roman" panose="02020603050405020304" pitchFamily="18" charset="0"/>
              </a:rPr>
              <a:t>1. Подбор и манипуляция с паролями как метод реализации несанкционированных прав</a:t>
            </a:r>
            <a:endParaRPr lang="ru-RU" sz="2500" dirty="0">
              <a:latin typeface="Times New Roman" panose="02020603050405020304" pitchFamily="18" charset="0"/>
              <a:cs typeface="Times New Roman" panose="02020603050405020304" pitchFamily="18" charset="0"/>
            </a:endParaRPr>
          </a:p>
          <a:p>
            <a:pPr marL="0" indent="0" algn="just">
              <a:spcBef>
                <a:spcPts val="0"/>
              </a:spcBef>
              <a:buNone/>
            </a:pPr>
            <a:r>
              <a:rPr lang="ru-RU" sz="2500" dirty="0">
                <a:latin typeface="Times New Roman" panose="02020603050405020304" pitchFamily="18" charset="0"/>
                <a:cs typeface="Times New Roman" panose="02020603050405020304" pitchFamily="18" charset="0"/>
              </a:rPr>
              <a:t>Особенность противостояния в сфере БД состоит в том, что СУБД—это программный комплекс, и, следовательно, для деструктивного воздействия на систему можно задействовать весь богатый арсенал разработок, используемых для взлома ОС. Исторически ОС, рассматриваемые как среды обработки данных, появились раньше СУБД и объективно более широко распространены. Поэтому именно ОС явились основным полигоном разработки и испытания технологий деструктивного воздействия на обрабатываемую информацию. Многие идеи и методы нарушения информационной безопасности БД были «портированы» из области операционных систем. Многие методы обеспечения конфиденциальности, целостности и доступности, применяемые в сфере защиты БД, имеют прототипы в технологиях, развиваемых для операционных систем.</a:t>
            </a:r>
          </a:p>
          <a:p>
            <a:endParaRPr lang="ru-RU" dirty="0"/>
          </a:p>
        </p:txBody>
      </p:sp>
    </p:spTree>
    <p:extLst>
      <p:ext uri="{BB962C8B-B14F-4D97-AF65-F5344CB8AC3E}">
        <p14:creationId xmlns:p14="http://schemas.microsoft.com/office/powerpoint/2010/main" val="6569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56591-286F-D0D7-F675-1541AA28CF6D}"/>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8F3E33BA-CCB5-3B86-909D-0D106C4D55C2}"/>
              </a:ext>
            </a:extLst>
          </p:cNvPr>
          <p:cNvSpPr>
            <a:spLocks noGrp="1"/>
          </p:cNvSpPr>
          <p:nvPr>
            <p:ph idx="1"/>
          </p:nvPr>
        </p:nvSpPr>
        <p:spPr>
          <a:xfrm>
            <a:off x="179512" y="0"/>
            <a:ext cx="8856984" cy="6858000"/>
          </a:xfrm>
        </p:spPr>
        <p:txBody>
          <a:bodyPr/>
          <a:lstStyle/>
          <a:p>
            <a:pPr marL="0" indent="0" algn="ctr">
              <a:spcBef>
                <a:spcPts val="0"/>
              </a:spcBef>
              <a:buNone/>
            </a:pPr>
            <a:endParaRPr lang="ru-RU" sz="2500" dirty="0">
              <a:latin typeface="Times New Roman" panose="02020603050405020304" pitchFamily="18" charset="0"/>
              <a:cs typeface="Times New Roman" panose="02020603050405020304" pitchFamily="18" charset="0"/>
            </a:endParaRPr>
          </a:p>
          <a:p>
            <a:pPr marL="0" indent="0">
              <a:buNone/>
            </a:pPr>
            <a:r>
              <a:rPr lang="ru-RU" sz="2500" dirty="0">
                <a:latin typeface="Times New Roman" panose="02020603050405020304" pitchFamily="18" charset="0"/>
                <a:cs typeface="Times New Roman" panose="02020603050405020304" pitchFamily="18" charset="0"/>
              </a:rPr>
              <a:t>Но проблеме обеспечения информационной безопасности баз данных присуща определенная специфика. </a:t>
            </a:r>
          </a:p>
          <a:p>
            <a:pPr marL="0" indent="0">
              <a:buNone/>
            </a:pPr>
            <a:r>
              <a:rPr lang="ru-RU" sz="2500" dirty="0">
                <a:latin typeface="Times New Roman" panose="02020603050405020304" pitchFamily="18" charset="0"/>
                <a:cs typeface="Times New Roman" panose="02020603050405020304" pitchFamily="18" charset="0"/>
              </a:rPr>
              <a:t>Источником дополнительных, специфических для баз данных, угроз являются:</a:t>
            </a:r>
          </a:p>
          <a:p>
            <a:r>
              <a:rPr lang="ru-RU" sz="2500" dirty="0">
                <a:latin typeface="Times New Roman" panose="02020603050405020304" pitchFamily="18" charset="0"/>
                <a:cs typeface="Times New Roman" panose="02020603050405020304" pitchFamily="18" charset="0"/>
              </a:rPr>
              <a:t>стандарт и реализация языка SQL — основного средства описания и обработки данных;</a:t>
            </a:r>
          </a:p>
          <a:p>
            <a:r>
              <a:rPr lang="ru-RU" sz="2500" dirty="0">
                <a:latin typeface="Times New Roman" panose="02020603050405020304" pitchFamily="18" charset="0"/>
                <a:cs typeface="Times New Roman" panose="02020603050405020304" pitchFamily="18" charset="0"/>
              </a:rPr>
              <a:t>обязательный интерфейс между СУБД и операционной системой, под управлением которой ведется обработка данных;</a:t>
            </a:r>
          </a:p>
          <a:p>
            <a:r>
              <a:rPr lang="ru-RU" sz="2500" dirty="0">
                <a:latin typeface="Times New Roman" panose="02020603050405020304" pitchFamily="18" charset="0"/>
                <a:cs typeface="Times New Roman" panose="02020603050405020304" pitchFamily="18" charset="0"/>
              </a:rPr>
              <a:t>протоколы сетевого взаимодействия на прикладном уровне, которые обеспечиваются средствами СУБД.</a:t>
            </a:r>
          </a:p>
          <a:p>
            <a:endParaRPr lang="ru-RU" dirty="0"/>
          </a:p>
        </p:txBody>
      </p:sp>
    </p:spTree>
    <p:extLst>
      <p:ext uri="{BB962C8B-B14F-4D97-AF65-F5344CB8AC3E}">
        <p14:creationId xmlns:p14="http://schemas.microsoft.com/office/powerpoint/2010/main" val="4113415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DED88-79FD-B2A4-920D-CAE2E8F42217}"/>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59904937-7D01-F719-F522-F2F7099610C8}"/>
              </a:ext>
            </a:extLst>
          </p:cNvPr>
          <p:cNvSpPr>
            <a:spLocks noGrp="1"/>
          </p:cNvSpPr>
          <p:nvPr>
            <p:ph idx="1"/>
          </p:nvPr>
        </p:nvSpPr>
        <p:spPr>
          <a:xfrm>
            <a:off x="179512" y="0"/>
            <a:ext cx="8856984" cy="6858000"/>
          </a:xfrm>
        </p:spPr>
        <p:txBody>
          <a:bodyPr/>
          <a:lstStyle/>
          <a:p>
            <a:pPr marL="0" indent="0">
              <a:spcBef>
                <a:spcPts val="0"/>
              </a:spcBef>
              <a:buNone/>
            </a:pPr>
            <a:r>
              <a:rPr lang="ru-RU" sz="2500" dirty="0">
                <a:latin typeface="Times New Roman" panose="02020603050405020304" pitchFamily="18" charset="0"/>
                <a:cs typeface="Times New Roman" panose="02020603050405020304" pitchFamily="18" charset="0"/>
              </a:rPr>
              <a:t>Любая система обработки данных, допускающая многопользовательский  режим  работы,  предусматривает  идентификацию</a:t>
            </a:r>
          </a:p>
          <a:p>
            <a:pPr marL="0" indent="0">
              <a:spcBef>
                <a:spcPts val="0"/>
              </a:spcBef>
              <a:buNone/>
            </a:pPr>
            <a:r>
              <a:rPr lang="ru-RU" sz="2500" dirty="0">
                <a:latin typeface="Times New Roman" panose="02020603050405020304" pitchFamily="18" charset="0"/>
                <a:cs typeface="Times New Roman" panose="02020603050405020304" pitchFamily="18" charset="0"/>
              </a:rPr>
              <a:t>и аутентификацию пользователей и процессов как обязательное предусловие предоставления доступа к ресурсам системы. Широко распространенной технологией аутентификации является использование паролей. Естественно ожидать, что технология подбора паролей также находится на достаточно высоком уровне развития. Можно выделить следующие методы подбора паролей пользователей.</a:t>
            </a:r>
          </a:p>
          <a:p>
            <a:pPr marL="0" lvl="0" indent="0">
              <a:spcBef>
                <a:spcPts val="0"/>
              </a:spcBef>
              <a:buNone/>
            </a:pPr>
            <a:r>
              <a:rPr lang="ru-RU" sz="2500" i="1" dirty="0">
                <a:latin typeface="Times New Roman" panose="02020603050405020304" pitchFamily="18" charset="0"/>
                <a:cs typeface="Times New Roman" panose="02020603050405020304" pitchFamily="18" charset="0"/>
              </a:rPr>
              <a:t>Тотальный перебор.</a:t>
            </a:r>
          </a:p>
          <a:p>
            <a:pPr marL="0" lvl="0" indent="0">
              <a:spcBef>
                <a:spcPts val="0"/>
              </a:spcBef>
              <a:buNone/>
            </a:pPr>
            <a:r>
              <a:rPr lang="ru-RU" sz="2500" i="1" dirty="0">
                <a:latin typeface="Times New Roman" panose="02020603050405020304" pitchFamily="18" charset="0"/>
                <a:cs typeface="Times New Roman" panose="02020603050405020304" pitchFamily="18" charset="0"/>
              </a:rPr>
              <a:t> Тотальный перебор, оптимизированный по статистике встречаемости символов. </a:t>
            </a:r>
          </a:p>
          <a:p>
            <a:pPr marL="0" indent="0">
              <a:buNone/>
            </a:pPr>
            <a:r>
              <a:rPr lang="ru-RU" sz="2500" i="1" dirty="0">
                <a:latin typeface="Times New Roman" panose="02020603050405020304" pitchFamily="18" charset="0"/>
                <a:cs typeface="Times New Roman" panose="02020603050405020304" pitchFamily="18" charset="0"/>
              </a:rPr>
              <a:t>Тотальный перебор, оптимизированный с помощью словарей. </a:t>
            </a:r>
          </a:p>
          <a:p>
            <a:pPr marL="0" indent="0">
              <a:buNone/>
            </a:pPr>
            <a:r>
              <a:rPr lang="ru-RU" sz="2500" i="1" dirty="0">
                <a:latin typeface="Times New Roman" panose="02020603050405020304" pitchFamily="18" charset="0"/>
                <a:cs typeface="Times New Roman" panose="02020603050405020304" pitchFamily="18" charset="0"/>
              </a:rPr>
              <a:t>Подбор пароля с использованием знаний о пользователе.</a:t>
            </a:r>
          </a:p>
          <a:p>
            <a:r>
              <a:rPr lang="ru-RU" i="1" dirty="0"/>
              <a:t> </a:t>
            </a:r>
            <a:endParaRPr lang="ru-RU"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569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64A3A-A22B-502C-7502-BDBAF73E7641}"/>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F3718B88-346D-0F01-F9D6-14E1264C8AC9}"/>
              </a:ext>
            </a:extLst>
          </p:cNvPr>
          <p:cNvSpPr>
            <a:spLocks noGrp="1"/>
          </p:cNvSpPr>
          <p:nvPr>
            <p:ph idx="1"/>
          </p:nvPr>
        </p:nvSpPr>
        <p:spPr>
          <a:xfrm>
            <a:off x="179512" y="0"/>
            <a:ext cx="8856984" cy="6858000"/>
          </a:xfrm>
        </p:spPr>
        <p:txBody>
          <a:bodyPr/>
          <a:lstStyle/>
          <a:p>
            <a:pPr marL="0" indent="0" algn="just">
              <a:spcBef>
                <a:spcPts val="0"/>
              </a:spcBef>
              <a:buNone/>
            </a:pPr>
            <a:r>
              <a:rPr lang="ru-RU" sz="2500" dirty="0">
                <a:latin typeface="Times New Roman" panose="02020603050405020304" pitchFamily="18" charset="0"/>
                <a:cs typeface="Times New Roman" panose="02020603050405020304" pitchFamily="18" charset="0"/>
              </a:rPr>
              <a:t>Базовые процедуры аутентификации на основе паролей в большинстве современных СУБД построены на сравнении вычисляемой значения хэш-функции от вводимого пароля с хранимым образом пароля, приписанного пользователю. Для вычисления образов паролей используются стандартные хэш- функции, поэтому их криптографические свойства не вызывают сомнения. Количество опробований (неуспешных попыток ввода) пароля устанавливается в профиле пользователя. </a:t>
            </a:r>
          </a:p>
          <a:p>
            <a:pPr marL="0" indent="0" algn="just">
              <a:spcBef>
                <a:spcPts val="0"/>
              </a:spcBef>
              <a:buNone/>
            </a:pPr>
            <a:r>
              <a:rPr lang="ru-RU" sz="2500" dirty="0">
                <a:latin typeface="Times New Roman" panose="02020603050405020304" pitchFamily="18" charset="0"/>
                <a:cs typeface="Times New Roman" panose="02020603050405020304" pitchFamily="18" charset="0"/>
              </a:rPr>
              <a:t>Наиболее слабым местом базовой процедуры аутентификации, видимо, является возможность доступа к образу пароля привилегированного пользователя. Если не используется процедура аутентификации средствами операционной системы, то образ пароля хранится в справочнике данных. В этом случае привилегированный пользователь может не только считать образ для организации подбора пароля, но и незаметно для пользователя временно подменить пароль и выполнить некоторые действия от чужого имени</a:t>
            </a:r>
          </a:p>
          <a:p>
            <a:endParaRPr lang="ru-RU" dirty="0"/>
          </a:p>
        </p:txBody>
      </p:sp>
    </p:spTree>
    <p:extLst>
      <p:ext uri="{BB962C8B-B14F-4D97-AF65-F5344CB8AC3E}">
        <p14:creationId xmlns:p14="http://schemas.microsoft.com/office/powerpoint/2010/main" val="1413042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p:cNvSpPr>
          <p:nvPr>
            <p:ph type="body" idx="1"/>
          </p:nvPr>
        </p:nvSpPr>
        <p:spPr>
          <a:xfrm>
            <a:off x="0" y="188640"/>
            <a:ext cx="8964488" cy="5937523"/>
          </a:xfrm>
        </p:spPr>
        <p:txBody>
          <a:bodyPr/>
          <a:lstStyle/>
          <a:p>
            <a:pPr marL="457200" marR="229870" lvl="1" indent="0" algn="just">
              <a:lnSpc>
                <a:spcPct val="107000"/>
              </a:lnSpc>
              <a:spcBef>
                <a:spcPts val="5"/>
              </a:spcBef>
              <a:spcAft>
                <a:spcPts val="0"/>
              </a:spcAft>
              <a:buNone/>
              <a:tabLst>
                <a:tab pos="688340" algn="l"/>
                <a:tab pos="689610" algn="l"/>
              </a:tabLst>
            </a:pPr>
            <a:r>
              <a:rPr lang="ru-RU" sz="2600" b="1" dirty="0">
                <a:effectLst/>
                <a:latin typeface="Times New Roman" panose="02020603050405020304" pitchFamily="18" charset="0"/>
                <a:ea typeface="Times New Roman" panose="02020603050405020304" pitchFamily="18" charset="0"/>
              </a:rPr>
              <a:t>2.	</a:t>
            </a:r>
            <a:r>
              <a:rPr lang="ru-RU" sz="2600" b="1" spc="50" dirty="0">
                <a:effectLst/>
                <a:latin typeface="Times New Roman" panose="02020603050405020304" pitchFamily="18" charset="0"/>
                <a:ea typeface="Times New Roman" panose="02020603050405020304" pitchFamily="18" charset="0"/>
              </a:rPr>
              <a:t> </a:t>
            </a:r>
            <a:r>
              <a:rPr lang="ru-RU" sz="2600" b="1" spc="-60" dirty="0">
                <a:effectLst/>
                <a:latin typeface="Times New Roman" panose="02020603050405020304" pitchFamily="18" charset="0"/>
                <a:ea typeface="Times New Roman" panose="02020603050405020304" pitchFamily="18" charset="0"/>
              </a:rPr>
              <a:t>Нецелевое расходование вычислительных ресурсов сервера</a:t>
            </a:r>
            <a:endParaRPr lang="ru-RU" sz="2600" spc="-60" dirty="0">
              <a:effectLst/>
              <a:latin typeface="Times New Roman" panose="02020603050405020304" pitchFamily="18" charset="0"/>
              <a:ea typeface="Times New Roman" panose="02020603050405020304" pitchFamily="18" charset="0"/>
            </a:endParaRPr>
          </a:p>
          <a:p>
            <a:pPr marL="0" indent="0" algn="just">
              <a:lnSpc>
                <a:spcPct val="115000"/>
              </a:lnSpc>
              <a:spcBef>
                <a:spcPts val="0"/>
              </a:spcBef>
              <a:buNone/>
            </a:pPr>
            <a:r>
              <a:rPr lang="ru-RU" sz="2600" kern="0" dirty="0">
                <a:effectLst/>
                <a:latin typeface="Times New Roman" panose="02020603050405020304" pitchFamily="18" charset="0"/>
                <a:ea typeface="Times New Roman" panose="02020603050405020304" pitchFamily="18" charset="0"/>
              </a:rPr>
              <a:t>Выполнение</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запросов</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и</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иные</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обращения:</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к</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серверу</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баз</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данных </a:t>
            </a:r>
            <a:r>
              <a:rPr lang="ru-RU" sz="2600" kern="0" spc="-10" dirty="0">
                <a:effectLst/>
                <a:latin typeface="Times New Roman" panose="02020603050405020304" pitchFamily="18" charset="0"/>
                <a:ea typeface="Times New Roman" panose="02020603050405020304" pitchFamily="18" charset="0"/>
              </a:rPr>
              <a:t>связаны</a:t>
            </a:r>
            <a:r>
              <a:rPr lang="ru-RU" sz="2600" kern="0" spc="-30" dirty="0">
                <a:effectLst/>
                <a:latin typeface="Times New Roman" panose="02020603050405020304" pitchFamily="18" charset="0"/>
                <a:ea typeface="Times New Roman" panose="02020603050405020304" pitchFamily="18" charset="0"/>
              </a:rPr>
              <a:t> </a:t>
            </a:r>
            <a:r>
              <a:rPr lang="ru-RU" sz="2600" kern="0" spc="-10" dirty="0">
                <a:effectLst/>
                <a:latin typeface="Times New Roman" panose="02020603050405020304" pitchFamily="18" charset="0"/>
                <a:ea typeface="Times New Roman" panose="02020603050405020304" pitchFamily="18" charset="0"/>
              </a:rPr>
              <a:t>с</a:t>
            </a:r>
            <a:r>
              <a:rPr lang="ru-RU" sz="2600" kern="0" spc="-3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расходованием его</a:t>
            </a:r>
            <a:r>
              <a:rPr lang="ru-RU" sz="2600" kern="0" spc="-30" dirty="0">
                <a:effectLst/>
                <a:latin typeface="Times New Roman" panose="02020603050405020304" pitchFamily="18" charset="0"/>
                <a:ea typeface="Times New Roman" panose="02020603050405020304" pitchFamily="18" charset="0"/>
              </a:rPr>
              <a:t> </a:t>
            </a:r>
            <a:r>
              <a:rPr lang="ru-RU" sz="2600" kern="0" spc="-10" dirty="0">
                <a:effectLst/>
                <a:latin typeface="Times New Roman" panose="02020603050405020304" pitchFamily="18" charset="0"/>
                <a:ea typeface="Times New Roman" panose="02020603050405020304" pitchFamily="18" charset="0"/>
              </a:rPr>
              <a:t>ресурсов,</a:t>
            </a:r>
            <a:r>
              <a:rPr lang="ru-RU" sz="2600" kern="0" spc="6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в первую очередь времени процессора, оперативной и внешней памяти. Это очевидное </a:t>
            </a:r>
            <a:r>
              <a:rPr lang="ru-RU" sz="2600" kern="0" spc="-30" dirty="0">
                <a:effectLst/>
                <a:latin typeface="Times New Roman" panose="02020603050405020304" pitchFamily="18" charset="0"/>
                <a:ea typeface="Times New Roman" panose="02020603050405020304" pitchFamily="18" charset="0"/>
              </a:rPr>
              <a:t>утверждение</a:t>
            </a:r>
            <a:r>
              <a:rPr lang="ru-RU" sz="2600" kern="0" spc="-40" dirty="0">
                <a:effectLst/>
                <a:latin typeface="Times New Roman" panose="02020603050405020304" pitchFamily="18" charset="0"/>
                <a:ea typeface="Times New Roman" panose="02020603050405020304" pitchFamily="18" charset="0"/>
              </a:rPr>
              <a:t> </a:t>
            </a:r>
            <a:r>
              <a:rPr lang="ru-RU" sz="2600" kern="0" spc="-30" dirty="0">
                <a:effectLst/>
                <a:latin typeface="Times New Roman" panose="02020603050405020304" pitchFamily="18" charset="0"/>
                <a:ea typeface="Times New Roman" panose="02020603050405020304" pitchFamily="18" charset="0"/>
              </a:rPr>
              <a:t>имеет одно</a:t>
            </a:r>
            <a:r>
              <a:rPr lang="ru-RU" sz="2600" kern="0" spc="-135" dirty="0">
                <a:effectLst/>
                <a:latin typeface="Times New Roman" panose="02020603050405020304" pitchFamily="18" charset="0"/>
                <a:ea typeface="Times New Roman" panose="02020603050405020304" pitchFamily="18" charset="0"/>
              </a:rPr>
              <a:t> </a:t>
            </a:r>
            <a:r>
              <a:rPr lang="ru-RU" sz="2600" kern="0" spc="-30" dirty="0">
                <a:effectLst/>
                <a:latin typeface="Times New Roman" panose="02020603050405020304" pitchFamily="18" charset="0"/>
                <a:ea typeface="Times New Roman" panose="02020603050405020304" pitchFamily="18" charset="0"/>
              </a:rPr>
              <a:t>неочевидное</a:t>
            </a:r>
            <a:r>
              <a:rPr lang="ru-RU" sz="2600" kern="0" spc="-5" dirty="0">
                <a:effectLst/>
                <a:latin typeface="Times New Roman" panose="02020603050405020304" pitchFamily="18" charset="0"/>
                <a:ea typeface="Times New Roman" panose="02020603050405020304" pitchFamily="18" charset="0"/>
              </a:rPr>
              <a:t> </a:t>
            </a:r>
            <a:r>
              <a:rPr lang="ru-RU" sz="2600" kern="0" spc="-30" dirty="0">
                <a:effectLst/>
                <a:latin typeface="Times New Roman" panose="02020603050405020304" pitchFamily="18" charset="0"/>
                <a:ea typeface="Times New Roman" panose="02020603050405020304" pitchFamily="18" charset="0"/>
              </a:rPr>
              <a:t>следствие.</a:t>
            </a:r>
            <a:r>
              <a:rPr lang="ru-RU" sz="2600" kern="0" spc="140" dirty="0">
                <a:effectLst/>
                <a:latin typeface="Times New Roman" panose="02020603050405020304" pitchFamily="18" charset="0"/>
                <a:ea typeface="Times New Roman" panose="02020603050405020304" pitchFamily="18" charset="0"/>
              </a:rPr>
              <a:t> </a:t>
            </a:r>
            <a:r>
              <a:rPr lang="ru-RU" sz="2600" kern="0" spc="-30" dirty="0">
                <a:effectLst/>
                <a:latin typeface="Times New Roman" panose="02020603050405020304" pitchFamily="18" charset="0"/>
                <a:ea typeface="Times New Roman" panose="02020603050405020304" pitchFamily="18" charset="0"/>
              </a:rPr>
              <a:t>Если</a:t>
            </a:r>
            <a:r>
              <a:rPr lang="ru-RU" sz="2600" kern="0" spc="80" dirty="0">
                <a:effectLst/>
                <a:latin typeface="Times New Roman" panose="02020603050405020304" pitchFamily="18" charset="0"/>
                <a:ea typeface="Times New Roman" panose="02020603050405020304" pitchFamily="18" charset="0"/>
              </a:rPr>
              <a:t> </a:t>
            </a:r>
            <a:r>
              <a:rPr lang="ru-RU" sz="2600" kern="0" spc="-30" dirty="0">
                <a:effectLst/>
                <a:latin typeface="Times New Roman" panose="02020603050405020304" pitchFamily="18" charset="0"/>
                <a:ea typeface="Times New Roman" panose="02020603050405020304" pitchFamily="18" charset="0"/>
              </a:rPr>
              <a:t>пользователю, </a:t>
            </a:r>
            <a:r>
              <a:rPr lang="ru-RU" sz="2600" kern="0" dirty="0">
                <a:effectLst/>
                <a:latin typeface="Times New Roman" panose="02020603050405020304" pitchFamily="18" charset="0"/>
                <a:ea typeface="Times New Roman" panose="02020603050405020304" pitchFamily="18" charset="0"/>
              </a:rPr>
              <a:t>предоставлена</a:t>
            </a:r>
            <a:r>
              <a:rPr lang="ru-RU" sz="2600" kern="0" spc="2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возможность</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создавать</a:t>
            </a:r>
            <a:r>
              <a:rPr lang="ru-RU" sz="2600" kern="0" spc="-4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процедуры и</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их</a:t>
            </a:r>
            <a:r>
              <a:rPr lang="ru-RU" sz="2600" kern="0" spc="-4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выполнять, то</a:t>
            </a:r>
            <a:r>
              <a:rPr lang="ru-RU" sz="2600" kern="0" spc="15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может</a:t>
            </a:r>
            <a:r>
              <a:rPr lang="ru-RU" sz="2600" kern="0" spc="18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возникнуть</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проблема</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нарушения</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доступности</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в связи</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с нецелевым расходованием</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ресурсов</a:t>
            </a:r>
            <a:endParaRPr lang="ru-RU" sz="2600" dirty="0">
              <a:effectLst/>
              <a:latin typeface="Times New Roman" panose="02020603050405020304" pitchFamily="18" charset="0"/>
              <a:ea typeface="Times New Roman" panose="02020603050405020304" pitchFamily="18" charset="0"/>
            </a:endParaRPr>
          </a:p>
          <a:p>
            <a:pPr marL="0" indent="0" algn="just">
              <a:spcBef>
                <a:spcPts val="0"/>
              </a:spcBef>
              <a:spcAft>
                <a:spcPts val="300"/>
              </a:spcAft>
              <a:buNone/>
            </a:pPr>
            <a:r>
              <a:rPr lang="ru-RU" sz="2600" kern="0" spc="-10" dirty="0">
                <a:effectLst/>
                <a:latin typeface="Times New Roman" panose="02020603050405020304" pitchFamily="18" charset="0"/>
                <a:ea typeface="Times New Roman" panose="02020603050405020304" pitchFamily="18" charset="0"/>
              </a:rPr>
              <a:t>Самый</a:t>
            </a:r>
            <a:r>
              <a:rPr lang="ru-RU" sz="2600" kern="0" spc="-30" dirty="0">
                <a:effectLst/>
                <a:latin typeface="Times New Roman" panose="02020603050405020304" pitchFamily="18" charset="0"/>
                <a:ea typeface="Times New Roman" panose="02020603050405020304" pitchFamily="18" charset="0"/>
              </a:rPr>
              <a:t> </a:t>
            </a:r>
            <a:r>
              <a:rPr lang="ru-RU" sz="2600" kern="0" spc="-10" dirty="0">
                <a:effectLst/>
                <a:latin typeface="Times New Roman" panose="02020603050405020304" pitchFamily="18" charset="0"/>
                <a:ea typeface="Times New Roman" panose="02020603050405020304" pitchFamily="18" charset="0"/>
              </a:rPr>
              <a:t>простой пример</a:t>
            </a:r>
            <a:r>
              <a:rPr lang="ru-RU" sz="2600" kern="0" spc="-60" dirty="0">
                <a:effectLst/>
                <a:latin typeface="Times New Roman" panose="02020603050405020304" pitchFamily="18" charset="0"/>
                <a:ea typeface="Times New Roman" panose="02020603050405020304" pitchFamily="18" charset="0"/>
              </a:rPr>
              <a:t> </a:t>
            </a:r>
            <a:r>
              <a:rPr lang="ru-RU" sz="2600" kern="0" spc="-10" dirty="0">
                <a:effectLst/>
                <a:latin typeface="Times New Roman" panose="02020603050405020304" pitchFamily="18" charset="0"/>
                <a:ea typeface="Times New Roman" panose="02020603050405020304" pitchFamily="18" charset="0"/>
              </a:rPr>
              <a:t>-загрузка процессора</a:t>
            </a:r>
            <a:r>
              <a:rPr lang="ru-RU" sz="2600" kern="0" spc="-60" dirty="0">
                <a:effectLst/>
                <a:latin typeface="Times New Roman" panose="02020603050405020304" pitchFamily="18" charset="0"/>
                <a:ea typeface="Times New Roman" panose="02020603050405020304" pitchFamily="18" charset="0"/>
              </a:rPr>
              <a:t> </a:t>
            </a:r>
            <a:r>
              <a:rPr lang="ru-RU" sz="2600" kern="0" spc="-10" dirty="0">
                <a:effectLst/>
                <a:latin typeface="Times New Roman" panose="02020603050405020304" pitchFamily="18" charset="0"/>
                <a:ea typeface="Times New Roman" panose="02020603050405020304" pitchFamily="18" charset="0"/>
              </a:rPr>
              <a:t>бесконечными </a:t>
            </a:r>
            <a:r>
              <a:rPr lang="ru-RU" sz="2600" kern="0" dirty="0">
                <a:effectLst/>
                <a:latin typeface="Times New Roman" panose="02020603050405020304" pitchFamily="18" charset="0"/>
                <a:ea typeface="Times New Roman" panose="02020603050405020304" pitchFamily="18" charset="0"/>
              </a:rPr>
              <a:t>(и бессмысленными) вычислениями.</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Листинг далее дает пример такой процедуры</a:t>
            </a:r>
            <a:endParaRPr lang="ru-RU" sz="2600" dirty="0">
              <a:solidFill>
                <a:srgbClr val="000000"/>
              </a:solidFill>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p:cNvSpPr>
          <p:nvPr>
            <p:ph type="body" idx="1"/>
          </p:nvPr>
        </p:nvSpPr>
        <p:spPr>
          <a:xfrm>
            <a:off x="53752" y="0"/>
            <a:ext cx="9036496" cy="6858000"/>
          </a:xfrm>
        </p:spPr>
        <p:txBody>
          <a:bodyPr/>
          <a:lstStyle/>
          <a:p>
            <a:pPr marL="0" indent="0" algn="ctr">
              <a:buNone/>
            </a:pPr>
            <a:endParaRPr lang="ru-RU" sz="2600" dirty="0">
              <a:effectLst/>
              <a:latin typeface="Times New Roman" panose="02020603050405020304" pitchFamily="18" charset="0"/>
              <a:ea typeface="Times New Roman" panose="02020603050405020304" pitchFamily="18" charset="0"/>
            </a:endParaRPr>
          </a:p>
          <a:p>
            <a:pPr marL="0" indent="0" algn="ctr">
              <a:buNone/>
            </a:pPr>
            <a:endParaRPr lang="ru-RU" sz="2600" dirty="0">
              <a:latin typeface="Times New Roman" panose="02020603050405020304" pitchFamily="18" charset="0"/>
            </a:endParaRPr>
          </a:p>
          <a:p>
            <a:pPr marL="0" indent="0" algn="ctr">
              <a:buNone/>
            </a:pPr>
            <a:endParaRPr lang="ru-RU" sz="2600" dirty="0">
              <a:latin typeface="Times New Roman" panose="02020603050405020304" pitchFamily="18" charset="0"/>
            </a:endParaRPr>
          </a:p>
          <a:p>
            <a:pPr marL="0" indent="0" algn="ctr">
              <a:buNone/>
            </a:pPr>
            <a:endParaRPr lang="ru-RU" sz="2600" dirty="0">
              <a:latin typeface="Times New Roman" panose="02020603050405020304" pitchFamily="18" charset="0"/>
            </a:endParaRPr>
          </a:p>
          <a:p>
            <a:pPr marL="0" indent="0" algn="ctr">
              <a:buNone/>
            </a:pPr>
            <a:endParaRPr lang="ru-RU" sz="2600" dirty="0">
              <a:latin typeface="Times New Roman" panose="02020603050405020304" pitchFamily="18" charset="0"/>
            </a:endParaRPr>
          </a:p>
          <a:p>
            <a:pPr marL="0" indent="0" algn="ctr">
              <a:buNone/>
            </a:pPr>
            <a:endParaRPr lang="ru-RU" sz="2600" dirty="0">
              <a:latin typeface="Times New Roman" panose="02020603050405020304" pitchFamily="18" charset="0"/>
            </a:endParaRPr>
          </a:p>
          <a:p>
            <a:pPr marL="0" indent="0" algn="ctr">
              <a:buNone/>
            </a:pPr>
            <a:endParaRPr lang="ru-RU" sz="2600" dirty="0">
              <a:latin typeface="Times New Roman" panose="02020603050405020304" pitchFamily="18" charset="0"/>
            </a:endParaRPr>
          </a:p>
          <a:p>
            <a:pPr marL="0" indent="0" algn="ctr">
              <a:buNone/>
            </a:pPr>
            <a:endParaRPr lang="ru-RU" sz="2600" dirty="0">
              <a:latin typeface="Times New Roman" panose="02020603050405020304" pitchFamily="18" charset="0"/>
            </a:endParaRPr>
          </a:p>
          <a:p>
            <a:pPr marL="0" indent="0" algn="ctr">
              <a:buNone/>
            </a:pPr>
            <a:endParaRPr lang="ru-RU" sz="2600" dirty="0">
              <a:latin typeface="Times New Roman" panose="02020603050405020304" pitchFamily="18" charset="0"/>
            </a:endParaRPr>
          </a:p>
          <a:p>
            <a:pPr marL="0" marR="72390" indent="0" algn="just">
              <a:lnSpc>
                <a:spcPct val="113000"/>
              </a:lnSpc>
              <a:spcBef>
                <a:spcPts val="0"/>
              </a:spcBef>
              <a:spcAft>
                <a:spcPts val="0"/>
              </a:spcAft>
              <a:buNone/>
            </a:pPr>
            <a:r>
              <a:rPr lang="ru-RU" sz="2400" dirty="0">
                <a:effectLst/>
                <a:latin typeface="Times New Roman" panose="02020603050405020304" pitchFamily="18" charset="0"/>
                <a:ea typeface="Times New Roman" panose="02020603050405020304" pitchFamily="18" charset="0"/>
              </a:rPr>
              <a:t>Эффект от подобной атаки может быть уменьшен</a:t>
            </a:r>
            <a:r>
              <a:rPr lang="ru-RU" sz="2400" spc="-7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назначением</a:t>
            </a:r>
            <a:r>
              <a:rPr lang="ru-RU" sz="2400" spc="-6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пользователю</a:t>
            </a:r>
            <a:r>
              <a:rPr lang="ru-RU" sz="2400" spc="-6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профиля,</a:t>
            </a:r>
            <a:r>
              <a:rPr lang="ru-RU" sz="2400" spc="-6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ограничивающего, </a:t>
            </a:r>
            <a:r>
              <a:rPr lang="ru-RU" sz="2400" spc="-10" dirty="0">
                <a:effectLst/>
                <a:latin typeface="Times New Roman" panose="02020603050405020304" pitchFamily="18" charset="0"/>
                <a:ea typeface="Times New Roman" panose="02020603050405020304" pitchFamily="18" charset="0"/>
              </a:rPr>
              <a:t>максимальное</a:t>
            </a:r>
            <a:r>
              <a:rPr lang="ru-RU" sz="2400" spc="-220"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выделяемое</a:t>
            </a:r>
            <a:r>
              <a:rPr lang="ru-RU" sz="2400" spc="-55"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время</a:t>
            </a:r>
            <a:r>
              <a:rPr lang="ru-RU" sz="2400" spc="-5"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центрального</a:t>
            </a:r>
            <a:r>
              <a:rPr lang="ru-RU" sz="2400" spc="45"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процессора.</a:t>
            </a:r>
            <a:endParaRPr lang="ru-RU" sz="2400" dirty="0">
              <a:effectLst/>
              <a:latin typeface="Times New Roman" panose="02020603050405020304" pitchFamily="18" charset="0"/>
              <a:ea typeface="Times New Roman" panose="02020603050405020304" pitchFamily="18" charset="0"/>
            </a:endParaRPr>
          </a:p>
          <a:p>
            <a:pPr marL="0" indent="0" algn="just">
              <a:lnSpc>
                <a:spcPts val="1075"/>
              </a:lnSpc>
              <a:buNone/>
            </a:pPr>
            <a:r>
              <a:rPr lang="ru-RU" sz="2400" dirty="0">
                <a:effectLst/>
                <a:latin typeface="Times New Roman" panose="02020603050405020304" pitchFamily="18" charset="0"/>
                <a:ea typeface="Times New Roman" panose="02020603050405020304" pitchFamily="18" charset="0"/>
              </a:rPr>
              <a:t>Напомним,</a:t>
            </a:r>
            <a:r>
              <a:rPr lang="ru-RU" sz="2400" spc="6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что</a:t>
            </a:r>
            <a:r>
              <a:rPr lang="ru-RU" sz="2400" spc="2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система</a:t>
            </a:r>
            <a:r>
              <a:rPr lang="ru-RU" sz="2400" spc="35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контроля</a:t>
            </a:r>
            <a:r>
              <a:rPr lang="ru-RU" sz="2400" spc="13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ограничений</a:t>
            </a:r>
            <a:r>
              <a:rPr lang="ru-RU" sz="2400" spc="15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на</a:t>
            </a:r>
            <a:r>
              <a:rPr lang="ru-RU" sz="2400" spc="80"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ресурсы </a:t>
            </a:r>
            <a:endParaRPr lang="ru-RU" sz="2400" dirty="0">
              <a:effectLst/>
              <a:latin typeface="Times New Roman" panose="02020603050405020304" pitchFamily="18" charset="0"/>
              <a:ea typeface="Times New Roman" panose="02020603050405020304" pitchFamily="18" charset="0"/>
            </a:endParaRPr>
          </a:p>
          <a:p>
            <a:pPr marL="0" indent="0" algn="just">
              <a:spcBef>
                <a:spcPts val="0"/>
              </a:spcBef>
              <a:buNone/>
            </a:pPr>
            <a:r>
              <a:rPr lang="ru-RU" sz="2400" kern="0" dirty="0">
                <a:effectLst/>
                <a:latin typeface="Times New Roman" panose="02020603050405020304" pitchFamily="18" charset="0"/>
                <a:ea typeface="Times New Roman" panose="02020603050405020304" pitchFamily="18" charset="0"/>
              </a:rPr>
              <a:t>должна быть приведена</a:t>
            </a:r>
            <a:r>
              <a:rPr lang="ru-RU" sz="2400" kern="0" spc="200" dirty="0">
                <a:effectLst/>
                <a:latin typeface="Times New Roman" panose="02020603050405020304" pitchFamily="18" charset="0"/>
                <a:ea typeface="Times New Roman" panose="02020603050405020304" pitchFamily="18" charset="0"/>
              </a:rPr>
              <a:t> </a:t>
            </a:r>
            <a:r>
              <a:rPr lang="ru-RU" sz="2400" kern="0" dirty="0">
                <a:effectLst/>
                <a:latin typeface="Times New Roman" panose="02020603050405020304" pitchFamily="18" charset="0"/>
                <a:ea typeface="Times New Roman" panose="02020603050405020304" pitchFamily="18" charset="0"/>
              </a:rPr>
              <a:t>в</a:t>
            </a:r>
            <a:r>
              <a:rPr lang="ru-RU" sz="2400" kern="0" spc="-15" dirty="0">
                <a:effectLst/>
                <a:latin typeface="Times New Roman" panose="02020603050405020304" pitchFamily="18" charset="0"/>
                <a:ea typeface="Times New Roman" panose="02020603050405020304" pitchFamily="18" charset="0"/>
              </a:rPr>
              <a:t> </a:t>
            </a:r>
            <a:r>
              <a:rPr lang="ru-RU" sz="2400" kern="0" dirty="0">
                <a:effectLst/>
                <a:latin typeface="Times New Roman" panose="02020603050405020304" pitchFamily="18" charset="0"/>
                <a:ea typeface="Times New Roman" panose="02020603050405020304" pitchFamily="18" charset="0"/>
              </a:rPr>
              <a:t>активное состояние. Листинг далее показывает, как проверить состояние системы контроля ограничений на ресурсы и перевести ее в активное </a:t>
            </a:r>
            <a:r>
              <a:rPr lang="ru-RU" sz="2400" kern="0" spc="-10" dirty="0">
                <a:effectLst/>
                <a:latin typeface="Times New Roman" panose="02020603050405020304" pitchFamily="18" charset="0"/>
                <a:ea typeface="Times New Roman" panose="02020603050405020304" pitchFamily="18" charset="0"/>
              </a:rPr>
              <a:t>состояние.</a:t>
            </a:r>
            <a:endParaRPr lang="ru-RU" sz="2400" dirty="0"/>
          </a:p>
        </p:txBody>
      </p:sp>
      <p:sp>
        <p:nvSpPr>
          <p:cNvPr id="3" name="TextBox 2">
            <a:extLst>
              <a:ext uri="{FF2B5EF4-FFF2-40B4-BE49-F238E27FC236}">
                <a16:creationId xmlns:a16="http://schemas.microsoft.com/office/drawing/2014/main" id="{1AEEC8F6-DEBC-0410-A5DB-D1455751D4CF}"/>
              </a:ext>
            </a:extLst>
          </p:cNvPr>
          <p:cNvSpPr txBox="1"/>
          <p:nvPr/>
        </p:nvSpPr>
        <p:spPr>
          <a:xfrm>
            <a:off x="251520" y="188640"/>
            <a:ext cx="8640960" cy="515590"/>
          </a:xfrm>
          <a:prstGeom prst="rect">
            <a:avLst/>
          </a:prstGeom>
          <a:noFill/>
        </p:spPr>
        <p:txBody>
          <a:bodyPr wrap="square">
            <a:spAutoFit/>
          </a:bodyPr>
          <a:lstStyle/>
          <a:p>
            <a:pPr algn="just">
              <a:lnSpc>
                <a:spcPct val="115000"/>
              </a:lnSpc>
              <a:tabLst>
                <a:tab pos="857250" algn="l"/>
              </a:tabLst>
            </a:pPr>
            <a:endParaRPr lang="ru-RU" sz="2600" kern="100" dirty="0">
              <a:effectLst/>
              <a:latin typeface="Times New Roman" panose="02020603050405020304" pitchFamily="18" charset="0"/>
              <a:ea typeface="Times New Roman" panose="02020603050405020304" pitchFamily="18" charset="0"/>
            </a:endParaRPr>
          </a:p>
        </p:txBody>
      </p:sp>
      <p:pic>
        <p:nvPicPr>
          <p:cNvPr id="4" name="Рисунок 3">
            <a:extLst>
              <a:ext uri="{FF2B5EF4-FFF2-40B4-BE49-F238E27FC236}">
                <a16:creationId xmlns:a16="http://schemas.microsoft.com/office/drawing/2014/main" id="{1A66BE76-2F17-9E63-65E3-E2C931E5AAB4}"/>
              </a:ext>
            </a:extLst>
          </p:cNvPr>
          <p:cNvPicPr>
            <a:picLocks noChangeAspect="1"/>
          </p:cNvPicPr>
          <p:nvPr/>
        </p:nvPicPr>
        <p:blipFill>
          <a:blip r:embed="rId2"/>
          <a:stretch>
            <a:fillRect/>
          </a:stretch>
        </p:blipFill>
        <p:spPr>
          <a:xfrm>
            <a:off x="756717" y="-49001"/>
            <a:ext cx="5845939" cy="1107504"/>
          </a:xfrm>
          <a:prstGeom prst="rect">
            <a:avLst/>
          </a:prstGeom>
        </p:spPr>
      </p:pic>
      <p:pic>
        <p:nvPicPr>
          <p:cNvPr id="6" name="Рисунок 5">
            <a:extLst>
              <a:ext uri="{FF2B5EF4-FFF2-40B4-BE49-F238E27FC236}">
                <a16:creationId xmlns:a16="http://schemas.microsoft.com/office/drawing/2014/main" id="{920E5586-DFEF-3ADE-0416-5099AA910447}"/>
              </a:ext>
            </a:extLst>
          </p:cNvPr>
          <p:cNvPicPr>
            <a:picLocks noChangeAspect="1"/>
          </p:cNvPicPr>
          <p:nvPr/>
        </p:nvPicPr>
        <p:blipFill>
          <a:blip r:embed="rId3"/>
          <a:stretch>
            <a:fillRect/>
          </a:stretch>
        </p:blipFill>
        <p:spPr>
          <a:xfrm>
            <a:off x="733327" y="1058503"/>
            <a:ext cx="5770709" cy="30347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0F29617-2413-D7C0-D9BD-CE29C8F7E8F4}"/>
              </a:ext>
            </a:extLst>
          </p:cNvPr>
          <p:cNvSpPr>
            <a:spLocks noGrp="1"/>
          </p:cNvSpPr>
          <p:nvPr>
            <p:ph idx="1"/>
          </p:nvPr>
        </p:nvSpPr>
        <p:spPr>
          <a:xfrm>
            <a:off x="179512" y="0"/>
            <a:ext cx="8784976" cy="6858000"/>
          </a:xfrm>
        </p:spPr>
        <p:txBody>
          <a:bodyPr/>
          <a:lstStyle/>
          <a:p>
            <a:pPr marL="0" indent="0" algn="just">
              <a:lnSpc>
                <a:spcPct val="115000"/>
              </a:lnSpc>
              <a:spcBef>
                <a:spcPts val="0"/>
              </a:spcBef>
              <a:buNone/>
              <a:tabLst>
                <a:tab pos="779780" algn="l"/>
              </a:tabLst>
            </a:pPr>
            <a:r>
              <a:rPr lang="ru-RU" sz="1800" i="1" kern="100" dirty="0">
                <a:solidFill>
                  <a:srgbClr val="000000"/>
                </a:solidFill>
                <a:effectLst/>
                <a:latin typeface="Times New Roman" panose="02020603050405020304" pitchFamily="18" charset="0"/>
                <a:ea typeface="Times New Roman" panose="02020603050405020304" pitchFamily="18" charset="0"/>
              </a:rPr>
              <a:t>.</a:t>
            </a:r>
            <a:endParaRPr lang="ru-RU" sz="1800" i="1" kern="100" dirty="0">
              <a:effectLst/>
              <a:latin typeface="Times New Roman" panose="02020603050405020304" pitchFamily="18" charset="0"/>
              <a:ea typeface="Times New Roman" panose="02020603050405020304" pitchFamily="18" charset="0"/>
            </a:endParaRPr>
          </a:p>
          <a:p>
            <a:pPr marL="0" indent="0">
              <a:buNone/>
            </a:pPr>
            <a:endParaRPr lang="ru-RU" dirty="0"/>
          </a:p>
        </p:txBody>
      </p:sp>
      <p:pic>
        <p:nvPicPr>
          <p:cNvPr id="4" name="Рисунок 3">
            <a:extLst>
              <a:ext uri="{FF2B5EF4-FFF2-40B4-BE49-F238E27FC236}">
                <a16:creationId xmlns:a16="http://schemas.microsoft.com/office/drawing/2014/main" id="{962B1CD9-70AF-252A-E344-2A4E52C75F9A}"/>
              </a:ext>
            </a:extLst>
          </p:cNvPr>
          <p:cNvPicPr>
            <a:picLocks noChangeAspect="1"/>
          </p:cNvPicPr>
          <p:nvPr/>
        </p:nvPicPr>
        <p:blipFill>
          <a:blip r:embed="rId2"/>
          <a:stretch>
            <a:fillRect/>
          </a:stretch>
        </p:blipFill>
        <p:spPr>
          <a:xfrm>
            <a:off x="827584" y="548680"/>
            <a:ext cx="7248596" cy="3888432"/>
          </a:xfrm>
          <a:prstGeom prst="rect">
            <a:avLst/>
          </a:prstGeom>
        </p:spPr>
      </p:pic>
    </p:spTree>
    <p:extLst>
      <p:ext uri="{BB962C8B-B14F-4D97-AF65-F5344CB8AC3E}">
        <p14:creationId xmlns:p14="http://schemas.microsoft.com/office/powerpoint/2010/main" val="4252531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p:cNvSpPr>
          <p:nvPr>
            <p:ph type="body" idx="1"/>
          </p:nvPr>
        </p:nvSpPr>
        <p:spPr>
          <a:xfrm>
            <a:off x="0" y="116632"/>
            <a:ext cx="9144000" cy="6741368"/>
          </a:xfrm>
        </p:spPr>
        <p:txBody>
          <a:bodyPr/>
          <a:lstStyle/>
          <a:p>
            <a:pPr marL="0" indent="0" algn="just">
              <a:lnSpc>
                <a:spcPct val="115000"/>
              </a:lnSpc>
              <a:spcBef>
                <a:spcPts val="0"/>
              </a:spcBef>
              <a:buNone/>
              <a:tabLst>
                <a:tab pos="857250" algn="l"/>
              </a:tabLst>
            </a:pPr>
            <a:r>
              <a:rPr lang="ru-RU" sz="2600" kern="0" dirty="0">
                <a:effectLst/>
                <a:latin typeface="Times New Roman" panose="02020603050405020304" pitchFamily="18" charset="0"/>
                <a:ea typeface="Times New Roman" panose="02020603050405020304" pitchFamily="18" charset="0"/>
              </a:rPr>
              <a:t>Еще одним вариантом</a:t>
            </a:r>
            <a:r>
              <a:rPr lang="ru-RU" sz="2600" kern="0" spc="200" dirty="0">
                <a:effectLst/>
                <a:latin typeface="Times New Roman" panose="02020603050405020304" pitchFamily="18" charset="0"/>
                <a:ea typeface="Times New Roman" panose="02020603050405020304" pitchFamily="18" charset="0"/>
              </a:rPr>
              <a:t> </a:t>
            </a:r>
            <a:r>
              <a:rPr lang="ru-RU" sz="2600" b="1" spc="-60" dirty="0">
                <a:effectLst/>
                <a:latin typeface="Times New Roman" panose="02020603050405020304" pitchFamily="18" charset="0"/>
                <a:ea typeface="Times New Roman" panose="02020603050405020304" pitchFamily="18" charset="0"/>
              </a:rPr>
              <a:t>нецелевого расходования ресурсов </a:t>
            </a:r>
            <a:r>
              <a:rPr lang="ru-RU" sz="2600" kern="0" dirty="0">
                <a:effectLst/>
                <a:latin typeface="Times New Roman" panose="02020603050405020304" pitchFamily="18" charset="0"/>
                <a:ea typeface="Times New Roman" panose="02020603050405020304" pitchFamily="18" charset="0"/>
              </a:rPr>
              <a:t>является</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процедура</a:t>
            </a:r>
            <a:r>
              <a:rPr lang="ru-RU" sz="2600" kern="0" spc="-6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расходования</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памяти сервера баз данных. Отметим, что</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мощный</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и</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эффективный</a:t>
            </a:r>
            <a:r>
              <a:rPr lang="ru-RU" sz="2600" kern="0" spc="3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механизм </a:t>
            </a:r>
            <a:r>
              <a:rPr lang="ru-RU" sz="2600" kern="0" spc="-20" dirty="0">
                <a:effectLst/>
                <a:latin typeface="Times New Roman" panose="02020603050405020304" pitchFamily="18" charset="0"/>
                <a:ea typeface="Times New Roman" panose="02020603050405020304" pitchFamily="18" charset="0"/>
              </a:rPr>
              <a:t>рекурсии,</a:t>
            </a:r>
            <a:r>
              <a:rPr lang="ru-RU" sz="2600" kern="0" dirty="0">
                <a:effectLst/>
                <a:latin typeface="Times New Roman" panose="02020603050405020304" pitchFamily="18" charset="0"/>
                <a:ea typeface="Times New Roman" panose="02020603050405020304" pitchFamily="18" charset="0"/>
              </a:rPr>
              <a:t> </a:t>
            </a:r>
            <a:r>
              <a:rPr lang="ru-RU" sz="2600" kern="0" spc="-20" dirty="0">
                <a:effectLst/>
                <a:latin typeface="Times New Roman" panose="02020603050405020304" pitchFamily="18" charset="0"/>
                <a:ea typeface="Times New Roman" panose="02020603050405020304" pitchFamily="18" charset="0"/>
              </a:rPr>
              <a:t>реализованный в</a:t>
            </a:r>
            <a:r>
              <a:rPr lang="ru-RU" sz="2600" b="1" kern="0" spc="-55" dirty="0">
                <a:effectLst/>
                <a:latin typeface="Arial" panose="020B0604020202020204" pitchFamily="34" charset="0"/>
                <a:ea typeface="Times New Roman" panose="02020603050405020304" pitchFamily="18" charset="0"/>
                <a:cs typeface="Times New Roman" panose="02020603050405020304" pitchFamily="18" charset="0"/>
              </a:rPr>
              <a:t> </a:t>
            </a:r>
            <a:r>
              <a:rPr lang="ru-RU" sz="2600" kern="0" spc="-20" dirty="0">
                <a:effectLst/>
                <a:latin typeface="Times New Roman" panose="02020603050405020304" pitchFamily="18" charset="0"/>
                <a:ea typeface="Times New Roman" panose="02020603050405020304" pitchFamily="18" charset="0"/>
              </a:rPr>
              <a:t>большинстве</a:t>
            </a:r>
            <a:r>
              <a:rPr lang="ru-RU" sz="2600" kern="0" dirty="0">
                <a:effectLst/>
                <a:latin typeface="Times New Roman" panose="02020603050405020304" pitchFamily="18" charset="0"/>
                <a:ea typeface="Times New Roman" panose="02020603050405020304" pitchFamily="18" charset="0"/>
              </a:rPr>
              <a:t> </a:t>
            </a:r>
            <a:r>
              <a:rPr lang="ru-RU" sz="2600" kern="0" spc="-20" dirty="0">
                <a:effectLst/>
                <a:latin typeface="Times New Roman" panose="02020603050405020304" pitchFamily="18" charset="0"/>
                <a:ea typeface="Times New Roman" panose="02020603050405020304" pitchFamily="18" charset="0"/>
              </a:rPr>
              <a:t>языков программирования </a:t>
            </a:r>
            <a:r>
              <a:rPr lang="ru-RU" sz="2600" kern="0" dirty="0">
                <a:effectLst/>
                <a:latin typeface="Times New Roman" panose="02020603050405020304" pitchFamily="18" charset="0"/>
                <a:ea typeface="Times New Roman" panose="02020603050405020304" pitchFamily="18" charset="0"/>
              </a:rPr>
              <a:t>может</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быть</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использован</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не</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только во благо. Простая</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процедура,</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на следующем </a:t>
            </a:r>
            <a:r>
              <a:rPr lang="ru-RU" sz="2600" kern="0" dirty="0">
                <a:effectLst/>
                <a:latin typeface="Courier New" panose="02070309020205020404" pitchFamily="49" charset="0"/>
                <a:ea typeface="Times New Roman" panose="02020603050405020304" pitchFamily="18" charset="0"/>
                <a:cs typeface="Times New Roman" panose="02020603050405020304" pitchFamily="18" charset="0"/>
              </a:rPr>
              <a:t>листинге</a:t>
            </a:r>
            <a:r>
              <a:rPr lang="ru-RU" sz="2600" kern="0" dirty="0">
                <a:effectLst/>
                <a:latin typeface="Times New Roman" panose="02020603050405020304" pitchFamily="18" charset="0"/>
                <a:ea typeface="Times New Roman" panose="02020603050405020304" pitchFamily="18" charset="0"/>
              </a:rPr>
              <a:t>, представляет пример деструктивного использования</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механизма рекурсии для нецелевого расходования ресурса памяти сервера</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баз данных</a:t>
            </a:r>
            <a:endParaRPr lang="ru-RU" sz="2600" dirty="0">
              <a:effectLst/>
              <a:latin typeface="Times New Roman" panose="02020603050405020304" pitchFamily="18" charset="0"/>
              <a:ea typeface="Times New Roman" panose="02020603050405020304" pitchFamily="18" charset="0"/>
            </a:endParaRPr>
          </a:p>
        </p:txBody>
      </p:sp>
      <p:pic>
        <p:nvPicPr>
          <p:cNvPr id="3" name="Рисунок 2">
            <a:extLst>
              <a:ext uri="{FF2B5EF4-FFF2-40B4-BE49-F238E27FC236}">
                <a16:creationId xmlns:a16="http://schemas.microsoft.com/office/drawing/2014/main" id="{8BB19426-8B07-A99D-72B8-BA21130250DF}"/>
              </a:ext>
            </a:extLst>
          </p:cNvPr>
          <p:cNvPicPr>
            <a:picLocks noChangeAspect="1"/>
          </p:cNvPicPr>
          <p:nvPr/>
        </p:nvPicPr>
        <p:blipFill>
          <a:blip r:embed="rId2"/>
          <a:stretch>
            <a:fillRect/>
          </a:stretch>
        </p:blipFill>
        <p:spPr>
          <a:xfrm>
            <a:off x="581025" y="4005064"/>
            <a:ext cx="7263474" cy="18722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p:cNvSpPr>
          <p:nvPr>
            <p:ph type="body" idx="1"/>
          </p:nvPr>
        </p:nvSpPr>
        <p:spPr>
          <a:xfrm>
            <a:off x="0" y="188913"/>
            <a:ext cx="9036496" cy="6669087"/>
          </a:xfrm>
        </p:spPr>
        <p:txBody>
          <a:bodyPr/>
          <a:lstStyle/>
          <a:p>
            <a:pPr marL="0" indent="0" algn="just">
              <a:buNone/>
            </a:pPr>
            <a:r>
              <a:rPr lang="ru-RU" sz="2600" spc="-10" dirty="0">
                <a:effectLst/>
                <a:latin typeface="Times New Roman" panose="02020603050405020304" pitchFamily="18" charset="0"/>
                <a:ea typeface="Times New Roman" panose="02020603050405020304" pitchFamily="18" charset="0"/>
              </a:rPr>
              <a:t>Технология</a:t>
            </a:r>
            <a:r>
              <a:rPr lang="ru-RU" sz="2600" spc="-60" dirty="0">
                <a:effectLst/>
                <a:latin typeface="Times New Roman" panose="02020603050405020304" pitchFamily="18" charset="0"/>
                <a:ea typeface="Times New Roman" panose="02020603050405020304" pitchFamily="18" charset="0"/>
              </a:rPr>
              <a:t> </a:t>
            </a:r>
            <a:r>
              <a:rPr lang="ru-RU" sz="2600" spc="-10" dirty="0">
                <a:effectLst/>
                <a:latin typeface="Times New Roman" panose="02020603050405020304" pitchFamily="18" charset="0"/>
                <a:ea typeface="Times New Roman" panose="02020603050405020304" pitchFamily="18" charset="0"/>
              </a:rPr>
              <a:t>борьбы</a:t>
            </a:r>
            <a:r>
              <a:rPr lang="ru-RU" sz="2600" spc="-55" dirty="0">
                <a:effectLst/>
                <a:latin typeface="Times New Roman" panose="02020603050405020304" pitchFamily="18" charset="0"/>
                <a:ea typeface="Times New Roman" panose="02020603050405020304" pitchFamily="18" charset="0"/>
              </a:rPr>
              <a:t> </a:t>
            </a:r>
            <a:r>
              <a:rPr lang="ru-RU" sz="2600" spc="-10" dirty="0">
                <a:effectLst/>
                <a:latin typeface="Times New Roman" panose="02020603050405020304" pitchFamily="18" charset="0"/>
                <a:ea typeface="Times New Roman" panose="02020603050405020304" pitchFamily="18" charset="0"/>
              </a:rPr>
              <a:t>с</a:t>
            </a:r>
            <a:r>
              <a:rPr lang="ru-RU" sz="2600" spc="-55" dirty="0">
                <a:effectLst/>
                <a:latin typeface="Times New Roman" panose="02020603050405020304" pitchFamily="18" charset="0"/>
                <a:ea typeface="Times New Roman" panose="02020603050405020304" pitchFamily="18" charset="0"/>
              </a:rPr>
              <a:t> </a:t>
            </a:r>
            <a:r>
              <a:rPr lang="ru-RU" sz="2600" spc="-10" dirty="0">
                <a:effectLst/>
                <a:latin typeface="Times New Roman" panose="02020603050405020304" pitchFamily="18" charset="0"/>
                <a:ea typeface="Times New Roman" panose="02020603050405020304" pitchFamily="18" charset="0"/>
              </a:rPr>
              <a:t>последствиями</a:t>
            </a:r>
            <a:r>
              <a:rPr lang="ru-RU" sz="2600" spc="40" dirty="0">
                <a:effectLst/>
                <a:latin typeface="Times New Roman" panose="02020603050405020304" pitchFamily="18" charset="0"/>
                <a:ea typeface="Times New Roman" panose="02020603050405020304" pitchFamily="18" charset="0"/>
              </a:rPr>
              <a:t> </a:t>
            </a:r>
            <a:r>
              <a:rPr lang="ru-RU" sz="2600" spc="-10" dirty="0">
                <a:effectLst/>
                <a:latin typeface="Times New Roman" panose="02020603050405020304" pitchFamily="18" charset="0"/>
                <a:ea typeface="Times New Roman" panose="02020603050405020304" pitchFamily="18" charset="0"/>
              </a:rPr>
              <a:t>запуска подобной проце</a:t>
            </a:r>
            <a:r>
              <a:rPr lang="ru-RU" sz="2600" dirty="0">
                <a:effectLst/>
                <a:latin typeface="Times New Roman" panose="02020603050405020304" pitchFamily="18" charset="0"/>
                <a:ea typeface="Times New Roman" panose="02020603050405020304" pitchFamily="18" charset="0"/>
              </a:rPr>
              <a:t>дуры</a:t>
            </a:r>
            <a:r>
              <a:rPr lang="ru-RU" sz="2600" spc="-2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та</a:t>
            </a:r>
            <a:r>
              <a:rPr lang="ru-RU" sz="2600" spc="-5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же:</a:t>
            </a:r>
            <a:r>
              <a:rPr lang="ru-RU" sz="2600" spc="-7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назначение пользователю</a:t>
            </a:r>
            <a:r>
              <a:rPr lang="ru-RU" sz="2600" spc="14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профиля, ограничивавшего максимально выделяемую память. Листинг  иллюстрирует </a:t>
            </a:r>
            <a:r>
              <a:rPr lang="ru-RU" sz="2600" spc="-30" dirty="0">
                <a:effectLst/>
                <a:latin typeface="Times New Roman" panose="02020603050405020304" pitchFamily="18" charset="0"/>
                <a:ea typeface="Times New Roman" panose="02020603050405020304" pitchFamily="18" charset="0"/>
              </a:rPr>
              <a:t>ситуацию,</a:t>
            </a:r>
            <a:r>
              <a:rPr lang="ru-RU" sz="2600" dirty="0">
                <a:effectLst/>
                <a:latin typeface="Times New Roman" panose="02020603050405020304" pitchFamily="18" charset="0"/>
                <a:ea typeface="Times New Roman" panose="02020603050405020304" pitchFamily="18" charset="0"/>
              </a:rPr>
              <a:t> </a:t>
            </a:r>
            <a:r>
              <a:rPr lang="ru-RU" sz="2600" spc="-30" dirty="0">
                <a:effectLst/>
                <a:latin typeface="Times New Roman" panose="02020603050405020304" pitchFamily="18" charset="0"/>
                <a:ea typeface="Times New Roman" panose="02020603050405020304" pitchFamily="18" charset="0"/>
              </a:rPr>
              <a:t>когда пользователь, запустивший</a:t>
            </a:r>
            <a:r>
              <a:rPr lang="ru-RU" sz="2600" dirty="0">
                <a:effectLst/>
                <a:latin typeface="Times New Roman" panose="02020603050405020304" pitchFamily="18" charset="0"/>
                <a:ea typeface="Times New Roman" panose="02020603050405020304" pitchFamily="18" charset="0"/>
              </a:rPr>
              <a:t> </a:t>
            </a:r>
            <a:r>
              <a:rPr lang="ru-RU" sz="2600" spc="-30" dirty="0">
                <a:effectLst/>
                <a:latin typeface="Times New Roman" panose="02020603050405020304" pitchFamily="18" charset="0"/>
                <a:ea typeface="Times New Roman" panose="02020603050405020304" pitchFamily="18" charset="0"/>
              </a:rPr>
              <a:t>«жадную» процедуру,. </a:t>
            </a:r>
            <a:r>
              <a:rPr lang="ru-RU" sz="2600" dirty="0">
                <a:effectLst/>
                <a:latin typeface="Times New Roman" panose="02020603050405020304" pitchFamily="18" charset="0"/>
                <a:ea typeface="Times New Roman" panose="02020603050405020304" pitchFamily="18" charset="0"/>
              </a:rPr>
              <a:t>принудительно</a:t>
            </a:r>
            <a:r>
              <a:rPr lang="ru-RU" sz="2600" spc="20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выводится из системы.</a:t>
            </a:r>
          </a:p>
          <a:p>
            <a:pPr marL="0" indent="0">
              <a:buNone/>
            </a:pPr>
            <a:endParaRPr lang="ru-RU" sz="2800" dirty="0"/>
          </a:p>
        </p:txBody>
      </p:sp>
      <p:pic>
        <p:nvPicPr>
          <p:cNvPr id="3" name="Рисунок 2">
            <a:extLst>
              <a:ext uri="{FF2B5EF4-FFF2-40B4-BE49-F238E27FC236}">
                <a16:creationId xmlns:a16="http://schemas.microsoft.com/office/drawing/2014/main" id="{ED8503C3-C9E3-6B42-013E-BB69944F08A4}"/>
              </a:ext>
            </a:extLst>
          </p:cNvPr>
          <p:cNvPicPr>
            <a:picLocks noChangeAspect="1"/>
          </p:cNvPicPr>
          <p:nvPr/>
        </p:nvPicPr>
        <p:blipFill>
          <a:blip r:embed="rId3"/>
          <a:stretch>
            <a:fillRect/>
          </a:stretch>
        </p:blipFill>
        <p:spPr>
          <a:xfrm>
            <a:off x="539551" y="2492896"/>
            <a:ext cx="8485547" cy="25922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p:cNvSpPr>
          <p:nvPr>
            <p:ph type="body" idx="1"/>
          </p:nvPr>
        </p:nvSpPr>
        <p:spPr>
          <a:xfrm>
            <a:off x="107504" y="0"/>
            <a:ext cx="9036496" cy="6741368"/>
          </a:xfrm>
        </p:spPr>
        <p:txBody>
          <a:bodyPr/>
          <a:lstStyle/>
          <a:p>
            <a:pPr marL="0" indent="252000" algn="just">
              <a:lnSpc>
                <a:spcPct val="115000"/>
              </a:lnSpc>
              <a:spcBef>
                <a:spcPts val="0"/>
              </a:spcBef>
              <a:buNone/>
              <a:tabLst>
                <a:tab pos="624205" algn="l"/>
              </a:tabLst>
            </a:pPr>
            <a:r>
              <a:rPr lang="ru-RU" sz="2600" kern="0" dirty="0">
                <a:effectLst/>
                <a:latin typeface="Times New Roman" panose="02020603050405020304" pitchFamily="18" charset="0"/>
                <a:ea typeface="Times New Roman" panose="02020603050405020304" pitchFamily="18" charset="0"/>
              </a:rPr>
              <a:t>Бороться с процедурами, расходующими ресурсы системы нецелевым</a:t>
            </a:r>
            <a:r>
              <a:rPr lang="ru-RU" sz="2600" kern="0" spc="17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образом,</a:t>
            </a:r>
            <a:r>
              <a:rPr lang="ru-RU" sz="2600" kern="0" spc="-1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и</a:t>
            </a:r>
            <a:r>
              <a:rPr lang="ru-RU" sz="2600" kern="0" spc="-1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с</a:t>
            </a:r>
            <a:r>
              <a:rPr lang="ru-RU" sz="2600" kern="0" spc="-1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иными деструктивными процедурами можно принудительным завершением процессов-вредителей.</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Для</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принудительного</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завершения</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процесса необходимо выяснить</a:t>
            </a:r>
            <a:r>
              <a:rPr lang="ru-RU" sz="2600" kern="0" spc="-3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значения его</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параметров </a:t>
            </a:r>
            <a:r>
              <a:rPr lang="ru-RU" sz="2600" kern="0" dirty="0" err="1">
                <a:effectLst/>
                <a:latin typeface="Times New Roman" panose="02020603050405020304" pitchFamily="18" charset="0"/>
                <a:ea typeface="Times New Roman" panose="02020603050405020304" pitchFamily="18" charset="0"/>
              </a:rPr>
              <a:t>sid</a:t>
            </a:r>
            <a:r>
              <a:rPr lang="ru-RU" sz="2600" kern="0" spc="-3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и</a:t>
            </a:r>
            <a:r>
              <a:rPr lang="ru-RU" sz="2600" kern="0" spc="-70" dirty="0">
                <a:effectLst/>
                <a:latin typeface="Times New Roman" panose="02020603050405020304" pitchFamily="18" charset="0"/>
                <a:ea typeface="Times New Roman" panose="02020603050405020304" pitchFamily="18" charset="0"/>
              </a:rPr>
              <a:t> </a:t>
            </a:r>
            <a:r>
              <a:rPr lang="ru-RU" sz="2600" kern="0" dirty="0" err="1">
                <a:effectLst/>
                <a:latin typeface="Times New Roman" panose="02020603050405020304" pitchFamily="18" charset="0"/>
                <a:ea typeface="Times New Roman" panose="02020603050405020304" pitchFamily="18" charset="0"/>
              </a:rPr>
              <a:t>serial</a:t>
            </a:r>
            <a:r>
              <a:rPr lang="ru-RU" sz="2600" kern="0" dirty="0">
                <a:effectLst/>
                <a:latin typeface="Times New Roman" panose="02020603050405020304" pitchFamily="18" charset="0"/>
                <a:ea typeface="Times New Roman" panose="02020603050405020304" pitchFamily="18" charset="0"/>
              </a:rPr>
              <a:t>#.</a:t>
            </a:r>
            <a:r>
              <a:rPr lang="ru-RU" sz="2600" kern="0" spc="-3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Пусть мониторинг системы показал, 'что</a:t>
            </a:r>
            <a:r>
              <a:rPr lang="ru-RU" sz="2600" kern="0" dirty="0">
                <a:effectLst/>
                <a:latin typeface="Arial" panose="020B0604020202020204" pitchFamily="34" charset="0"/>
                <a:ea typeface="Times New Roman" panose="02020603050405020304" pitchFamily="18" charset="0"/>
                <a:cs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пользователь u1 запустил процесс с некоторыми деструктивными функциями. Пример принудительного завершения выявленного</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по идентификатору пользователя</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процесса приведен далее</a:t>
            </a:r>
            <a:endParaRPr lang="ru-RU" sz="2600" dirty="0"/>
          </a:p>
        </p:txBody>
      </p:sp>
      <p:pic>
        <p:nvPicPr>
          <p:cNvPr id="3" name="Рисунок 2">
            <a:extLst>
              <a:ext uri="{FF2B5EF4-FFF2-40B4-BE49-F238E27FC236}">
                <a16:creationId xmlns:a16="http://schemas.microsoft.com/office/drawing/2014/main" id="{8618D78A-B377-BE96-2134-FE8D401A6485}"/>
              </a:ext>
            </a:extLst>
          </p:cNvPr>
          <p:cNvPicPr>
            <a:picLocks noChangeAspect="1"/>
          </p:cNvPicPr>
          <p:nvPr/>
        </p:nvPicPr>
        <p:blipFill>
          <a:blip r:embed="rId3"/>
          <a:stretch>
            <a:fillRect/>
          </a:stretch>
        </p:blipFill>
        <p:spPr>
          <a:xfrm>
            <a:off x="323527" y="4221088"/>
            <a:ext cx="6619355" cy="25202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888AD25-2389-2BC3-1932-05E39DCED8F3}"/>
              </a:ext>
            </a:extLst>
          </p:cNvPr>
          <p:cNvSpPr>
            <a:spLocks noGrp="1"/>
          </p:cNvSpPr>
          <p:nvPr>
            <p:ph idx="1"/>
          </p:nvPr>
        </p:nvSpPr>
        <p:spPr>
          <a:xfrm>
            <a:off x="0" y="188640"/>
            <a:ext cx="8820472" cy="5937523"/>
          </a:xfrm>
        </p:spPr>
        <p:txBody>
          <a:bodyPr/>
          <a:lstStyle/>
          <a:p>
            <a:pPr marL="0" indent="0" algn="just">
              <a:buNone/>
            </a:pPr>
            <a:r>
              <a:rPr lang="ru-RU" sz="2600" b="1" spc="-60" dirty="0">
                <a:latin typeface="Times New Roman" panose="02020603050405020304" pitchFamily="18" charset="0"/>
                <a:ea typeface="Times New Roman" panose="02020603050405020304" pitchFamily="18" charset="0"/>
              </a:rPr>
              <a:t>3. Использование триггеров </a:t>
            </a:r>
            <a:r>
              <a:rPr lang="ru-RU" sz="2600" b="1" spc="-60" dirty="0">
                <a:latin typeface="Times New Roman" panose="02020603050405020304" pitchFamily="18" charset="0"/>
              </a:rPr>
              <a:t>для</a:t>
            </a:r>
            <a:r>
              <a:rPr lang="ru-RU" sz="2600" spc="-60" dirty="0">
                <a:latin typeface="Times New Roman" panose="02020603050405020304" pitchFamily="18" charset="0"/>
                <a:ea typeface="Times New Roman" panose="02020603050405020304" pitchFamily="18" charset="0"/>
              </a:rPr>
              <a:t> </a:t>
            </a:r>
            <a:r>
              <a:rPr lang="ru-RU" sz="2600" b="1" spc="-60" dirty="0">
                <a:latin typeface="Times New Roman" panose="02020603050405020304" pitchFamily="18" charset="0"/>
                <a:ea typeface="Times New Roman" panose="02020603050405020304" pitchFamily="18" charset="0"/>
              </a:rPr>
              <a:t>выполнения незапланированных функций</a:t>
            </a:r>
            <a:endParaRPr lang="ru-RU" sz="2600" spc="-60" dirty="0">
              <a:latin typeface="Times New Roman" panose="02020603050405020304" pitchFamily="18" charset="0"/>
              <a:ea typeface="Times New Roman" panose="02020603050405020304" pitchFamily="18" charset="0"/>
            </a:endParaRPr>
          </a:p>
          <a:p>
            <a:pPr marL="0" indent="0" algn="just">
              <a:buNone/>
            </a:pPr>
            <a:r>
              <a:rPr lang="ru-RU" sz="2500" dirty="0">
                <a:latin typeface="Times New Roman" panose="02020603050405020304" pitchFamily="18" charset="0"/>
                <a:cs typeface="Times New Roman" panose="02020603050405020304" pitchFamily="18" charset="0"/>
              </a:rPr>
              <a:t>Триггер в базе данных — это особая, автоматически выполняемая хранимая процедура, которая срабатывает при наступлении определённого события, такого как вставка (INSERT), обновление (UPDATE) или удаление (DELETE) данных в таблице или представлении. Триггеры используются для автоматизации задач, поддержания целостности данных, ведения журналов аудита и реализации сложной бизнес-логики на уровне базы данных, независимо от приложения, работающего с данными</a:t>
            </a:r>
          </a:p>
        </p:txBody>
      </p:sp>
    </p:spTree>
    <p:extLst>
      <p:ext uri="{BB962C8B-B14F-4D97-AF65-F5344CB8AC3E}">
        <p14:creationId xmlns:p14="http://schemas.microsoft.com/office/powerpoint/2010/main" val="1231294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p:cNvSpPr>
          <p:nvPr>
            <p:ph type="body" idx="1"/>
          </p:nvPr>
        </p:nvSpPr>
        <p:spPr>
          <a:xfrm>
            <a:off x="0" y="0"/>
            <a:ext cx="8964488" cy="6586538"/>
          </a:xfrm>
        </p:spPr>
        <p:txBody>
          <a:bodyPr/>
          <a:lstStyle/>
          <a:p>
            <a:pPr marL="0" indent="0" algn="just">
              <a:lnSpc>
                <a:spcPct val="115000"/>
              </a:lnSpc>
              <a:buNone/>
              <a:tabLst>
                <a:tab pos="624205" algn="l"/>
              </a:tabLst>
            </a:pPr>
            <a:r>
              <a:rPr lang="ru-RU" sz="2600" kern="0" dirty="0">
                <a:effectLst/>
                <a:latin typeface="Times New Roman" panose="02020603050405020304" pitchFamily="18" charset="0"/>
                <a:ea typeface="Times New Roman" panose="02020603050405020304" pitchFamily="18" charset="0"/>
              </a:rPr>
              <a:t>Специфические</a:t>
            </a:r>
            <a:r>
              <a:rPr lang="ru-RU" sz="2600" kern="0" spc="13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для</a:t>
            </a:r>
            <a:r>
              <a:rPr lang="ru-RU" sz="2600" kern="0" spc="-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баз</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данных</a:t>
            </a:r>
            <a:r>
              <a:rPr lang="ru-RU" sz="2600" kern="0" spc="-3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объекты</a:t>
            </a:r>
            <a:r>
              <a:rPr lang="ru-RU" sz="2600" kern="0" spc="-30" dirty="0">
                <a:effectLst/>
                <a:latin typeface="Times New Roman" panose="02020603050405020304" pitchFamily="18" charset="0"/>
                <a:ea typeface="Times New Roman" panose="02020603050405020304" pitchFamily="18" charset="0"/>
              </a:rPr>
              <a:t> </a:t>
            </a:r>
            <a:r>
              <a:rPr lang="ru-RU" sz="2600" kern="0" dirty="0">
                <a:solidFill>
                  <a:srgbClr val="000000"/>
                </a:solidFill>
                <a:effectLst/>
                <a:latin typeface="Times New Roman" panose="02020603050405020304" pitchFamily="18" charset="0"/>
                <a:ea typeface="Times New Roman" panose="02020603050405020304" pitchFamily="18" charset="0"/>
              </a:rPr>
              <a:t>-триггеры широко</a:t>
            </a:r>
            <a:r>
              <a:rPr lang="ru-RU" sz="2600" kern="0" dirty="0">
                <a:effectLst/>
                <a:latin typeface="Times New Roman" panose="02020603050405020304" pitchFamily="18" charset="0"/>
                <a:ea typeface="Times New Roman" panose="02020603050405020304" pitchFamily="18" charset="0"/>
              </a:rPr>
              <a:t> используются</a:t>
            </a:r>
            <a:r>
              <a:rPr lang="ru-RU" sz="2600" kern="0" spc="-70" dirty="0">
                <a:effectLst/>
                <a:latin typeface="Times New Roman" panose="02020603050405020304" pitchFamily="18" charset="0"/>
                <a:ea typeface="Times New Roman" panose="02020603050405020304" pitchFamily="18" charset="0"/>
              </a:rPr>
              <a:t> </a:t>
            </a:r>
            <a:r>
              <a:rPr lang="ru-RU" sz="2600" kern="0" spc="50" dirty="0">
                <a:effectLst/>
                <a:latin typeface="Times New Roman" panose="02020603050405020304" pitchFamily="18" charset="0"/>
                <a:ea typeface="Times New Roman" panose="02020603050405020304" pitchFamily="18" charset="0"/>
              </a:rPr>
              <a:t>для</a:t>
            </a:r>
            <a:r>
              <a:rPr lang="ru-RU" sz="2600" kern="0" spc="135" dirty="0">
                <a:effectLst/>
                <a:latin typeface="Times New Roman" panose="02020603050405020304" pitchFamily="18" charset="0"/>
                <a:ea typeface="Times New Roman" panose="02020603050405020304" pitchFamily="18" charset="0"/>
              </a:rPr>
              <a:t> о</a:t>
            </a:r>
            <a:r>
              <a:rPr lang="ru-RU" sz="2600" kern="0" spc="50" dirty="0">
                <a:effectLst/>
                <a:latin typeface="Times New Roman" panose="02020603050405020304" pitchFamily="18" charset="0"/>
                <a:ea typeface="Times New Roman" panose="02020603050405020304" pitchFamily="18" charset="0"/>
              </a:rPr>
              <a:t>бес</a:t>
            </a:r>
            <a:r>
              <a:rPr lang="ru-RU" sz="2600" kern="0" spc="55" dirty="0">
                <a:effectLst/>
                <a:latin typeface="Times New Roman" panose="02020603050405020304" pitchFamily="18" charset="0"/>
                <a:ea typeface="Times New Roman" panose="02020603050405020304" pitchFamily="18" charset="0"/>
              </a:rPr>
              <a:t>п</a:t>
            </a:r>
            <a:r>
              <a:rPr lang="ru-RU" sz="2600" kern="0" spc="50" dirty="0">
                <a:effectLst/>
                <a:latin typeface="Times New Roman" panose="02020603050405020304" pitchFamily="18" charset="0"/>
                <a:ea typeface="Times New Roman" panose="02020603050405020304" pitchFamily="18" charset="0"/>
              </a:rPr>
              <a:t>ече</a:t>
            </a:r>
            <a:r>
              <a:rPr lang="ru-RU" sz="2600" kern="0" spc="55" dirty="0">
                <a:effectLst/>
                <a:latin typeface="Times New Roman" panose="02020603050405020304" pitchFamily="18" charset="0"/>
                <a:ea typeface="Times New Roman" panose="02020603050405020304" pitchFamily="18" charset="0"/>
              </a:rPr>
              <a:t>ния</a:t>
            </a:r>
            <a:r>
              <a:rPr lang="ru-RU" sz="2600" kern="0" spc="-5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конфиденциальности</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и</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целостности </a:t>
            </a:r>
            <a:r>
              <a:rPr lang="ru-RU" sz="2600" kern="0" dirty="0">
                <a:solidFill>
                  <a:srgbClr val="000000"/>
                </a:solidFill>
                <a:effectLst/>
                <a:latin typeface="Times New Roman" panose="02020603050405020304" pitchFamily="18" charset="0"/>
                <a:ea typeface="Times New Roman" panose="02020603050405020304" pitchFamily="18" charset="0"/>
              </a:rPr>
              <a:t>данных.</a:t>
            </a:r>
            <a:r>
              <a:rPr lang="ru-RU" sz="2600" kern="0" dirty="0">
                <a:effectLst/>
                <a:latin typeface="Times New Roman" panose="02020603050405020304" pitchFamily="18" charset="0"/>
                <a:ea typeface="Times New Roman" panose="02020603050405020304" pitchFamily="18" charset="0"/>
              </a:rPr>
              <a:t> Автоматическое</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срабатывание триггера при выполнении операций</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языка</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манипулирования</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данными</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INSERT,</a:t>
            </a:r>
            <a:r>
              <a:rPr lang="ru-RU" sz="2600" kern="0" spc="-6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DELETE, </a:t>
            </a:r>
            <a:r>
              <a:rPr lang="en-US" sz="2600" kern="0" dirty="0">
                <a:effectLst/>
                <a:latin typeface="Times New Roman" panose="02020603050405020304" pitchFamily="18" charset="0"/>
                <a:ea typeface="Times New Roman" panose="02020603050405020304" pitchFamily="18" charset="0"/>
              </a:rPr>
              <a:t>UPD</a:t>
            </a:r>
            <a:r>
              <a:rPr lang="ru-RU" sz="2600" kern="0" dirty="0">
                <a:effectLst/>
                <a:latin typeface="Times New Roman" panose="02020603050405020304" pitchFamily="18" charset="0"/>
                <a:ea typeface="Times New Roman" panose="02020603050405020304" pitchFamily="18" charset="0"/>
              </a:rPr>
              <a:t>ATE создает возможности для дополнительного</a:t>
            </a:r>
            <a:r>
              <a:rPr lang="ru-RU" sz="2600" kern="0" spc="-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аудита и программируемого</a:t>
            </a:r>
            <a:r>
              <a:rPr lang="ru-RU" sz="2600" kern="0" spc="-7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контроля</a:t>
            </a:r>
            <a:r>
              <a:rPr lang="ru-RU" sz="2600" kern="0" spc="-3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выполняемых</a:t>
            </a:r>
            <a:r>
              <a:rPr lang="ru-RU" sz="2600" kern="0" spc="-5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операций.</a:t>
            </a:r>
          </a:p>
          <a:p>
            <a:pPr marL="0" indent="0" algn="just">
              <a:lnSpc>
                <a:spcPct val="115000"/>
              </a:lnSpc>
              <a:buNone/>
              <a:tabLst>
                <a:tab pos="624205" algn="l"/>
              </a:tabLst>
            </a:pPr>
            <a:r>
              <a:rPr lang="ru-RU" sz="2600" kern="0" dirty="0">
                <a:effectLst/>
                <a:latin typeface="Times New Roman" panose="02020603050405020304" pitchFamily="18" charset="0"/>
                <a:ea typeface="Times New Roman" panose="02020603050405020304" pitchFamily="18" charset="0"/>
              </a:rPr>
              <a:t>Но</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не следует</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забывать, что возможности,</a:t>
            </a:r>
            <a:r>
              <a:rPr lang="ru-RU" sz="2600" kern="0" spc="20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предоставляемые триггерами, могут быть использованы для деструктивных действий, в частности, создания нелегальной копии вводимых. </a:t>
            </a:r>
            <a:r>
              <a:rPr lang="ru-RU" sz="2600" kern="0" spc="-30" dirty="0">
                <a:effectLst/>
                <a:latin typeface="Times New Roman" panose="02020603050405020304" pitchFamily="18" charset="0"/>
                <a:ea typeface="Times New Roman" panose="02020603050405020304" pitchFamily="18" charset="0"/>
              </a:rPr>
              <a:t>Данных</a:t>
            </a:r>
            <a:r>
              <a:rPr lang="ru-RU" sz="2600" kern="0" spc="-30" dirty="0">
                <a:latin typeface="Times New Roman" panose="02020603050405020304" pitchFamily="18" charset="0"/>
                <a:ea typeface="Times New Roman" panose="02020603050405020304" pitchFamily="18" charset="0"/>
              </a:rPr>
              <a:t>.</a:t>
            </a:r>
            <a:endParaRPr lang="ru-RU"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p:cNvSpPr>
          <p:nvPr>
            <p:ph type="body" idx="1"/>
          </p:nvPr>
        </p:nvSpPr>
        <p:spPr>
          <a:xfrm>
            <a:off x="0" y="1"/>
            <a:ext cx="9144000" cy="6858000"/>
          </a:xfrm>
        </p:spPr>
        <p:txBody>
          <a:bodyPr/>
          <a:lstStyle/>
          <a:p>
            <a:pPr marL="0" indent="0" algn="just">
              <a:lnSpc>
                <a:spcPct val="115000"/>
              </a:lnSpc>
              <a:buNone/>
              <a:tabLst>
                <a:tab pos="624205" algn="l"/>
              </a:tabLst>
            </a:pPr>
            <a:r>
              <a:rPr lang="ru-RU" sz="2600" kern="0" dirty="0">
                <a:effectLst/>
                <a:latin typeface="Times New Roman" panose="02020603050405020304" pitchFamily="18" charset="0"/>
                <a:ea typeface="Times New Roman" panose="02020603050405020304" pitchFamily="18" charset="0"/>
              </a:rPr>
              <a:t>Пример показывает, что пользователь </a:t>
            </a:r>
            <a:r>
              <a:rPr lang="ru-RU" sz="2600" kern="0" dirty="0" err="1">
                <a:effectLst/>
                <a:latin typeface="Times New Roman" panose="02020603050405020304" pitchFamily="18" charset="0"/>
                <a:ea typeface="Times New Roman" panose="02020603050405020304" pitchFamily="18" charset="0"/>
              </a:rPr>
              <a:t>badboy</a:t>
            </a:r>
            <a:r>
              <a:rPr lang="ru-RU" sz="2600" kern="0" dirty="0">
                <a:effectLst/>
                <a:latin typeface="Times New Roman" panose="02020603050405020304" pitchFamily="18" charset="0"/>
                <a:ea typeface="Times New Roman" panose="02020603050405020304" pitchFamily="18" charset="0"/>
              </a:rPr>
              <a:t>, обладающий привилегией CREATE ANY ТRIGGER. может навесить на</a:t>
            </a:r>
            <a:r>
              <a:rPr lang="ru-RU" sz="2600" kern="0" spc="-4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таблицу триггер, копирующий все </a:t>
            </a:r>
            <a:r>
              <a:rPr lang="ru-RU" sz="2600" kern="0" spc="-20" dirty="0">
                <a:effectLst/>
                <a:latin typeface="Times New Roman" panose="02020603050405020304" pitchFamily="18" charset="0"/>
                <a:ea typeface="Times New Roman" panose="02020603050405020304" pitchFamily="18" charset="0"/>
              </a:rPr>
              <a:t>вводимые</a:t>
            </a:r>
            <a:r>
              <a:rPr lang="ru-RU" sz="2600" kern="0" spc="-50" dirty="0">
                <a:effectLst/>
                <a:latin typeface="Times New Roman" panose="02020603050405020304" pitchFamily="18" charset="0"/>
                <a:ea typeface="Times New Roman" panose="02020603050405020304" pitchFamily="18" charset="0"/>
              </a:rPr>
              <a:t> </a:t>
            </a:r>
            <a:r>
              <a:rPr lang="ru-RU" sz="2600" kern="0" spc="-20" dirty="0">
                <a:effectLst/>
                <a:latin typeface="Times New Roman" panose="02020603050405020304" pitchFamily="18" charset="0"/>
                <a:ea typeface="Times New Roman" panose="02020603050405020304" pitchFamily="18" charset="0"/>
              </a:rPr>
              <a:t>данные. Пользователь</a:t>
            </a:r>
            <a:r>
              <a:rPr lang="ru-RU" sz="2600" kern="0" spc="25" dirty="0">
                <a:effectLst/>
                <a:latin typeface="Times New Roman" panose="02020603050405020304" pitchFamily="18" charset="0"/>
                <a:ea typeface="Times New Roman" panose="02020603050405020304" pitchFamily="18" charset="0"/>
              </a:rPr>
              <a:t> </a:t>
            </a:r>
            <a:r>
              <a:rPr lang="ru-RU" sz="2600" kern="0" spc="-20" dirty="0">
                <a:effectLst/>
                <a:latin typeface="Times New Roman" panose="02020603050405020304" pitchFamily="18" charset="0"/>
                <a:ea typeface="Times New Roman" panose="02020603050405020304" pitchFamily="18" charset="0"/>
              </a:rPr>
              <a:t>u</a:t>
            </a:r>
            <a:r>
              <a:rPr lang="ru-RU" sz="2600" kern="0" spc="-50" dirty="0">
                <a:effectLst/>
                <a:latin typeface="Times New Roman" panose="02020603050405020304" pitchFamily="18" charset="0"/>
                <a:ea typeface="Times New Roman" panose="02020603050405020304" pitchFamily="18" charset="0"/>
              </a:rPr>
              <a:t>1</a:t>
            </a:r>
            <a:r>
              <a:rPr lang="ru-RU" sz="2600" kern="0" spc="95" dirty="0">
                <a:effectLst/>
                <a:latin typeface="Times New Roman" panose="02020603050405020304" pitchFamily="18" charset="0"/>
                <a:ea typeface="Times New Roman" panose="02020603050405020304" pitchFamily="18" charset="0"/>
              </a:rPr>
              <a:t> </a:t>
            </a:r>
            <a:r>
              <a:rPr lang="ru-RU" sz="2600" kern="0" spc="-20" dirty="0">
                <a:effectLst/>
                <a:latin typeface="Times New Roman" panose="02020603050405020304" pitchFamily="18" charset="0"/>
                <a:ea typeface="Times New Roman" panose="02020603050405020304" pitchFamily="18" charset="0"/>
              </a:rPr>
              <a:t>создал таблицу. </a:t>
            </a:r>
            <a:r>
              <a:rPr lang="ru-RU" sz="2600" kern="0" spc="-10" dirty="0">
                <a:effectLst/>
                <a:latin typeface="Times New Roman" panose="02020603050405020304" pitchFamily="18" charset="0"/>
                <a:ea typeface="Times New Roman" panose="02020603050405020304" pitchFamily="18" charset="0"/>
              </a:rPr>
              <a:t>Структура таблицы  </a:t>
            </a:r>
            <a:r>
              <a:rPr lang="en-US" sz="2600" kern="0" spc="-10" dirty="0">
                <a:effectLst/>
                <a:latin typeface="Times New Roman" panose="02020603050405020304" pitchFamily="18" charset="0"/>
                <a:ea typeface="Times New Roman" panose="02020603050405020304" pitchFamily="18" charset="0"/>
              </a:rPr>
              <a:t>T</a:t>
            </a:r>
            <a:r>
              <a:rPr lang="ru-RU" sz="2600" kern="0" spc="-10" dirty="0">
                <a:effectLst/>
                <a:latin typeface="Times New Roman" panose="02020603050405020304" pitchFamily="18" charset="0"/>
                <a:ea typeface="Times New Roman" panose="02020603050405020304" pitchFamily="18" charset="0"/>
              </a:rPr>
              <a:t>ab1 считается </a:t>
            </a:r>
            <a:r>
              <a:rPr lang="ru-RU" sz="2600" kern="0" dirty="0">
                <a:effectLst/>
                <a:latin typeface="Times New Roman" panose="02020603050405020304" pitchFamily="18" charset="0"/>
                <a:ea typeface="Times New Roman" panose="02020603050405020304" pitchFamily="18" charset="0"/>
              </a:rPr>
              <a:t>пользователю </a:t>
            </a:r>
            <a:r>
              <a:rPr lang="ru-RU" sz="2600" kern="0" dirty="0" err="1">
                <a:effectLst/>
                <a:latin typeface="Times New Roman" panose="02020603050405020304" pitchFamily="18" charset="0"/>
                <a:ea typeface="Times New Roman" panose="02020603050405020304" pitchFamily="18" charset="0"/>
              </a:rPr>
              <a:t>badboy</a:t>
            </a:r>
            <a:r>
              <a:rPr lang="ru-RU" sz="2600" kern="0" spc="-10" dirty="0">
                <a:effectLst/>
                <a:latin typeface="Times New Roman" panose="02020603050405020304" pitchFamily="18" charset="0"/>
                <a:ea typeface="Times New Roman" panose="02020603050405020304" pitchFamily="18" charset="0"/>
              </a:rPr>
              <a:t> известной</a:t>
            </a:r>
            <a:endParaRPr lang="ru-RU" sz="2600" dirty="0">
              <a:effectLst/>
              <a:latin typeface="Times New Roman" panose="02020603050405020304" pitchFamily="18" charset="0"/>
              <a:ea typeface="Times New Roman" panose="02020603050405020304" pitchFamily="18" charset="0"/>
            </a:endParaRPr>
          </a:p>
        </p:txBody>
      </p:sp>
      <p:pic>
        <p:nvPicPr>
          <p:cNvPr id="8" name="Рисунок 7">
            <a:extLst>
              <a:ext uri="{FF2B5EF4-FFF2-40B4-BE49-F238E27FC236}">
                <a16:creationId xmlns:a16="http://schemas.microsoft.com/office/drawing/2014/main" id="{12773C6A-1635-4094-8909-F8CA25A039D9}"/>
              </a:ext>
            </a:extLst>
          </p:cNvPr>
          <p:cNvPicPr>
            <a:picLocks noChangeAspect="1"/>
          </p:cNvPicPr>
          <p:nvPr/>
        </p:nvPicPr>
        <p:blipFill>
          <a:blip r:embed="rId2"/>
          <a:stretch>
            <a:fillRect/>
          </a:stretch>
        </p:blipFill>
        <p:spPr>
          <a:xfrm>
            <a:off x="323528" y="2492896"/>
            <a:ext cx="8077486" cy="17031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0"/>
            <a:ext cx="9144000" cy="6858000"/>
          </a:xfrm>
        </p:spPr>
        <p:txBody>
          <a:bodyPr/>
          <a:lstStyle/>
          <a:p>
            <a:pPr marL="0" lvl="0" indent="0" algn="just">
              <a:lnSpc>
                <a:spcPct val="115000"/>
              </a:lnSpc>
              <a:buNone/>
              <a:tabLst>
                <a:tab pos="475615" algn="l"/>
              </a:tabLst>
            </a:pPr>
            <a:r>
              <a:rPr lang="ru-RU" sz="2600" b="1" dirty="0">
                <a:latin typeface="Times New Roman" panose="02020603050405020304" pitchFamily="18" charset="0"/>
                <a:cs typeface="Times New Roman" panose="02020603050405020304" pitchFamily="18" charset="0"/>
              </a:rPr>
              <a:t>  </a:t>
            </a:r>
            <a:endParaRPr lang="ru-RU" sz="2600" spc="0" dirty="0">
              <a:effectLst/>
              <a:latin typeface="Times New Roman" panose="02020603050405020304" pitchFamily="18" charset="0"/>
              <a:ea typeface="Times New Roman" panose="02020603050405020304" pitchFamily="18" charset="0"/>
            </a:endParaRPr>
          </a:p>
        </p:txBody>
      </p:sp>
      <p:pic>
        <p:nvPicPr>
          <p:cNvPr id="4" name="Рисунок 3">
            <a:extLst>
              <a:ext uri="{FF2B5EF4-FFF2-40B4-BE49-F238E27FC236}">
                <a16:creationId xmlns:a16="http://schemas.microsoft.com/office/drawing/2014/main" id="{6A784687-E1F5-1644-6F86-7AF1880DDBD8}"/>
              </a:ext>
            </a:extLst>
          </p:cNvPr>
          <p:cNvPicPr>
            <a:picLocks noChangeAspect="1"/>
          </p:cNvPicPr>
          <p:nvPr/>
        </p:nvPicPr>
        <p:blipFill>
          <a:blip r:embed="rId2"/>
          <a:stretch>
            <a:fillRect/>
          </a:stretch>
        </p:blipFill>
        <p:spPr>
          <a:xfrm>
            <a:off x="323528" y="260648"/>
            <a:ext cx="8406863" cy="532859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p:cNvSpPr>
          <p:nvPr>
            <p:ph type="body" idx="1"/>
          </p:nvPr>
        </p:nvSpPr>
        <p:spPr>
          <a:xfrm>
            <a:off x="0" y="115888"/>
            <a:ext cx="9036496" cy="6742112"/>
          </a:xfrm>
        </p:spPr>
        <p:txBody>
          <a:bodyPr/>
          <a:lstStyle/>
          <a:p>
            <a:pPr marL="90805" marR="76835" indent="360000" algn="just">
              <a:lnSpc>
                <a:spcPct val="115000"/>
              </a:lnSpc>
              <a:spcAft>
                <a:spcPts val="0"/>
              </a:spcAft>
              <a:buNone/>
            </a:pPr>
            <a:endParaRPr lang="ru-RU" sz="2600" dirty="0">
              <a:effectLst/>
              <a:latin typeface="Times New Roman" panose="02020603050405020304" pitchFamily="18" charset="0"/>
              <a:ea typeface="Times New Roman" panose="02020603050405020304" pitchFamily="18" charset="0"/>
            </a:endParaRPr>
          </a:p>
        </p:txBody>
      </p:sp>
      <p:pic>
        <p:nvPicPr>
          <p:cNvPr id="3" name="Рисунок 2">
            <a:extLst>
              <a:ext uri="{FF2B5EF4-FFF2-40B4-BE49-F238E27FC236}">
                <a16:creationId xmlns:a16="http://schemas.microsoft.com/office/drawing/2014/main" id="{C28807BF-9394-BFEE-E1D2-EE3F0AE4F8C7}"/>
              </a:ext>
            </a:extLst>
          </p:cNvPr>
          <p:cNvPicPr>
            <a:picLocks noChangeAspect="1"/>
          </p:cNvPicPr>
          <p:nvPr/>
        </p:nvPicPr>
        <p:blipFill>
          <a:blip r:embed="rId2"/>
          <a:stretch>
            <a:fillRect/>
          </a:stretch>
        </p:blipFill>
        <p:spPr>
          <a:xfrm>
            <a:off x="395536" y="404664"/>
            <a:ext cx="6770605" cy="5400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p:cNvSpPr>
          <p:nvPr>
            <p:ph type="body" idx="1"/>
          </p:nvPr>
        </p:nvSpPr>
        <p:spPr>
          <a:xfrm>
            <a:off x="0" y="116632"/>
            <a:ext cx="8964488" cy="7056784"/>
          </a:xfrm>
        </p:spPr>
        <p:txBody>
          <a:bodyPr/>
          <a:lstStyle/>
          <a:p>
            <a:pPr marL="0" indent="0">
              <a:buNone/>
            </a:pPr>
            <a:r>
              <a:rPr lang="ru-RU" sz="2600" dirty="0">
                <a:effectLst/>
                <a:latin typeface="Times New Roman" panose="02020603050405020304" pitchFamily="18" charset="0"/>
                <a:ea typeface="Times New Roman" panose="02020603050405020304" pitchFamily="18" charset="0"/>
              </a:rPr>
              <a:t>Пример, демонстрирующий успешность атаки типа «кража данных с</a:t>
            </a:r>
            <a:r>
              <a:rPr lang="ru-RU" sz="2600" spc="34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использованием</a:t>
            </a:r>
            <a:r>
              <a:rPr lang="ru-RU" sz="2600" spc="-65"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триггера»,</a:t>
            </a:r>
            <a:r>
              <a:rPr lang="ru-RU" sz="2600" spc="-3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представлен</a:t>
            </a:r>
            <a:r>
              <a:rPr lang="ru-RU" sz="2600" spc="-5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ниже</a:t>
            </a:r>
          </a:p>
          <a:p>
            <a:pPr marL="0" indent="0">
              <a:buNone/>
            </a:pPr>
            <a:r>
              <a:rPr lang="ru-RU" sz="2600" dirty="0">
                <a:effectLst/>
                <a:latin typeface="Times New Roman" panose="02020603050405020304" pitchFamily="18" charset="0"/>
                <a:ea typeface="Times New Roman" panose="02020603050405020304" pitchFamily="18" charset="0"/>
              </a:rPr>
              <a:t>Хотя</a:t>
            </a:r>
            <a:r>
              <a:rPr lang="ru-RU" sz="2600" spc="-1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таблица</a:t>
            </a:r>
            <a:r>
              <a:rPr lang="ru-RU" sz="2600" spc="5"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Та</a:t>
            </a:r>
            <a:r>
              <a:rPr lang="en-US" sz="2600" dirty="0">
                <a:effectLst/>
                <a:latin typeface="Times New Roman" panose="02020603050405020304" pitchFamily="18" charset="0"/>
                <a:ea typeface="Times New Roman" panose="02020603050405020304" pitchFamily="18" charset="0"/>
              </a:rPr>
              <a:t>b</a:t>
            </a:r>
            <a:r>
              <a:rPr lang="ru-RU" sz="2600" spc="-65"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l</a:t>
            </a:r>
            <a:r>
              <a:rPr lang="ru-RU" sz="2600" spc="15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пользователя</a:t>
            </a:r>
            <a:r>
              <a:rPr lang="ru-RU" sz="2600" spc="15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u1</a:t>
            </a:r>
            <a:r>
              <a:rPr lang="ru-RU" sz="2600" spc="150"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в</a:t>
            </a:r>
            <a:r>
              <a:rPr lang="ru-RU" sz="2600" spc="-30" dirty="0">
                <a:effectLst/>
                <a:latin typeface="Times New Roman" panose="02020603050405020304" pitchFamily="18" charset="0"/>
                <a:ea typeface="Times New Roman" panose="02020603050405020304" pitchFamily="18" charset="0"/>
              </a:rPr>
              <a:t> </a:t>
            </a:r>
            <a:r>
              <a:rPr lang="ru-RU" sz="2600" dirty="0" err="1">
                <a:effectLst/>
                <a:latin typeface="Times New Roman" panose="02020603050405020304" pitchFamily="18" charset="0"/>
                <a:ea typeface="Times New Roman" panose="02020603050405020304" pitchFamily="18" charset="0"/>
              </a:rPr>
              <a:t>теущий</a:t>
            </a:r>
            <a:r>
              <a:rPr lang="ru-RU" sz="2600" spc="85" dirty="0">
                <a:effectLst/>
                <a:latin typeface="Times New Roman" panose="02020603050405020304" pitchFamily="18" charset="0"/>
                <a:ea typeface="Times New Roman" panose="02020603050405020304" pitchFamily="18" charset="0"/>
              </a:rPr>
              <a:t> </a:t>
            </a:r>
            <a:r>
              <a:rPr lang="ru-RU" sz="2600" dirty="0">
                <a:effectLst/>
                <a:latin typeface="Times New Roman" panose="02020603050405020304" pitchFamily="18" charset="0"/>
                <a:ea typeface="Times New Roman" panose="02020603050405020304" pitchFamily="18" charset="0"/>
              </a:rPr>
              <a:t>момент</a:t>
            </a:r>
            <a:r>
              <a:rPr lang="ru-RU" sz="2600" spc="-5" dirty="0">
                <a:effectLst/>
                <a:latin typeface="Times New Roman" panose="02020603050405020304" pitchFamily="18" charset="0"/>
                <a:ea typeface="Times New Roman" panose="02020603050405020304" pitchFamily="18" charset="0"/>
              </a:rPr>
              <a:t> </a:t>
            </a:r>
            <a:r>
              <a:rPr lang="ru-RU" sz="2600" spc="-10" dirty="0">
                <a:effectLst/>
                <a:latin typeface="Times New Roman" panose="02020603050405020304" pitchFamily="18" charset="0"/>
                <a:ea typeface="Times New Roman" panose="02020603050405020304" pitchFamily="18" charset="0"/>
              </a:rPr>
              <a:t>времени</a:t>
            </a:r>
            <a:endParaRPr lang="ru-RU" sz="2600" dirty="0">
              <a:effectLst/>
              <a:latin typeface="Times New Roman" panose="02020603050405020304" pitchFamily="18" charset="0"/>
              <a:ea typeface="Times New Roman" panose="02020603050405020304" pitchFamily="18" charset="0"/>
            </a:endParaRPr>
          </a:p>
          <a:p>
            <a:pPr marL="0" indent="0">
              <a:buNone/>
            </a:pPr>
            <a:r>
              <a:rPr lang="ru-RU" sz="2600" kern="0" dirty="0">
                <a:effectLst/>
                <a:latin typeface="Times New Roman" panose="02020603050405020304" pitchFamily="18" charset="0"/>
                <a:ea typeface="Times New Roman" panose="02020603050405020304" pitchFamily="18" charset="0"/>
              </a:rPr>
              <a:t>пуста, все</a:t>
            </a:r>
            <a:r>
              <a:rPr lang="ru-RU" sz="2600" kern="0" spc="-4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действия</a:t>
            </a:r>
            <a:r>
              <a:rPr lang="ru-RU" sz="2600" kern="0" spc="12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по</a:t>
            </a:r>
            <a:r>
              <a:rPr lang="ru-RU" sz="2600" kern="0" spc="-2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изменению ее</a:t>
            </a:r>
            <a:r>
              <a:rPr lang="ru-RU" sz="2600" kern="0" spc="-10"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состояния</a:t>
            </a:r>
            <a:r>
              <a:rPr lang="ru-RU" sz="2600" kern="0" spc="125" dirty="0">
                <a:effectLst/>
                <a:latin typeface="Times New Roman" panose="02020603050405020304" pitchFamily="18" charset="0"/>
                <a:ea typeface="Times New Roman" panose="02020603050405020304" pitchFamily="18" charset="0"/>
              </a:rPr>
              <a:t> </a:t>
            </a:r>
            <a:r>
              <a:rPr lang="ru-RU" sz="2600" kern="0" dirty="0">
                <a:effectLst/>
                <a:latin typeface="Times New Roman" panose="02020603050405020304" pitchFamily="18" charset="0"/>
                <a:ea typeface="Times New Roman" panose="02020603050405020304" pitchFamily="18" charset="0"/>
              </a:rPr>
              <a:t>зафиксированы пользователем</a:t>
            </a:r>
            <a:r>
              <a:rPr lang="ru-RU" sz="2600" kern="0" spc="200" dirty="0">
                <a:effectLst/>
                <a:latin typeface="Times New Roman" panose="02020603050405020304" pitchFamily="18" charset="0"/>
                <a:ea typeface="Times New Roman" panose="02020603050405020304" pitchFamily="18" charset="0"/>
              </a:rPr>
              <a:t> </a:t>
            </a:r>
            <a:r>
              <a:rPr lang="en-US" sz="2600" kern="0" spc="200" dirty="0">
                <a:latin typeface="Times New Roman" panose="02020603050405020304" pitchFamily="18" charset="0"/>
                <a:ea typeface="Times New Roman" panose="02020603050405020304" pitchFamily="18" charset="0"/>
              </a:rPr>
              <a:t>b</a:t>
            </a:r>
            <a:r>
              <a:rPr lang="ru-RU" sz="2600" kern="0" dirty="0" err="1">
                <a:effectLst/>
                <a:latin typeface="Times New Roman" panose="02020603050405020304" pitchFamily="18" charset="0"/>
                <a:ea typeface="Times New Roman" panose="02020603050405020304" pitchFamily="18" charset="0"/>
              </a:rPr>
              <a:t>аd</a:t>
            </a:r>
            <a:r>
              <a:rPr lang="en-US" sz="2600" kern="0" dirty="0">
                <a:effectLst/>
                <a:latin typeface="Times New Roman" panose="02020603050405020304" pitchFamily="18" charset="0"/>
                <a:ea typeface="Times New Roman" panose="02020603050405020304" pitchFamily="18" charset="0"/>
              </a:rPr>
              <a:t>b</a:t>
            </a:r>
            <a:r>
              <a:rPr lang="ru-RU" sz="2600" kern="0" dirty="0">
                <a:effectLst/>
                <a:latin typeface="Times New Roman" panose="02020603050405020304" pitchFamily="18" charset="0"/>
                <a:ea typeface="Times New Roman" panose="02020603050405020304" pitchFamily="18" charset="0"/>
              </a:rPr>
              <a:t>оу.</a:t>
            </a:r>
            <a:r>
              <a:rPr lang="ru-RU" sz="2600" dirty="0">
                <a:effectLst/>
                <a:latin typeface="Times New Roman" panose="02020603050405020304" pitchFamily="18" charset="0"/>
                <a:ea typeface="Times New Roman" panose="02020603050405020304" pitchFamily="18" charset="0"/>
              </a:rPr>
              <a:t>.</a:t>
            </a:r>
          </a:p>
          <a:p>
            <a:endParaRPr lang="ru-RU" dirty="0"/>
          </a:p>
          <a:p>
            <a:pPr>
              <a:buFont typeface="Arial" charset="0"/>
              <a:buNone/>
            </a:pPr>
            <a:endParaRPr lang="ru-RU" dirty="0"/>
          </a:p>
        </p:txBody>
      </p:sp>
      <p:pic>
        <p:nvPicPr>
          <p:cNvPr id="3" name="Рисунок 2">
            <a:extLst>
              <a:ext uri="{FF2B5EF4-FFF2-40B4-BE49-F238E27FC236}">
                <a16:creationId xmlns:a16="http://schemas.microsoft.com/office/drawing/2014/main" id="{6C776384-A195-0707-B015-FD0EE0C912D6}"/>
              </a:ext>
            </a:extLst>
          </p:cNvPr>
          <p:cNvPicPr>
            <a:picLocks noChangeAspect="1"/>
          </p:cNvPicPr>
          <p:nvPr/>
        </p:nvPicPr>
        <p:blipFill>
          <a:blip r:embed="rId2"/>
          <a:stretch>
            <a:fillRect/>
          </a:stretch>
        </p:blipFill>
        <p:spPr>
          <a:xfrm>
            <a:off x="179512" y="2348880"/>
            <a:ext cx="7282610" cy="33843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p:cNvSpPr>
          <p:nvPr>
            <p:ph type="body" idx="1"/>
          </p:nvPr>
        </p:nvSpPr>
        <p:spPr>
          <a:xfrm>
            <a:off x="0" y="116632"/>
            <a:ext cx="9144000" cy="6624736"/>
          </a:xfrm>
        </p:spPr>
        <p:txBody>
          <a:bodyPr/>
          <a:lstStyle/>
          <a:p>
            <a:pPr marL="0" lvl="0" indent="0" algn="ctr">
              <a:spcBef>
                <a:spcPts val="380"/>
              </a:spcBef>
              <a:spcAft>
                <a:spcPts val="0"/>
              </a:spcAft>
              <a:buNone/>
              <a:tabLst>
                <a:tab pos="644525" algn="l"/>
              </a:tabLst>
            </a:pPr>
            <a:endParaRPr lang="ru-RU" sz="2600" dirty="0">
              <a:effectLst/>
              <a:latin typeface="Times New Roman" panose="02020603050405020304" pitchFamily="18" charset="0"/>
              <a:ea typeface="Times New Roman" panose="02020603050405020304" pitchFamily="18" charset="0"/>
            </a:endParaRPr>
          </a:p>
        </p:txBody>
      </p:sp>
      <p:pic>
        <p:nvPicPr>
          <p:cNvPr id="3" name="Рисунок 2">
            <a:extLst>
              <a:ext uri="{FF2B5EF4-FFF2-40B4-BE49-F238E27FC236}">
                <a16:creationId xmlns:a16="http://schemas.microsoft.com/office/drawing/2014/main" id="{FF50E487-6DD6-C7C2-2A2F-9FC85EAEFB57}"/>
              </a:ext>
            </a:extLst>
          </p:cNvPr>
          <p:cNvPicPr>
            <a:picLocks noChangeAspect="1"/>
          </p:cNvPicPr>
          <p:nvPr/>
        </p:nvPicPr>
        <p:blipFill>
          <a:blip r:embed="rId2"/>
          <a:stretch>
            <a:fillRect/>
          </a:stretch>
        </p:blipFill>
        <p:spPr>
          <a:xfrm>
            <a:off x="323528" y="476672"/>
            <a:ext cx="4099055" cy="1944216"/>
          </a:xfrm>
          <a:prstGeom prst="rect">
            <a:avLst/>
          </a:prstGeom>
        </p:spPr>
      </p:pic>
      <p:pic>
        <p:nvPicPr>
          <p:cNvPr id="5" name="Рисунок 4">
            <a:extLst>
              <a:ext uri="{FF2B5EF4-FFF2-40B4-BE49-F238E27FC236}">
                <a16:creationId xmlns:a16="http://schemas.microsoft.com/office/drawing/2014/main" id="{ABA4645A-65AB-80DB-8458-4DD5B97BC98B}"/>
              </a:ext>
            </a:extLst>
          </p:cNvPr>
          <p:cNvPicPr>
            <a:picLocks noChangeAspect="1"/>
          </p:cNvPicPr>
          <p:nvPr/>
        </p:nvPicPr>
        <p:blipFill>
          <a:blip r:embed="rId3"/>
          <a:stretch>
            <a:fillRect/>
          </a:stretch>
        </p:blipFill>
        <p:spPr>
          <a:xfrm>
            <a:off x="365557" y="2522484"/>
            <a:ext cx="4073231" cy="24482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p:cNvSpPr>
          <p:nvPr>
            <p:ph type="body" idx="1"/>
          </p:nvPr>
        </p:nvSpPr>
        <p:spPr>
          <a:xfrm>
            <a:off x="0" y="0"/>
            <a:ext cx="9144000" cy="6858000"/>
          </a:xfrm>
        </p:spPr>
        <p:txBody>
          <a:bodyPr/>
          <a:lstStyle/>
          <a:p>
            <a:pPr marL="0" marR="1073785" lvl="1" indent="-216000" algn="ctr">
              <a:lnSpc>
                <a:spcPct val="115000"/>
              </a:lnSpc>
              <a:spcBef>
                <a:spcPts val="0"/>
              </a:spcBef>
              <a:spcAft>
                <a:spcPts val="0"/>
              </a:spcAft>
              <a:buFont typeface="+mj-lt"/>
              <a:buAutoNum type="arabicPeriod"/>
              <a:tabLst>
                <a:tab pos="655320" algn="l"/>
                <a:tab pos="658495" algn="l"/>
              </a:tabLst>
            </a:pPr>
            <a:r>
              <a:rPr lang="ru-RU" b="1" spc="-60" dirty="0">
                <a:effectLst/>
                <a:latin typeface="Times New Roman" panose="02020603050405020304" pitchFamily="18" charset="0"/>
                <a:ea typeface="Times New Roman" panose="02020603050405020304" pitchFamily="18" charset="0"/>
              </a:rPr>
              <a:t>Использование </a:t>
            </a:r>
            <a:r>
              <a:rPr lang="ru-RU" b="1" spc="-60" dirty="0">
                <a:latin typeface="Times New Roman" panose="02020603050405020304" pitchFamily="18" charset="0"/>
              </a:rPr>
              <a:t>SQL-инъекции для нештатного </a:t>
            </a:r>
            <a:r>
              <a:rPr lang="ru-RU" b="1" spc="-60" dirty="0">
                <a:effectLst/>
                <a:latin typeface="Times New Roman" panose="02020603050405020304" pitchFamily="18" charset="0"/>
                <a:ea typeface="Times New Roman" panose="02020603050405020304" pitchFamily="18" charset="0"/>
              </a:rPr>
              <a:t>использования процедур и функций</a:t>
            </a:r>
          </a:p>
          <a:p>
            <a:pPr marL="0" marR="1073785" lvl="1" indent="-216000" algn="ctr">
              <a:lnSpc>
                <a:spcPct val="115000"/>
              </a:lnSpc>
              <a:spcBef>
                <a:spcPts val="0"/>
              </a:spcBef>
              <a:spcAft>
                <a:spcPts val="0"/>
              </a:spcAft>
              <a:buFont typeface="+mj-lt"/>
              <a:buAutoNum type="arabicPeriod"/>
              <a:tabLst>
                <a:tab pos="655320" algn="l"/>
                <a:tab pos="658495" algn="l"/>
              </a:tabLst>
            </a:pPr>
            <a:r>
              <a:rPr lang="ru-RU" b="1" spc="-60" dirty="0">
                <a:latin typeface="Times New Roman" panose="02020603050405020304" pitchFamily="18" charset="0"/>
                <a:ea typeface="Times New Roman" panose="02020603050405020304" pitchFamily="18" charset="0"/>
              </a:rPr>
              <a:t>См </a:t>
            </a:r>
            <a:r>
              <a:rPr lang="ru-RU" b="1" spc="-60" dirty="0" err="1">
                <a:latin typeface="Times New Roman" panose="02020603050405020304" pitchFamily="18" charset="0"/>
                <a:ea typeface="Times New Roman" panose="02020603050405020304" pitchFamily="18" charset="0"/>
              </a:rPr>
              <a:t>сл</a:t>
            </a:r>
            <a:r>
              <a:rPr lang="ru-RU" b="1" spc="-60" dirty="0">
                <a:latin typeface="Times New Roman" panose="02020603050405020304" pitchFamily="18" charset="0"/>
                <a:ea typeface="Times New Roman" panose="02020603050405020304" pitchFamily="18" charset="0"/>
              </a:rPr>
              <a:t> 12-20  презентации лекция 4</a:t>
            </a:r>
            <a:endParaRPr lang="ru-RU" spc="-60" dirty="0">
              <a:effectLst/>
              <a:latin typeface="Times New Roman" panose="02020603050405020304" pitchFamily="18" charset="0"/>
              <a:ea typeface="Times New Roman" panose="02020603050405020304" pitchFamily="18" charset="0"/>
            </a:endParaRPr>
          </a:p>
          <a:p>
            <a:pPr marL="0" indent="0" algn="just">
              <a:buNone/>
            </a:pPr>
            <a:endParaRPr lang="ru-RU" sz="2600" dirty="0">
              <a:effectLst/>
              <a:latin typeface="Times New Roman" panose="02020603050405020304" pitchFamily="18" charset="0"/>
              <a:ea typeface="Times New Roman" panose="02020603050405020304" pitchFamily="18" charset="0"/>
            </a:endParaRPr>
          </a:p>
        </p:txBody>
      </p:sp>
      <p:pic>
        <p:nvPicPr>
          <p:cNvPr id="3" name="Рисунок 2">
            <a:extLst>
              <a:ext uri="{FF2B5EF4-FFF2-40B4-BE49-F238E27FC236}">
                <a16:creationId xmlns:a16="http://schemas.microsoft.com/office/drawing/2014/main" id="{7D784B16-49E6-1EB8-401E-87E7C56527B5}"/>
              </a:ext>
            </a:extLst>
          </p:cNvPr>
          <p:cNvPicPr>
            <a:picLocks noChangeAspect="1"/>
          </p:cNvPicPr>
          <p:nvPr/>
        </p:nvPicPr>
        <p:blipFill>
          <a:blip r:embed="rId3"/>
          <a:stretch>
            <a:fillRect/>
          </a:stretch>
        </p:blipFill>
        <p:spPr>
          <a:xfrm>
            <a:off x="857775" y="1484784"/>
            <a:ext cx="8030070" cy="45147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p:cNvSpPr>
          <p:nvPr>
            <p:ph type="body" idx="1"/>
          </p:nvPr>
        </p:nvSpPr>
        <p:spPr>
          <a:xfrm>
            <a:off x="0" y="116632"/>
            <a:ext cx="9036496" cy="6741368"/>
          </a:xfrm>
        </p:spPr>
        <p:txBody>
          <a:bodyPr/>
          <a:lstStyle/>
          <a:p>
            <a:pPr marL="0" marR="1073785" lvl="1" indent="0" algn="ctr">
              <a:lnSpc>
                <a:spcPct val="115000"/>
              </a:lnSpc>
              <a:spcBef>
                <a:spcPts val="0"/>
              </a:spcBef>
              <a:spcAft>
                <a:spcPts val="0"/>
              </a:spcAft>
              <a:buNone/>
              <a:tabLst>
                <a:tab pos="655320" algn="l"/>
                <a:tab pos="658495" algn="l"/>
              </a:tabLst>
            </a:pPr>
            <a:r>
              <a:rPr lang="ru-RU" b="1" spc="-60" dirty="0">
                <a:latin typeface="Times New Roman" panose="02020603050405020304" pitchFamily="18" charset="0"/>
                <a:ea typeface="Times New Roman" panose="02020603050405020304" pitchFamily="18" charset="0"/>
              </a:rPr>
              <a:t>4. Использование </a:t>
            </a:r>
            <a:r>
              <a:rPr lang="ru-RU" b="1" spc="-60" dirty="0">
                <a:latin typeface="Times New Roman" panose="02020603050405020304" pitchFamily="18" charset="0"/>
              </a:rPr>
              <a:t>SQL-инъекции для нештатного </a:t>
            </a:r>
            <a:r>
              <a:rPr lang="ru-RU" b="1" spc="-60" dirty="0">
                <a:latin typeface="Times New Roman" panose="02020603050405020304" pitchFamily="18" charset="0"/>
                <a:ea typeface="Times New Roman" panose="02020603050405020304" pitchFamily="18" charset="0"/>
              </a:rPr>
              <a:t>использования процедур и функций</a:t>
            </a:r>
          </a:p>
          <a:p>
            <a:pPr marL="114300" indent="0" algn="just">
              <a:spcBef>
                <a:spcPts val="0"/>
              </a:spcBef>
              <a:buNone/>
            </a:pPr>
            <a:r>
              <a:rPr lang="ru-RU" sz="2500" b="1" dirty="0">
                <a:solidFill>
                  <a:srgbClr val="FF0000"/>
                </a:solidFill>
                <a:latin typeface="Times New Roman" panose="02020603050405020304" pitchFamily="18" charset="0"/>
                <a:cs typeface="Times New Roman" panose="02020603050405020304" pitchFamily="18" charset="0"/>
              </a:rPr>
              <a:t>Инъекцией SQL </a:t>
            </a:r>
            <a:r>
              <a:rPr lang="ru-RU" sz="2500" dirty="0">
                <a:latin typeface="Times New Roman" panose="02020603050405020304" pitchFamily="18" charset="0"/>
                <a:cs typeface="Times New Roman" panose="02020603050405020304" pitchFamily="18" charset="0"/>
              </a:rPr>
              <a:t>(SQL </a:t>
            </a:r>
            <a:r>
              <a:rPr lang="ru-RU" sz="2500" dirty="0" err="1">
                <a:latin typeface="Times New Roman" panose="02020603050405020304" pitchFamily="18" charset="0"/>
                <a:cs typeface="Times New Roman" panose="02020603050405020304" pitchFamily="18" charset="0"/>
              </a:rPr>
              <a:t>Injection</a:t>
            </a:r>
            <a:r>
              <a:rPr lang="ru-RU" sz="2500" dirty="0">
                <a:latin typeface="Times New Roman" panose="02020603050405020304" pitchFamily="18" charset="0"/>
                <a:cs typeface="Times New Roman" panose="02020603050405020304" pitchFamily="18" charset="0"/>
              </a:rPr>
              <a:t>) называют технологию взлома, которая добавляет в параметр динамического SQL не требуемое значение, а некоторый код SQL. Эта технология особо опасна тем, что любой, кто имеет доступ к БД или Web-сайту организации, обращающейся к БД, и способен вводить данные в текстовые поля, потенциально может стать источником атак с помощью инъекций SQL. </a:t>
            </a:r>
          </a:p>
          <a:p>
            <a:pPr marL="114300" indent="0" algn="just">
              <a:spcBef>
                <a:spcPts val="0"/>
              </a:spcBef>
              <a:buNone/>
            </a:pPr>
            <a:r>
              <a:rPr lang="ru-RU" sz="2500" dirty="0">
                <a:latin typeface="Times New Roman" panose="02020603050405020304" pitchFamily="18" charset="0"/>
                <a:cs typeface="Times New Roman" panose="02020603050405020304" pitchFamily="18" charset="0"/>
              </a:rPr>
              <a:t>SQL-инъекция </a:t>
            </a:r>
            <a:r>
              <a:rPr lang="ru-RU" sz="2500" b="1" u="sng" dirty="0">
                <a:latin typeface="Times New Roman" panose="02020603050405020304" pitchFamily="18" charset="0"/>
                <a:cs typeface="Times New Roman" panose="02020603050405020304" pitchFamily="18" charset="0"/>
              </a:rPr>
              <a:t>может возникнуть </a:t>
            </a:r>
            <a:r>
              <a:rPr lang="ru-RU" sz="2500" dirty="0">
                <a:latin typeface="Times New Roman" panose="02020603050405020304" pitchFamily="18" charset="0"/>
                <a:cs typeface="Times New Roman" panose="02020603050405020304" pitchFamily="18" charset="0"/>
              </a:rPr>
              <a:t>в следующих случаях:</a:t>
            </a:r>
          </a:p>
          <a:p>
            <a:pPr algn="just">
              <a:spcBef>
                <a:spcPts val="0"/>
              </a:spcBef>
              <a:buFont typeface="Wingdings" pitchFamily="2" charset="2"/>
              <a:buChar char="q"/>
            </a:pPr>
            <a:r>
              <a:rPr lang="ru-RU" sz="2500" dirty="0">
                <a:latin typeface="Times New Roman" panose="02020603050405020304" pitchFamily="18" charset="0"/>
                <a:cs typeface="Times New Roman" panose="02020603050405020304" pitchFamily="18" charset="0"/>
              </a:rPr>
              <a:t> передача вредоносного кода в параметры динамического запроса (прикрепляемый код и измененные предложения WHERE); </a:t>
            </a:r>
          </a:p>
          <a:p>
            <a:pPr algn="just">
              <a:spcBef>
                <a:spcPts val="0"/>
              </a:spcBef>
              <a:buFont typeface="Wingdings" pitchFamily="2" charset="2"/>
              <a:buChar char="q"/>
            </a:pPr>
            <a:r>
              <a:rPr lang="ru-RU" sz="2500" dirty="0">
                <a:latin typeface="Times New Roman" panose="02020603050405020304" pitchFamily="18" charset="0"/>
                <a:cs typeface="Times New Roman" panose="02020603050405020304" pitchFamily="18" charset="0"/>
              </a:rPr>
              <a:t>неправильная обработка типов; </a:t>
            </a:r>
          </a:p>
          <a:p>
            <a:pPr algn="just">
              <a:spcBef>
                <a:spcPts val="0"/>
              </a:spcBef>
              <a:buFont typeface="Wingdings" pitchFamily="2" charset="2"/>
              <a:buChar char="q"/>
            </a:pPr>
            <a:r>
              <a:rPr lang="ru-RU" sz="2500" dirty="0">
                <a:latin typeface="Times New Roman" panose="02020603050405020304" pitchFamily="18" charset="0"/>
                <a:cs typeface="Times New Roman" panose="02020603050405020304" pitchFamily="18" charset="0"/>
              </a:rPr>
              <a:t>поиск уязвимости в СУБД; </a:t>
            </a:r>
          </a:p>
          <a:p>
            <a:pPr algn="just">
              <a:spcBef>
                <a:spcPts val="0"/>
              </a:spcBef>
              <a:buFont typeface="Wingdings" pitchFamily="2" charset="2"/>
              <a:buChar char="q"/>
            </a:pPr>
            <a:r>
              <a:rPr lang="ru-RU" sz="2500" dirty="0">
                <a:latin typeface="Times New Roman" panose="02020603050405020304" pitchFamily="18" charset="0"/>
                <a:cs typeface="Times New Roman" panose="02020603050405020304" pitchFamily="18" charset="0"/>
              </a:rPr>
              <a:t>условные ошибки.</a:t>
            </a:r>
          </a:p>
          <a:p>
            <a:pPr marL="66040" indent="0">
              <a:lnSpc>
                <a:spcPct val="110000"/>
              </a:lnSpc>
              <a:spcBef>
                <a:spcPts val="460"/>
              </a:spcBef>
              <a:spcAft>
                <a:spcPts val="0"/>
              </a:spcAft>
              <a:buNone/>
            </a:pPr>
            <a:endParaRPr lang="ru-RU" sz="26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type="body" idx="1"/>
          </p:nvPr>
        </p:nvSpPr>
        <p:spPr>
          <a:xfrm>
            <a:off x="0" y="1"/>
            <a:ext cx="9036496" cy="6669088"/>
          </a:xfrm>
        </p:spPr>
        <p:txBody>
          <a:bodyPr/>
          <a:lstStyle/>
          <a:p>
            <a:pPr marL="0" indent="0" algn="just">
              <a:spcBef>
                <a:spcPts val="0"/>
              </a:spcBef>
              <a:buNone/>
            </a:pPr>
            <a:r>
              <a:rPr lang="ru-RU" sz="2500" b="1" dirty="0">
                <a:latin typeface="Times New Roman" panose="02020603050405020304" pitchFamily="18" charset="0"/>
                <a:cs typeface="Times New Roman" panose="02020603050405020304" pitchFamily="18" charset="0"/>
              </a:rPr>
              <a:t>Пример 1.</a:t>
            </a:r>
          </a:p>
          <a:p>
            <a:pPr marL="0" indent="0" algn="just">
              <a:spcBef>
                <a:spcPts val="0"/>
              </a:spcBef>
              <a:buNone/>
            </a:pPr>
            <a:r>
              <a:rPr lang="ru-RU" sz="2500" b="1" dirty="0">
                <a:latin typeface="Times New Roman" panose="02020603050405020304" pitchFamily="18" charset="0"/>
                <a:cs typeface="Times New Roman" panose="02020603050405020304" pitchFamily="18" charset="0"/>
              </a:rPr>
              <a:t>Прикрепление вредоносного кода. </a:t>
            </a:r>
            <a:r>
              <a:rPr lang="ru-RU" sz="2500" dirty="0">
                <a:latin typeface="Times New Roman" panose="02020603050405020304" pitchFamily="18" charset="0"/>
                <a:cs typeface="Times New Roman" panose="02020603050405020304" pitchFamily="18" charset="0"/>
              </a:rPr>
              <a:t>Добавление терминатора инструкции, другой инструкции SQL и содержимого ввода позволяет взломщику передать программный код в строку выполнения. </a:t>
            </a:r>
          </a:p>
          <a:p>
            <a:pPr marL="0" indent="0" algn="just">
              <a:spcBef>
                <a:spcPts val="0"/>
              </a:spcBef>
              <a:buNone/>
            </a:pPr>
            <a:r>
              <a:rPr lang="ru-RU" sz="2500" dirty="0">
                <a:latin typeface="Times New Roman" panose="02020603050405020304" pitchFamily="18" charset="0"/>
                <a:cs typeface="Times New Roman" panose="02020603050405020304" pitchFamily="18" charset="0"/>
              </a:rPr>
              <a:t>Например, приложение считывает параметр </a:t>
            </a:r>
            <a:r>
              <a:rPr lang="en-US" sz="2500" dirty="0">
                <a:latin typeface="Times New Roman" panose="02020603050405020304" pitchFamily="18" charset="0"/>
                <a:cs typeface="Times New Roman" panose="02020603050405020304" pitchFamily="18" charset="0"/>
              </a:rPr>
              <a:t>customer </a:t>
            </a:r>
            <a:r>
              <a:rPr lang="ru-RU" sz="2500" dirty="0">
                <a:latin typeface="Times New Roman" panose="02020603050405020304" pitchFamily="18" charset="0"/>
                <a:cs typeface="Times New Roman" panose="02020603050405020304" pitchFamily="18" charset="0"/>
              </a:rPr>
              <a:t>из поля ввода, размещенного на форме, и динамически формирует строку </a:t>
            </a:r>
            <a:r>
              <a:rPr lang="en-US" sz="2500" dirty="0">
                <a:latin typeface="Times New Roman" panose="02020603050405020304" pitchFamily="18" charset="0"/>
                <a:cs typeface="Times New Roman" panose="02020603050405020304" pitchFamily="18" charset="0"/>
              </a:rPr>
              <a:t>SQL </a:t>
            </a:r>
            <a:r>
              <a:rPr lang="ru-RU" sz="2500" dirty="0">
                <a:latin typeface="Times New Roman" panose="02020603050405020304" pitchFamily="18" charset="0"/>
                <a:cs typeface="Times New Roman" panose="02020603050405020304" pitchFamily="18" charset="0"/>
              </a:rPr>
              <a:t>вида </a:t>
            </a:r>
          </a:p>
          <a:p>
            <a:pPr marL="0" indent="0" algn="just">
              <a:spcBef>
                <a:spcPts val="0"/>
              </a:spcBef>
              <a:buNone/>
            </a:pPr>
            <a:r>
              <a:rPr lang="en-US" sz="2500" b="1" dirty="0">
                <a:latin typeface="Times New Roman" panose="02020603050405020304" pitchFamily="18" charset="0"/>
                <a:cs typeface="Times New Roman" panose="02020603050405020304" pitchFamily="18" charset="0"/>
              </a:rPr>
              <a:t>query = " SELECT * FROM Customers WHERE </a:t>
            </a:r>
            <a:r>
              <a:rPr lang="en-US" sz="2500" b="1" dirty="0" err="1">
                <a:latin typeface="Times New Roman" panose="02020603050405020304" pitchFamily="18" charset="0"/>
                <a:cs typeface="Times New Roman" panose="02020603050405020304" pitchFamily="18" charset="0"/>
              </a:rPr>
              <a:t>CustomerName</a:t>
            </a:r>
            <a:r>
              <a:rPr lang="en-US" sz="2500" b="1" dirty="0">
                <a:latin typeface="Times New Roman" panose="02020603050405020304" pitchFamily="18" charset="0"/>
                <a:cs typeface="Times New Roman" panose="02020603050405020304" pitchFamily="18" charset="0"/>
              </a:rPr>
              <a:t> =' " + customer +" ' " </a:t>
            </a:r>
          </a:p>
          <a:p>
            <a:pPr marL="0" indent="0" algn="just">
              <a:spcBef>
                <a:spcPts val="0"/>
              </a:spcBef>
              <a:buNone/>
            </a:pPr>
            <a:r>
              <a:rPr lang="ru-RU" sz="2500" dirty="0">
                <a:latin typeface="Times New Roman" panose="02020603050405020304" pitchFamily="18" charset="0"/>
                <a:cs typeface="Times New Roman" panose="02020603050405020304" pitchFamily="18" charset="0"/>
              </a:rPr>
              <a:t>Если пользователь взамен ввода имени клиента вводит следующую строку: </a:t>
            </a:r>
          </a:p>
          <a:p>
            <a:pPr marL="0" indent="0" algn="just">
              <a:spcBef>
                <a:spcPts val="0"/>
              </a:spcBef>
              <a:buNone/>
            </a:pPr>
            <a:r>
              <a:rPr lang="ru-RU" sz="2500" b="1" dirty="0">
                <a:latin typeface="Times New Roman" panose="02020603050405020304" pitchFamily="18" charset="0"/>
                <a:cs typeface="Times New Roman" panose="02020603050405020304" pitchFamily="18" charset="0"/>
              </a:rPr>
              <a:t>Сидоров'; </a:t>
            </a:r>
            <a:r>
              <a:rPr lang="en-US" sz="2500" b="1" dirty="0">
                <a:latin typeface="Times New Roman" panose="02020603050405020304" pitchFamily="18" charset="0"/>
                <a:cs typeface="Times New Roman" panose="02020603050405020304" pitchFamily="18" charset="0"/>
              </a:rPr>
              <a:t>Delete FROM Orders</a:t>
            </a:r>
            <a:r>
              <a:rPr lang="ru-RU" sz="2500" b="1" dirty="0">
                <a:latin typeface="Times New Roman" panose="02020603050405020304" pitchFamily="18" charset="0"/>
                <a:cs typeface="Times New Roman" panose="02020603050405020304" pitchFamily="18" charset="0"/>
              </a:rPr>
              <a:t>--</a:t>
            </a:r>
            <a:endParaRPr lang="en-US" sz="2500" b="1" dirty="0">
              <a:latin typeface="Times New Roman" panose="02020603050405020304" pitchFamily="18" charset="0"/>
              <a:cs typeface="Times New Roman" panose="02020603050405020304" pitchFamily="18" charset="0"/>
            </a:endParaRPr>
          </a:p>
          <a:p>
            <a:pPr marL="0" indent="0" algn="just">
              <a:spcBef>
                <a:spcPts val="0"/>
              </a:spcBef>
              <a:buNone/>
            </a:pPr>
            <a:r>
              <a:rPr lang="ru-RU" sz="2500" dirty="0">
                <a:latin typeface="Times New Roman" panose="02020603050405020304" pitchFamily="18" charset="0"/>
                <a:cs typeface="Times New Roman" panose="02020603050405020304" pitchFamily="18" charset="0"/>
              </a:rPr>
              <a:t>то в динамическую строку </a:t>
            </a:r>
            <a:r>
              <a:rPr lang="en-US" sz="2500" dirty="0">
                <a:latin typeface="Times New Roman" panose="02020603050405020304" pitchFamily="18" charset="0"/>
                <a:cs typeface="Times New Roman" panose="02020603050405020304" pitchFamily="18" charset="0"/>
              </a:rPr>
              <a:t>SQL </a:t>
            </a:r>
            <a:r>
              <a:rPr lang="ru-RU" sz="2500" dirty="0">
                <a:latin typeface="Times New Roman" panose="02020603050405020304" pitchFamily="18" charset="0"/>
                <a:cs typeface="Times New Roman" panose="02020603050405020304" pitchFamily="18" charset="0"/>
              </a:rPr>
              <a:t>будет добавлена инструкция </a:t>
            </a:r>
            <a:r>
              <a:rPr lang="en-US" sz="2500" dirty="0">
                <a:latin typeface="Times New Roman" panose="02020603050405020304" pitchFamily="18" charset="0"/>
                <a:cs typeface="Times New Roman" panose="02020603050405020304" pitchFamily="18" charset="0"/>
              </a:rPr>
              <a:t>DDL DELETE, </a:t>
            </a:r>
            <a:r>
              <a:rPr lang="ru-RU" sz="2500" dirty="0">
                <a:latin typeface="Times New Roman" panose="02020603050405020304" pitchFamily="18" charset="0"/>
                <a:cs typeface="Times New Roman" panose="02020603050405020304" pitchFamily="18" charset="0"/>
              </a:rPr>
              <a:t>которая и будет выполнена в пакете с основной: </a:t>
            </a:r>
          </a:p>
          <a:p>
            <a:pPr marL="0" indent="0" algn="just">
              <a:spcBef>
                <a:spcPts val="0"/>
              </a:spcBef>
              <a:buNone/>
            </a:pPr>
            <a:r>
              <a:rPr lang="en-US" sz="2500" b="1" dirty="0">
                <a:latin typeface="Times New Roman" panose="02020603050405020304" pitchFamily="18" charset="0"/>
                <a:cs typeface="Times New Roman" panose="02020603050405020304" pitchFamily="18" charset="0"/>
              </a:rPr>
              <a:t>SELECT * FROM Customers WHERE </a:t>
            </a:r>
            <a:r>
              <a:rPr lang="en-US" sz="2500" b="1" dirty="0" err="1">
                <a:latin typeface="Times New Roman" panose="02020603050405020304" pitchFamily="18" charset="0"/>
                <a:cs typeface="Times New Roman" panose="02020603050405020304" pitchFamily="18" charset="0"/>
              </a:rPr>
              <a:t>CustomerlD</a:t>
            </a:r>
            <a:r>
              <a:rPr lang="en-US" sz="2500" b="1" dirty="0">
                <a:latin typeface="Times New Roman" panose="02020603050405020304" pitchFamily="18" charset="0"/>
                <a:cs typeface="Times New Roman" panose="02020603050405020304" pitchFamily="18" charset="0"/>
              </a:rPr>
              <a:t> ='</a:t>
            </a:r>
            <a:r>
              <a:rPr lang="ru-RU" sz="2500" b="1" dirty="0">
                <a:latin typeface="Times New Roman" panose="02020603050405020304" pitchFamily="18" charset="0"/>
                <a:cs typeface="Times New Roman" panose="02020603050405020304" pitchFamily="18" charset="0"/>
              </a:rPr>
              <a:t>Сидоров'; </a:t>
            </a:r>
            <a:r>
              <a:rPr lang="en-US" sz="2500" b="1" dirty="0">
                <a:latin typeface="Times New Roman" panose="02020603050405020304" pitchFamily="18" charset="0"/>
                <a:cs typeface="Times New Roman" panose="02020603050405020304" pitchFamily="18" charset="0"/>
              </a:rPr>
              <a:t>Delete FROM Orders</a:t>
            </a:r>
            <a:r>
              <a:rPr lang="ru-RU" sz="2500" b="1" dirty="0">
                <a:latin typeface="Times New Roman" panose="02020603050405020304" pitchFamily="18" charset="0"/>
                <a:cs typeface="Times New Roman" panose="02020603050405020304" pitchFamily="18" charset="0"/>
              </a:rPr>
              <a:t>--</a:t>
            </a:r>
            <a:r>
              <a:rPr lang="en-US" sz="2800" b="1" dirty="0"/>
              <a:t>' </a:t>
            </a:r>
          </a:p>
          <a:p>
            <a:pPr marL="0" marR="78105" lvl="0" indent="216000" algn="just">
              <a:lnSpc>
                <a:spcPct val="118000"/>
              </a:lnSpc>
              <a:spcAft>
                <a:spcPts val="0"/>
              </a:spcAft>
              <a:buFont typeface="+mj-lt"/>
              <a:buAutoNum type="arabicPeriod"/>
              <a:tabLst>
                <a:tab pos="494030" algn="l"/>
              </a:tabLst>
            </a:pPr>
            <a:endParaRPr lang="ru-RU" sz="2600" spc="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type="body" idx="1"/>
          </p:nvPr>
        </p:nvSpPr>
        <p:spPr>
          <a:xfrm>
            <a:off x="0" y="1"/>
            <a:ext cx="9144000" cy="6669088"/>
          </a:xfrm>
        </p:spPr>
        <p:txBody>
          <a:bodyPr/>
          <a:lstStyle/>
          <a:p>
            <a:pPr marL="0" indent="0">
              <a:spcBef>
                <a:spcPts val="0"/>
              </a:spcBef>
              <a:buNone/>
            </a:pPr>
            <a:r>
              <a:rPr lang="ru-RU" sz="2500" b="1" dirty="0">
                <a:latin typeface="Times New Roman" panose="02020603050405020304" pitchFamily="18" charset="0"/>
                <a:cs typeface="Times New Roman" panose="02020603050405020304" pitchFamily="18" charset="0"/>
              </a:rPr>
              <a:t>Пример 2. </a:t>
            </a:r>
            <a:r>
              <a:rPr lang="ru-RU" sz="2500" dirty="0">
                <a:latin typeface="Times New Roman" panose="02020603050405020304" pitchFamily="18" charset="0"/>
                <a:cs typeface="Times New Roman" panose="02020603050405020304" pitchFamily="18" charset="0"/>
              </a:rPr>
              <a:t>Запуск команды </a:t>
            </a:r>
            <a:r>
              <a:rPr lang="ru-RU" sz="2500" b="1" dirty="0">
                <a:latin typeface="Times New Roman" panose="02020603050405020304" pitchFamily="18" charset="0"/>
                <a:cs typeface="Times New Roman" panose="02020603050405020304" pitchFamily="18" charset="0"/>
              </a:rPr>
              <a:t>_</a:t>
            </a:r>
            <a:r>
              <a:rPr lang="ru-RU" sz="2500" b="1" dirty="0" err="1">
                <a:latin typeface="Times New Roman" panose="02020603050405020304" pitchFamily="18" charset="0"/>
                <a:cs typeface="Times New Roman" panose="02020603050405020304" pitchFamily="18" charset="0"/>
              </a:rPr>
              <a:t>commandshell</a:t>
            </a:r>
            <a:r>
              <a:rPr lang="ru-RU" sz="2500" dirty="0">
                <a:latin typeface="Times New Roman" panose="02020603050405020304" pitchFamily="18" charset="0"/>
                <a:cs typeface="Times New Roman" panose="02020603050405020304" pitchFamily="18" charset="0"/>
              </a:rPr>
              <a:t> (в MS SQL Server) и установку пароля для пользователя </a:t>
            </a:r>
            <a:r>
              <a:rPr lang="ru-RU" sz="2500" b="1" dirty="0" err="1">
                <a:latin typeface="Times New Roman" panose="02020603050405020304" pitchFamily="18" charset="0"/>
                <a:cs typeface="Times New Roman" panose="02020603050405020304" pitchFamily="18" charset="0"/>
              </a:rPr>
              <a:t>sa</a:t>
            </a:r>
            <a:r>
              <a:rPr lang="ru-RU" sz="2500" dirty="0">
                <a:latin typeface="Times New Roman" panose="02020603050405020304" pitchFamily="18" charset="0"/>
                <a:cs typeface="Times New Roman" panose="02020603050405020304" pitchFamily="18" charset="0"/>
              </a:rPr>
              <a:t>. </a:t>
            </a:r>
          </a:p>
          <a:p>
            <a:pPr marL="0" indent="0">
              <a:spcBef>
                <a:spcPts val="0"/>
              </a:spcBef>
              <a:buNone/>
            </a:pPr>
            <a:r>
              <a:rPr lang="ru-RU" sz="2500" b="1" dirty="0">
                <a:latin typeface="Times New Roman" panose="02020603050405020304" pitchFamily="18" charset="0"/>
                <a:cs typeface="Times New Roman" panose="02020603050405020304" pitchFamily="18" charset="0"/>
              </a:rPr>
              <a:t>Пример 3. Прикрепление </a:t>
            </a:r>
            <a:r>
              <a:rPr lang="ru-RU" sz="2500" b="1" dirty="0" err="1">
                <a:latin typeface="Times New Roman" panose="02020603050405020304" pitchFamily="18" charset="0"/>
                <a:cs typeface="Times New Roman" panose="02020603050405020304" pitchFamily="18" charset="0"/>
              </a:rPr>
              <a:t>Or</a:t>
            </a:r>
            <a:r>
              <a:rPr lang="ru-RU" sz="2500" b="1" dirty="0">
                <a:latin typeface="Times New Roman" panose="02020603050405020304" pitchFamily="18" charset="0"/>
                <a:cs typeface="Times New Roman" panose="02020603050405020304" pitchFamily="18" charset="0"/>
              </a:rPr>
              <a:t> 1=1. </a:t>
            </a:r>
          </a:p>
          <a:p>
            <a:pPr marL="0" indent="0">
              <a:spcBef>
                <a:spcPts val="0"/>
              </a:spcBef>
              <a:buNone/>
            </a:pPr>
            <a:r>
              <a:rPr lang="ru-RU" sz="2500" dirty="0">
                <a:latin typeface="Times New Roman" panose="02020603050405020304" pitchFamily="18" charset="0"/>
                <a:cs typeface="Times New Roman" panose="02020603050405020304" pitchFamily="18" charset="0"/>
              </a:rPr>
              <a:t>Если пользователь вводит в текстовое поле строку</a:t>
            </a:r>
          </a:p>
          <a:p>
            <a:pPr marL="0" indent="0">
              <a:spcBef>
                <a:spcPts val="0"/>
              </a:spcBef>
              <a:buNone/>
            </a:pPr>
            <a:r>
              <a:rPr lang="ru-RU" sz="2500" b="1" dirty="0">
                <a:latin typeface="Times New Roman" panose="02020603050405020304" pitchFamily="18" charset="0"/>
                <a:cs typeface="Times New Roman" panose="02020603050405020304" pitchFamily="18" charset="0"/>
              </a:rPr>
              <a:t> 123' </a:t>
            </a:r>
            <a:r>
              <a:rPr lang="ru-RU" sz="2500" b="1" dirty="0" err="1">
                <a:latin typeface="Times New Roman" panose="02020603050405020304" pitchFamily="18" charset="0"/>
                <a:cs typeface="Times New Roman" panose="02020603050405020304" pitchFamily="18" charset="0"/>
              </a:rPr>
              <a:t>Or</a:t>
            </a:r>
            <a:r>
              <a:rPr lang="ru-RU" sz="2500" b="1" dirty="0">
                <a:latin typeface="Times New Roman" panose="02020603050405020304" pitchFamily="18" charset="0"/>
                <a:cs typeface="Times New Roman" panose="02020603050405020304" pitchFamily="18" charset="0"/>
              </a:rPr>
              <a:t> 1=1 --</a:t>
            </a:r>
          </a:p>
          <a:p>
            <a:pPr marL="0" indent="0">
              <a:spcBef>
                <a:spcPts val="0"/>
              </a:spcBef>
              <a:buNone/>
            </a:pPr>
            <a:r>
              <a:rPr lang="ru-RU" sz="2500" dirty="0">
                <a:latin typeface="Times New Roman" panose="02020603050405020304" pitchFamily="18" charset="0"/>
                <a:cs typeface="Times New Roman" panose="02020603050405020304" pitchFamily="18" charset="0"/>
              </a:rPr>
              <a:t>то условие 1=1 (которое всегда истинно) внедряется в предложение WHERE: </a:t>
            </a:r>
          </a:p>
          <a:p>
            <a:pPr marL="0" indent="0">
              <a:spcBef>
                <a:spcPts val="0"/>
              </a:spcBef>
              <a:buNone/>
            </a:pPr>
            <a:r>
              <a:rPr lang="ru-RU" sz="2500" b="1" dirty="0">
                <a:latin typeface="Times New Roman" panose="02020603050405020304" pitchFamily="18" charset="0"/>
                <a:cs typeface="Times New Roman" panose="02020603050405020304" pitchFamily="18" charset="0"/>
              </a:rPr>
              <a:t>SELECT * FROM </a:t>
            </a:r>
            <a:r>
              <a:rPr lang="ru-RU" sz="2500" b="1" dirty="0" err="1">
                <a:latin typeface="Times New Roman" panose="02020603050405020304" pitchFamily="18" charset="0"/>
                <a:cs typeface="Times New Roman" panose="02020603050405020304" pitchFamily="18" charset="0"/>
              </a:rPr>
              <a:t>Customers</a:t>
            </a:r>
            <a:r>
              <a:rPr lang="ru-RU" sz="2500" b="1" dirty="0">
                <a:latin typeface="Times New Roman" panose="02020603050405020304" pitchFamily="18" charset="0"/>
                <a:cs typeface="Times New Roman" panose="02020603050405020304" pitchFamily="18" charset="0"/>
              </a:rPr>
              <a:t> WHERE </a:t>
            </a:r>
            <a:r>
              <a:rPr lang="ru-RU" sz="2500" b="1" dirty="0" err="1">
                <a:latin typeface="Times New Roman" panose="02020603050405020304" pitchFamily="18" charset="0"/>
                <a:cs typeface="Times New Roman" panose="02020603050405020304" pitchFamily="18" charset="0"/>
              </a:rPr>
              <a:t>CustomerlD</a:t>
            </a:r>
            <a:r>
              <a:rPr lang="ru-RU" sz="2500" b="1" dirty="0">
                <a:latin typeface="Times New Roman" panose="02020603050405020304" pitchFamily="18" charset="0"/>
                <a:cs typeface="Times New Roman" panose="02020603050405020304" pitchFamily="18" charset="0"/>
              </a:rPr>
              <a:t>='123' </a:t>
            </a:r>
            <a:r>
              <a:rPr lang="ru-RU" sz="2500" b="1" dirty="0" err="1">
                <a:latin typeface="Times New Roman" panose="02020603050405020304" pitchFamily="18" charset="0"/>
                <a:cs typeface="Times New Roman" panose="02020603050405020304" pitchFamily="18" charset="0"/>
              </a:rPr>
              <a:t>or</a:t>
            </a:r>
            <a:r>
              <a:rPr lang="ru-RU" sz="2500" b="1" dirty="0">
                <a:latin typeface="Times New Roman" panose="02020603050405020304" pitchFamily="18" charset="0"/>
                <a:cs typeface="Times New Roman" panose="02020603050405020304" pitchFamily="18" charset="0"/>
              </a:rPr>
              <a:t> 1=1 --' </a:t>
            </a:r>
          </a:p>
          <a:p>
            <a:pPr marL="0" indent="0">
              <a:spcBef>
                <a:spcPts val="0"/>
              </a:spcBef>
              <a:buNone/>
            </a:pPr>
            <a:r>
              <a:rPr lang="ru-RU" sz="2500" dirty="0">
                <a:latin typeface="Times New Roman" panose="02020603050405020304" pitchFamily="18" charset="0"/>
                <a:cs typeface="Times New Roman" panose="02020603050405020304" pitchFamily="18" charset="0"/>
              </a:rPr>
              <a:t>Или если в поле ввода пароля следующее </a:t>
            </a:r>
          </a:p>
          <a:p>
            <a:pPr marL="0" indent="0">
              <a:spcBef>
                <a:spcPts val="0"/>
              </a:spcBef>
              <a:buNone/>
            </a:pPr>
            <a:r>
              <a:rPr lang="en-US" sz="2500" b="1" dirty="0">
                <a:latin typeface="Times New Roman" panose="02020603050405020304" pitchFamily="18" charset="0"/>
                <a:cs typeface="Times New Roman" panose="02020603050405020304" pitchFamily="18" charset="0"/>
              </a:rPr>
              <a:t>secreta net' Or 1=1 </a:t>
            </a:r>
            <a:r>
              <a:rPr lang="ru-RU" sz="2500" b="1" dirty="0">
                <a:latin typeface="Times New Roman" panose="02020603050405020304" pitchFamily="18" charset="0"/>
                <a:cs typeface="Times New Roman" panose="02020603050405020304" pitchFamily="18" charset="0"/>
              </a:rPr>
              <a:t>--</a:t>
            </a:r>
            <a:endParaRPr lang="en-US" sz="2500" b="1" dirty="0">
              <a:latin typeface="Times New Roman" panose="02020603050405020304" pitchFamily="18" charset="0"/>
              <a:cs typeface="Times New Roman" panose="02020603050405020304" pitchFamily="18" charset="0"/>
            </a:endParaRPr>
          </a:p>
          <a:p>
            <a:pPr marL="0" indent="0">
              <a:spcBef>
                <a:spcPts val="0"/>
              </a:spcBef>
              <a:buNone/>
            </a:pPr>
            <a:r>
              <a:rPr lang="ru-RU" sz="2500" dirty="0">
                <a:latin typeface="Times New Roman" panose="02020603050405020304" pitchFamily="18" charset="0"/>
                <a:cs typeface="Times New Roman" panose="02020603050405020304" pitchFamily="18" charset="0"/>
              </a:rPr>
              <a:t>Получим: </a:t>
            </a:r>
          </a:p>
          <a:p>
            <a:pPr marL="0" indent="0">
              <a:spcBef>
                <a:spcPts val="0"/>
              </a:spcBef>
              <a:buNone/>
            </a:pPr>
            <a:r>
              <a:rPr lang="en-US" sz="2500" b="1" dirty="0">
                <a:latin typeface="Times New Roman" panose="02020603050405020304" pitchFamily="18" charset="0"/>
                <a:cs typeface="Times New Roman" panose="02020603050405020304" pitchFamily="18" charset="0"/>
              </a:rPr>
              <a:t>SELECT * FROM users WHERE username = '</a:t>
            </a:r>
            <a:r>
              <a:rPr lang="en-US" sz="2500" b="1" dirty="0" err="1">
                <a:latin typeface="Times New Roman" panose="02020603050405020304" pitchFamily="18" charset="0"/>
                <a:cs typeface="Times New Roman" panose="02020603050405020304" pitchFamily="18" charset="0"/>
              </a:rPr>
              <a:t>james</a:t>
            </a:r>
            <a:r>
              <a:rPr lang="en-US" sz="2500" b="1" dirty="0">
                <a:latin typeface="Times New Roman" panose="02020603050405020304" pitchFamily="18" charset="0"/>
                <a:cs typeface="Times New Roman" panose="02020603050405020304" pitchFamily="18" charset="0"/>
              </a:rPr>
              <a:t>' AND password = 'secret' OR 1=1--' </a:t>
            </a:r>
          </a:p>
          <a:p>
            <a:pPr marL="0" indent="0">
              <a:spcBef>
                <a:spcPts val="0"/>
              </a:spcBef>
              <a:buNone/>
            </a:pPr>
            <a:r>
              <a:rPr lang="ru-RU" sz="2500" dirty="0">
                <a:latin typeface="Times New Roman" panose="02020603050405020304" pitchFamily="18" charset="0"/>
                <a:cs typeface="Times New Roman" panose="02020603050405020304" pitchFamily="18" charset="0"/>
              </a:rPr>
              <a:t>Значение 1=1 всегда истинно, таким образом, значение пароля уже не будет иметь значения.</a:t>
            </a:r>
          </a:p>
          <a:p>
            <a:pPr marL="360000" indent="0">
              <a:buNone/>
            </a:pPr>
            <a:endParaRPr lang="ru-RU" sz="2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29197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type="body" idx="1"/>
          </p:nvPr>
        </p:nvSpPr>
        <p:spPr>
          <a:xfrm>
            <a:off x="0" y="0"/>
            <a:ext cx="9144000" cy="7029399"/>
          </a:xfrm>
        </p:spPr>
        <p:txBody>
          <a:bodyPr/>
          <a:lstStyle/>
          <a:p>
            <a:pPr marL="114300" indent="0">
              <a:buNone/>
            </a:pPr>
            <a:r>
              <a:rPr lang="ru-RU" sz="2500" b="1" dirty="0">
                <a:latin typeface="Times New Roman" panose="02020603050405020304" pitchFamily="18" charset="0"/>
                <a:cs typeface="Times New Roman" panose="02020603050405020304" pitchFamily="18" charset="0"/>
              </a:rPr>
              <a:t>Пример 4. Комментирование кода. </a:t>
            </a:r>
          </a:p>
          <a:p>
            <a:pPr marL="114300" indent="0" algn="just">
              <a:buNone/>
            </a:pPr>
            <a:r>
              <a:rPr lang="ru-RU" sz="2500" dirty="0">
                <a:latin typeface="Times New Roman" panose="02020603050405020304" pitchFamily="18" charset="0"/>
                <a:cs typeface="Times New Roman" panose="02020603050405020304" pitchFamily="18" charset="0"/>
              </a:rPr>
              <a:t>Если пользователь вводит в Web-форму регистрации на сайте: </a:t>
            </a:r>
          </a:p>
          <a:p>
            <a:pPr marL="114300" indent="0" algn="just">
              <a:buNone/>
            </a:pPr>
            <a:r>
              <a:rPr lang="ru-RU" sz="2500" b="1" dirty="0" err="1">
                <a:latin typeface="Times New Roman" panose="02020603050405020304" pitchFamily="18" charset="0"/>
                <a:cs typeface="Times New Roman" panose="02020603050405020304" pitchFamily="18" charset="0"/>
              </a:rPr>
              <a:t>UserName</a:t>
            </a:r>
            <a:r>
              <a:rPr lang="ru-RU" sz="2500" b="1" dirty="0">
                <a:latin typeface="Times New Roman" panose="02020603050405020304" pitchFamily="18" charset="0"/>
                <a:cs typeface="Times New Roman" panose="02020603050405020304" pitchFamily="18" charset="0"/>
              </a:rPr>
              <a:t>: </a:t>
            </a:r>
            <a:r>
              <a:rPr lang="ru-RU" sz="2500" b="1" dirty="0" err="1">
                <a:latin typeface="Times New Roman" panose="02020603050405020304" pitchFamily="18" charset="0"/>
                <a:cs typeface="Times New Roman" panose="02020603050405020304" pitchFamily="18" charset="0"/>
              </a:rPr>
              <a:t>Joe</a:t>
            </a:r>
            <a:r>
              <a:rPr lang="ru-RU" sz="2500" b="1" dirty="0">
                <a:latin typeface="Times New Roman" panose="02020603050405020304" pitchFamily="18" charset="0"/>
                <a:cs typeface="Times New Roman" panose="02020603050405020304" pitchFamily="18" charset="0"/>
              </a:rPr>
              <a:t>' --</a:t>
            </a:r>
          </a:p>
          <a:p>
            <a:pPr marL="114300" indent="0" algn="just">
              <a:buNone/>
            </a:pPr>
            <a:r>
              <a:rPr lang="ru-RU" sz="2500" b="1" dirty="0">
                <a:latin typeface="Times New Roman" panose="02020603050405020304" pitchFamily="18" charset="0"/>
                <a:cs typeface="Times New Roman" panose="02020603050405020304" pitchFamily="18" charset="0"/>
              </a:rPr>
              <a:t>Password : </a:t>
            </a:r>
            <a:r>
              <a:rPr lang="ru-RU" sz="2500" b="1" dirty="0" err="1">
                <a:latin typeface="Times New Roman" panose="02020603050405020304" pitchFamily="18" charset="0"/>
                <a:cs typeface="Times New Roman" panose="02020603050405020304" pitchFamily="18" charset="0"/>
              </a:rPr>
              <a:t>qwerty</a:t>
            </a:r>
            <a:r>
              <a:rPr lang="ru-RU" sz="2500" b="1" dirty="0">
                <a:latin typeface="Times New Roman" panose="02020603050405020304" pitchFamily="18" charset="0"/>
                <a:cs typeface="Times New Roman" panose="02020603050405020304" pitchFamily="18" charset="0"/>
              </a:rPr>
              <a:t> </a:t>
            </a:r>
          </a:p>
          <a:p>
            <a:pPr marL="114300" indent="0" algn="just">
              <a:buNone/>
            </a:pPr>
            <a:r>
              <a:rPr lang="ru-RU" sz="2500" dirty="0">
                <a:latin typeface="Times New Roman" panose="02020603050405020304" pitchFamily="18" charset="0"/>
                <a:cs typeface="Times New Roman" panose="02020603050405020304" pitchFamily="18" charset="0"/>
              </a:rPr>
              <a:t>то результирующую инструкцию SQL можно будет прочитать следующим образом: </a:t>
            </a:r>
          </a:p>
          <a:p>
            <a:pPr marL="114300" indent="0" algn="just">
              <a:buNone/>
            </a:pPr>
            <a:r>
              <a:rPr lang="ru-RU" sz="2500" b="1" dirty="0">
                <a:latin typeface="Times New Roman" panose="02020603050405020304" pitchFamily="18" charset="0"/>
                <a:cs typeface="Times New Roman" panose="02020603050405020304" pitchFamily="18" charset="0"/>
              </a:rPr>
              <a:t>SELECT </a:t>
            </a:r>
            <a:r>
              <a:rPr lang="ru-RU" sz="2500" b="1" dirty="0" err="1">
                <a:latin typeface="Times New Roman" panose="02020603050405020304" pitchFamily="18" charset="0"/>
                <a:cs typeface="Times New Roman" panose="02020603050405020304" pitchFamily="18" charset="0"/>
              </a:rPr>
              <a:t>UserlD</a:t>
            </a:r>
            <a:r>
              <a:rPr lang="ru-RU" sz="2500" b="1" dirty="0">
                <a:latin typeface="Times New Roman" panose="02020603050405020304" pitchFamily="18" charset="0"/>
                <a:cs typeface="Times New Roman" panose="02020603050405020304" pitchFamily="18" charset="0"/>
              </a:rPr>
              <a:t> FROM </a:t>
            </a:r>
            <a:r>
              <a:rPr lang="ru-RU" sz="2500" b="1" dirty="0" err="1">
                <a:latin typeface="Times New Roman" panose="02020603050405020304" pitchFamily="18" charset="0"/>
                <a:cs typeface="Times New Roman" panose="02020603050405020304" pitchFamily="18" charset="0"/>
              </a:rPr>
              <a:t>Users</a:t>
            </a:r>
            <a:r>
              <a:rPr lang="ru-RU" sz="2500" b="1" dirty="0">
                <a:latin typeface="Times New Roman" panose="02020603050405020304" pitchFamily="18" charset="0"/>
                <a:cs typeface="Times New Roman" panose="02020603050405020304" pitchFamily="18" charset="0"/>
              </a:rPr>
              <a:t> WHERE </a:t>
            </a:r>
            <a:r>
              <a:rPr lang="ru-RU" sz="2500" b="1" dirty="0" err="1">
                <a:latin typeface="Times New Roman" panose="02020603050405020304" pitchFamily="18" charset="0"/>
                <a:cs typeface="Times New Roman" panose="02020603050405020304" pitchFamily="18" charset="0"/>
              </a:rPr>
              <a:t>UserName</a:t>
            </a:r>
            <a:r>
              <a:rPr lang="ru-RU" sz="2500" b="1" dirty="0">
                <a:latin typeface="Times New Roman" panose="02020603050405020304" pitchFamily="18" charset="0"/>
                <a:cs typeface="Times New Roman" panose="02020603050405020304" pitchFamily="18" charset="0"/>
              </a:rPr>
              <a:t> = '</a:t>
            </a:r>
            <a:r>
              <a:rPr lang="ru-RU" sz="2500" b="1" dirty="0" err="1">
                <a:latin typeface="Times New Roman" panose="02020603050405020304" pitchFamily="18" charset="0"/>
                <a:cs typeface="Times New Roman" panose="02020603050405020304" pitchFamily="18" charset="0"/>
              </a:rPr>
              <a:t>Joe</a:t>
            </a:r>
            <a:r>
              <a:rPr lang="ru-RU" sz="2500" b="1" dirty="0">
                <a:latin typeface="Times New Roman" panose="02020603050405020304" pitchFamily="18" charset="0"/>
                <a:cs typeface="Times New Roman" panose="02020603050405020304" pitchFamily="18" charset="0"/>
              </a:rPr>
              <a:t>'--' AND Password = '</a:t>
            </a:r>
            <a:r>
              <a:rPr lang="ru-RU" sz="2500" b="1" dirty="0" err="1">
                <a:latin typeface="Times New Roman" panose="02020603050405020304" pitchFamily="18" charset="0"/>
                <a:cs typeface="Times New Roman" panose="02020603050405020304" pitchFamily="18" charset="0"/>
              </a:rPr>
              <a:t>qwerty</a:t>
            </a:r>
            <a:r>
              <a:rPr lang="ru-RU" sz="2500" b="1" dirty="0">
                <a:latin typeface="Times New Roman" panose="02020603050405020304" pitchFamily="18" charset="0"/>
                <a:cs typeface="Times New Roman" panose="02020603050405020304" pitchFamily="18" charset="0"/>
              </a:rPr>
              <a:t>' </a:t>
            </a:r>
          </a:p>
          <a:p>
            <a:pPr marL="0" marR="35560" lvl="0" indent="0" algn="just">
              <a:lnSpc>
                <a:spcPct val="115000"/>
              </a:lnSpc>
              <a:spcBef>
                <a:spcPts val="15"/>
              </a:spcBef>
              <a:spcAft>
                <a:spcPts val="0"/>
              </a:spcAft>
              <a:buNone/>
              <a:tabLst>
                <a:tab pos="455295" algn="l"/>
              </a:tabLst>
            </a:pPr>
            <a:endParaRPr lang="ru-RU" sz="2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00807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type="body" idx="1"/>
          </p:nvPr>
        </p:nvSpPr>
        <p:spPr>
          <a:xfrm>
            <a:off x="0" y="0"/>
            <a:ext cx="9144000" cy="6857999"/>
          </a:xfrm>
        </p:spPr>
        <p:txBody>
          <a:bodyPr/>
          <a:lstStyle/>
          <a:p>
            <a:pPr marL="0" indent="0" algn="just">
              <a:spcBef>
                <a:spcPts val="0"/>
              </a:spcBef>
              <a:buNone/>
            </a:pPr>
            <a:r>
              <a:rPr lang="ru-RU" sz="2500" b="1" dirty="0">
                <a:latin typeface="Times New Roman" panose="02020603050405020304" pitchFamily="18" charset="0"/>
                <a:cs typeface="Times New Roman" panose="02020603050405020304" pitchFamily="18" charset="0"/>
              </a:rPr>
              <a:t>Пример 5. Генерация ошибок. </a:t>
            </a:r>
            <a:r>
              <a:rPr lang="ru-RU" sz="2500" dirty="0">
                <a:latin typeface="Times New Roman" panose="02020603050405020304" pitchFamily="18" charset="0"/>
                <a:cs typeface="Times New Roman" panose="02020603050405020304" pitchFamily="18" charset="0"/>
              </a:rPr>
              <a:t>Проверка уязвимости для </a:t>
            </a:r>
            <a:r>
              <a:rPr lang="en-US" sz="2500" dirty="0">
                <a:latin typeface="Times New Roman" panose="02020603050405020304" pitchFamily="18" charset="0"/>
                <a:cs typeface="Times New Roman" panose="02020603050405020304" pitchFamily="18" charset="0"/>
              </a:rPr>
              <a:t>SQL </a:t>
            </a:r>
            <a:r>
              <a:rPr lang="ru-RU" sz="2500" dirty="0">
                <a:latin typeface="Times New Roman" panose="02020603050405020304" pitchFamily="18" charset="0"/>
                <a:cs typeface="Times New Roman" panose="02020603050405020304" pitchFamily="18" charset="0"/>
              </a:rPr>
              <a:t>инъекций путем ввода '*** в поле ввода. Одиночные кавычки вставляют также в строку </a:t>
            </a:r>
            <a:r>
              <a:rPr lang="en-US" sz="2500" dirty="0">
                <a:latin typeface="Times New Roman" panose="02020603050405020304" pitchFamily="18" charset="0"/>
                <a:cs typeface="Times New Roman" panose="02020603050405020304" pitchFamily="18" charset="0"/>
              </a:rPr>
              <a:t>URL </a:t>
            </a:r>
            <a:r>
              <a:rPr lang="ru-RU" sz="2500" dirty="0">
                <a:latin typeface="Times New Roman" panose="02020603050405020304" pitchFamily="18" charset="0"/>
                <a:cs typeface="Times New Roman" panose="02020603050405020304" pitchFamily="18" charset="0"/>
              </a:rPr>
              <a:t>запроса. Возникающая необработанная ошибка может предоставить много информации для нарушителя.         Если взломщик получит ошибку вида </a:t>
            </a:r>
          </a:p>
          <a:p>
            <a:pPr marL="0" indent="0" algn="just">
              <a:spcBef>
                <a:spcPts val="0"/>
              </a:spcBef>
              <a:buNone/>
            </a:pPr>
            <a:r>
              <a:rPr lang="en-US" sz="2500" b="1" dirty="0">
                <a:latin typeface="Times New Roman" panose="02020603050405020304" pitchFamily="18" charset="0"/>
                <a:cs typeface="Times New Roman" panose="02020603050405020304" pitchFamily="18" charset="0"/>
              </a:rPr>
              <a:t>Microsoft OLE DB Provider for ODBC Drivers error '80040e14' </a:t>
            </a:r>
            <a:endParaRPr lang="ru-RU" sz="2500" b="1" dirty="0">
              <a:latin typeface="Times New Roman" panose="02020603050405020304" pitchFamily="18" charset="0"/>
              <a:cs typeface="Times New Roman" panose="02020603050405020304" pitchFamily="18" charset="0"/>
            </a:endParaRPr>
          </a:p>
          <a:p>
            <a:pPr marL="0" indent="0" algn="just">
              <a:spcBef>
                <a:spcPts val="0"/>
              </a:spcBef>
              <a:buNone/>
            </a:pPr>
            <a:r>
              <a:rPr lang="en-US" sz="2500" b="1" dirty="0">
                <a:latin typeface="Times New Roman" panose="02020603050405020304" pitchFamily="18" charset="0"/>
                <a:cs typeface="Times New Roman" panose="02020603050405020304" pitchFamily="18" charset="0"/>
              </a:rPr>
              <a:t>[Microsoft][ODBC SQL Server Driver][SQL Server]Incorrect syntax near the keyword 'or'. </a:t>
            </a:r>
            <a:endParaRPr lang="ru-RU" sz="2500" b="1" dirty="0">
              <a:latin typeface="Times New Roman" panose="02020603050405020304" pitchFamily="18" charset="0"/>
              <a:cs typeface="Times New Roman" panose="02020603050405020304" pitchFamily="18" charset="0"/>
            </a:endParaRPr>
          </a:p>
          <a:p>
            <a:pPr marL="0" indent="0" algn="just">
              <a:spcBef>
                <a:spcPts val="0"/>
              </a:spcBef>
              <a:buNone/>
            </a:pPr>
            <a:r>
              <a:rPr lang="en-US" sz="2500" b="1" dirty="0">
                <a:latin typeface="Times New Roman" panose="02020603050405020304" pitchFamily="18" charset="0"/>
                <a:cs typeface="Times New Roman" panose="02020603050405020304" pitchFamily="18" charset="0"/>
              </a:rPr>
              <a:t>/wasc.asp, line 69 </a:t>
            </a:r>
            <a:endParaRPr lang="ru-RU" sz="2500" b="1" dirty="0">
              <a:latin typeface="Times New Roman" panose="02020603050405020304" pitchFamily="18" charset="0"/>
              <a:cs typeface="Times New Roman" panose="02020603050405020304" pitchFamily="18" charset="0"/>
            </a:endParaRPr>
          </a:p>
          <a:p>
            <a:pPr marL="0" indent="0" algn="just">
              <a:spcBef>
                <a:spcPts val="0"/>
              </a:spcBef>
              <a:buNone/>
            </a:pPr>
            <a:r>
              <a:rPr lang="ru-RU" sz="2500" dirty="0">
                <a:latin typeface="Times New Roman" panose="02020603050405020304" pitchFamily="18" charset="0"/>
                <a:cs typeface="Times New Roman" panose="02020603050405020304" pitchFamily="18" charset="0"/>
              </a:rPr>
              <a:t>то вероятность осуществления вторжения путем </a:t>
            </a:r>
            <a:r>
              <a:rPr lang="en-US" sz="2500" dirty="0">
                <a:latin typeface="Times New Roman" panose="02020603050405020304" pitchFamily="18" charset="0"/>
                <a:cs typeface="Times New Roman" panose="02020603050405020304" pitchFamily="18" charset="0"/>
              </a:rPr>
              <a:t>SQL </a:t>
            </a:r>
            <a:r>
              <a:rPr lang="ru-RU" sz="2500" dirty="0">
                <a:latin typeface="Times New Roman" panose="02020603050405020304" pitchFamily="18" charset="0"/>
                <a:cs typeface="Times New Roman" panose="02020603050405020304" pitchFamily="18" charset="0"/>
              </a:rPr>
              <a:t>инъекций будет довольно высокой. </a:t>
            </a:r>
          </a:p>
          <a:p>
            <a:pPr marL="0" indent="0" algn="just">
              <a:spcBef>
                <a:spcPts val="0"/>
              </a:spcBef>
              <a:buNone/>
            </a:pPr>
            <a:r>
              <a:rPr lang="ru-RU" sz="2500" dirty="0">
                <a:latin typeface="Times New Roman" panose="02020603050405020304" pitchFamily="18" charset="0"/>
                <a:cs typeface="Times New Roman" panose="02020603050405020304" pitchFamily="18" charset="0"/>
              </a:rPr>
              <a:t>Можно также ввести кавычку при запросе определенного файла (например музыкального файла). </a:t>
            </a:r>
          </a:p>
          <a:p>
            <a:pPr marL="0" indent="0" algn="just">
              <a:spcBef>
                <a:spcPts val="0"/>
              </a:spcBef>
              <a:buNone/>
            </a:pPr>
            <a:r>
              <a:rPr lang="ru-RU" sz="2500" dirty="0">
                <a:latin typeface="Times New Roman" panose="02020603050405020304" pitchFamily="18" charset="0"/>
                <a:cs typeface="Times New Roman" panose="02020603050405020304" pitchFamily="18" charset="0"/>
              </a:rPr>
              <a:t>В ответ получим что то подобное следующему: </a:t>
            </a:r>
            <a:r>
              <a:rPr lang="en-US" sz="2500" dirty="0">
                <a:solidFill>
                  <a:srgbClr val="FF0000"/>
                </a:solidFill>
                <a:latin typeface="Times New Roman" panose="02020603050405020304" pitchFamily="18" charset="0"/>
                <a:cs typeface="Times New Roman" panose="02020603050405020304" pitchFamily="18" charset="0"/>
              </a:rPr>
              <a:t>Warning: file(./data/music/Sunny.mp3): failed to open stream: No such file or directory in C:\Website\index.php on line 27. </a:t>
            </a:r>
            <a:endParaRPr lang="ru-RU" sz="2500" dirty="0">
              <a:solidFill>
                <a:srgbClr val="FF0000"/>
              </a:solidFill>
              <a:latin typeface="Times New Roman" panose="02020603050405020304" pitchFamily="18" charset="0"/>
              <a:cs typeface="Times New Roman" panose="02020603050405020304" pitchFamily="18" charset="0"/>
            </a:endParaRPr>
          </a:p>
          <a:p>
            <a:pPr marL="0" indent="0" algn="just">
              <a:spcBef>
                <a:spcPts val="0"/>
              </a:spcBef>
              <a:buNone/>
            </a:pPr>
            <a:r>
              <a:rPr lang="ru-RU" sz="2500" dirty="0">
                <a:latin typeface="Times New Roman" panose="02020603050405020304" pitchFamily="18" charset="0"/>
                <a:cs typeface="Times New Roman" panose="02020603050405020304" pitchFamily="18" charset="0"/>
              </a:rPr>
              <a:t>Полученное сообщение об ошибке позволяет легко узнать, где хранятся файлы.</a:t>
            </a:r>
          </a:p>
          <a:p>
            <a:pPr marL="88900" marR="43180" indent="259080" algn="just">
              <a:lnSpc>
                <a:spcPct val="115000"/>
              </a:lnSpc>
              <a:spcBef>
                <a:spcPts val="90"/>
              </a:spcBef>
              <a:spcAft>
                <a:spcPts val="0"/>
              </a:spcAft>
            </a:pPr>
            <a:endParaRPr lang="ru-RU"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33956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type="body" idx="1"/>
          </p:nvPr>
        </p:nvSpPr>
        <p:spPr>
          <a:xfrm>
            <a:off x="0" y="188913"/>
            <a:ext cx="9144000" cy="6480175"/>
          </a:xfrm>
        </p:spPr>
        <p:txBody>
          <a:bodyPr/>
          <a:lstStyle/>
          <a:p>
            <a:pPr marL="114300" indent="0" algn="just">
              <a:buNone/>
            </a:pPr>
            <a:r>
              <a:rPr lang="ru-RU" sz="2500" dirty="0">
                <a:latin typeface="Times New Roman" panose="02020603050405020304" pitchFamily="18" charset="0"/>
                <a:cs typeface="Times New Roman" panose="02020603050405020304" pitchFamily="18" charset="0"/>
              </a:rPr>
              <a:t>Определенным образом сформулированные запросы могут дать доступ к структуре данных (именам полей и таблиц). Например, для поиска уязвимости на сайте, написанном на языке PHP и использующим СУБД MySQL, можно попробовать следующее: </a:t>
            </a:r>
          </a:p>
          <a:p>
            <a:pPr marL="114300" indent="0" algn="just">
              <a:buNone/>
            </a:pPr>
            <a:r>
              <a:rPr lang="ru-RU" sz="2500" b="1" dirty="0">
                <a:latin typeface="Times New Roman" panose="02020603050405020304" pitchFamily="18" charset="0"/>
                <a:cs typeface="Times New Roman" panose="02020603050405020304" pitchFamily="18" charset="0"/>
              </a:rPr>
              <a:t>http://.../php?id = 12 + </a:t>
            </a:r>
            <a:r>
              <a:rPr lang="ru-RU" sz="2500" b="1" dirty="0" err="1">
                <a:latin typeface="Times New Roman" panose="02020603050405020304" pitchFamily="18" charset="0"/>
                <a:cs typeface="Times New Roman" panose="02020603050405020304" pitchFamily="18" charset="0"/>
              </a:rPr>
              <a:t>union</a:t>
            </a:r>
            <a:r>
              <a:rPr lang="ru-RU" sz="2500" b="1" dirty="0">
                <a:latin typeface="Times New Roman" panose="02020603050405020304" pitchFamily="18" charset="0"/>
                <a:cs typeface="Times New Roman" panose="02020603050405020304" pitchFamily="18" charset="0"/>
              </a:rPr>
              <a:t> + </a:t>
            </a:r>
            <a:r>
              <a:rPr lang="ru-RU" sz="2500" b="1" dirty="0" err="1">
                <a:latin typeface="Times New Roman" panose="02020603050405020304" pitchFamily="18" charset="0"/>
                <a:cs typeface="Times New Roman" panose="02020603050405020304" pitchFamily="18" charset="0"/>
              </a:rPr>
              <a:t>select</a:t>
            </a:r>
            <a:r>
              <a:rPr lang="ru-RU" sz="2500" b="1" dirty="0">
                <a:latin typeface="Times New Roman" panose="02020603050405020304" pitchFamily="18" charset="0"/>
                <a:cs typeface="Times New Roman" panose="02020603050405020304" pitchFamily="18" charset="0"/>
              </a:rPr>
              <a:t> + </a:t>
            </a:r>
            <a:r>
              <a:rPr lang="ru-RU" sz="2500" b="1" dirty="0" err="1">
                <a:latin typeface="Times New Roman" panose="02020603050405020304" pitchFamily="18" charset="0"/>
                <a:cs typeface="Times New Roman" panose="02020603050405020304" pitchFamily="18" charset="0"/>
              </a:rPr>
              <a:t>null,null,null</a:t>
            </a:r>
            <a:r>
              <a:rPr lang="ru-RU" sz="2500" b="1" dirty="0">
                <a:latin typeface="Times New Roman" panose="02020603050405020304" pitchFamily="18" charset="0"/>
                <a:cs typeface="Times New Roman" panose="02020603050405020304" pitchFamily="18" charset="0"/>
              </a:rPr>
              <a:t> + </a:t>
            </a:r>
            <a:r>
              <a:rPr lang="ru-RU" sz="2500" b="1" dirty="0" err="1">
                <a:latin typeface="Times New Roman" panose="02020603050405020304" pitchFamily="18" charset="0"/>
                <a:cs typeface="Times New Roman" panose="02020603050405020304" pitchFamily="18" charset="0"/>
              </a:rPr>
              <a:t>from</a:t>
            </a:r>
            <a:r>
              <a:rPr lang="ru-RU" sz="2500" b="1" dirty="0">
                <a:latin typeface="Times New Roman" panose="02020603050405020304" pitchFamily="18" charset="0"/>
                <a:cs typeface="Times New Roman" panose="02020603050405020304" pitchFamily="18" charset="0"/>
              </a:rPr>
              <a:t> + </a:t>
            </a:r>
            <a:r>
              <a:rPr lang="ru-RU" sz="2500" b="1" dirty="0" err="1">
                <a:latin typeface="Times New Roman" panose="02020603050405020304" pitchFamily="18" charset="0"/>
                <a:cs typeface="Times New Roman" panose="02020603050405020304" pitchFamily="18" charset="0"/>
              </a:rPr>
              <a:t>users</a:t>
            </a:r>
            <a:r>
              <a:rPr lang="ru-RU" sz="2500" b="1" dirty="0">
                <a:latin typeface="Times New Roman" panose="02020603050405020304" pitchFamily="18" charset="0"/>
                <a:cs typeface="Times New Roman" panose="02020603050405020304" pitchFamily="18" charset="0"/>
              </a:rPr>
              <a:t>/* </a:t>
            </a:r>
          </a:p>
          <a:p>
            <a:pPr marL="114300" indent="0" algn="just">
              <a:buNone/>
            </a:pPr>
            <a:r>
              <a:rPr lang="ru-RU" sz="2500" dirty="0">
                <a:latin typeface="Times New Roman" panose="02020603050405020304" pitchFamily="18" charset="0"/>
                <a:cs typeface="Times New Roman" panose="02020603050405020304" pitchFamily="18" charset="0"/>
              </a:rPr>
              <a:t>(здесь </a:t>
            </a:r>
            <a:r>
              <a:rPr lang="ru-RU" sz="2500" b="1" dirty="0">
                <a:solidFill>
                  <a:srgbClr val="FF0000"/>
                </a:solidFill>
                <a:latin typeface="Times New Roman" panose="02020603050405020304" pitchFamily="18" charset="0"/>
                <a:cs typeface="Times New Roman" panose="02020603050405020304" pitchFamily="18" charset="0"/>
              </a:rPr>
              <a:t>/*</a:t>
            </a:r>
            <a:r>
              <a:rPr lang="ru-RU" sz="2500" dirty="0">
                <a:latin typeface="Times New Roman" panose="02020603050405020304" pitchFamily="18" charset="0"/>
                <a:cs typeface="Times New Roman" panose="02020603050405020304" pitchFamily="18" charset="0"/>
              </a:rPr>
              <a:t> это символ комментария в MySQL). Правильные выполненные запросы будут соответствовать существующим именам таблиц. </a:t>
            </a:r>
          </a:p>
          <a:p>
            <a:pPr marL="114300" indent="0" algn="just">
              <a:buNone/>
            </a:pPr>
            <a:r>
              <a:rPr lang="ru-RU" sz="2500" dirty="0">
                <a:latin typeface="Times New Roman" panose="02020603050405020304" pitchFamily="18" charset="0"/>
                <a:cs typeface="Times New Roman" panose="02020603050405020304" pitchFamily="18" charset="0"/>
              </a:rPr>
              <a:t>Следует проверить на существование таблиц </a:t>
            </a:r>
            <a:r>
              <a:rPr lang="ru-RU" sz="2500" dirty="0" err="1">
                <a:latin typeface="Times New Roman" panose="02020603050405020304" pitchFamily="18" charset="0"/>
                <a:cs typeface="Times New Roman" panose="02020603050405020304" pitchFamily="18" charset="0"/>
              </a:rPr>
              <a:t>users</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passwords</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regusers</a:t>
            </a:r>
            <a:r>
              <a:rPr lang="ru-RU" sz="2500" dirty="0">
                <a:latin typeface="Times New Roman" panose="02020603050405020304" pitchFamily="18" charset="0"/>
                <a:cs typeface="Times New Roman" panose="02020603050405020304" pitchFamily="18" charset="0"/>
              </a:rPr>
              <a:t> и т.д. </a:t>
            </a:r>
          </a:p>
          <a:p>
            <a:pPr marL="114300" indent="0" algn="just">
              <a:buNone/>
            </a:pPr>
            <a:r>
              <a:rPr lang="ru-RU" sz="2500" dirty="0">
                <a:latin typeface="Times New Roman" panose="02020603050405020304" pitchFamily="18" charset="0"/>
                <a:cs typeface="Times New Roman" panose="02020603050405020304" pitchFamily="18" charset="0"/>
              </a:rPr>
              <a:t>Затем выполняем: </a:t>
            </a:r>
          </a:p>
          <a:p>
            <a:pPr marL="114300" indent="0" algn="just">
              <a:buNone/>
            </a:pPr>
            <a:r>
              <a:rPr lang="ru-RU" sz="2500" b="1" dirty="0">
                <a:latin typeface="Times New Roman" panose="02020603050405020304" pitchFamily="18" charset="0"/>
                <a:cs typeface="Times New Roman" panose="02020603050405020304" pitchFamily="18" charset="0"/>
              </a:rPr>
              <a:t>http://.../php?id=9999+union+select+'test',null,null/* http://.../php?id=9999+union+select+null,'test',null/*</a:t>
            </a:r>
          </a:p>
          <a:p>
            <a:pPr marL="88900" marR="43180" indent="259080" algn="just">
              <a:lnSpc>
                <a:spcPct val="115000"/>
              </a:lnSpc>
              <a:spcBef>
                <a:spcPts val="90"/>
              </a:spcBef>
              <a:spcAft>
                <a:spcPts val="0"/>
              </a:spcAft>
            </a:pPr>
            <a:endParaRPr lang="ru-RU"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65366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type="body" idx="1"/>
          </p:nvPr>
        </p:nvSpPr>
        <p:spPr>
          <a:xfrm>
            <a:off x="0" y="1"/>
            <a:ext cx="9144000" cy="6669088"/>
          </a:xfrm>
        </p:spPr>
        <p:txBody>
          <a:bodyPr/>
          <a:lstStyle/>
          <a:p>
            <a:pPr marL="114300" indent="0" algn="just">
              <a:buNone/>
            </a:pPr>
            <a:r>
              <a:rPr lang="ru-RU" sz="2500" dirty="0">
                <a:latin typeface="Times New Roman" panose="02020603050405020304" pitchFamily="18" charset="0"/>
                <a:cs typeface="Times New Roman" panose="02020603050405020304" pitchFamily="18" charset="0"/>
              </a:rPr>
              <a:t>Ввод подобных команд необходимо продолжать до тех пор, пока название поля (слово </a:t>
            </a:r>
            <a:r>
              <a:rPr lang="ru-RU" sz="2500" dirty="0" err="1">
                <a:latin typeface="Times New Roman" panose="02020603050405020304" pitchFamily="18" charset="0"/>
                <a:cs typeface="Times New Roman" panose="02020603050405020304" pitchFamily="18" charset="0"/>
              </a:rPr>
              <a:t>test</a:t>
            </a:r>
            <a:r>
              <a:rPr lang="ru-RU" sz="2500" dirty="0">
                <a:latin typeface="Times New Roman" panose="02020603050405020304" pitchFamily="18" charset="0"/>
                <a:cs typeface="Times New Roman" panose="02020603050405020304" pitchFamily="18" charset="0"/>
              </a:rPr>
              <a:t>) окажется в нужном месте. </a:t>
            </a:r>
          </a:p>
          <a:p>
            <a:pPr marL="114300" indent="0" algn="just">
              <a:buNone/>
            </a:pPr>
            <a:r>
              <a:rPr lang="ru-RU" sz="2500" dirty="0">
                <a:latin typeface="Times New Roman" panose="02020603050405020304" pitchFamily="18" charset="0"/>
                <a:cs typeface="Times New Roman" panose="02020603050405020304" pitchFamily="18" charset="0"/>
              </a:rPr>
              <a:t>«Полезными» являются также следующие команды: </a:t>
            </a:r>
          </a:p>
          <a:p>
            <a:pPr marL="114300" indent="0" algn="just">
              <a:buNone/>
            </a:pPr>
            <a:r>
              <a:rPr lang="ru-RU" sz="2500" b="1" dirty="0">
                <a:latin typeface="Times New Roman" panose="02020603050405020304" pitchFamily="18" charset="0"/>
                <a:cs typeface="Times New Roman" panose="02020603050405020304" pitchFamily="18" charset="0"/>
                <a:hlinkClick r:id="rId2"/>
              </a:rPr>
              <a:t>http://.../php?id=9999+union+select+null,DATABASE(),null/*</a:t>
            </a:r>
            <a:r>
              <a:rPr lang="ru-RU" sz="2500" b="1" dirty="0">
                <a:latin typeface="Times New Roman" panose="02020603050405020304" pitchFamily="18" charset="0"/>
                <a:cs typeface="Times New Roman" panose="02020603050405020304" pitchFamily="18" charset="0"/>
              </a:rPr>
              <a:t> </a:t>
            </a:r>
          </a:p>
          <a:p>
            <a:pPr marL="114300" indent="0" algn="just">
              <a:buNone/>
            </a:pPr>
            <a:r>
              <a:rPr lang="ru-RU" sz="2500" b="1" dirty="0">
                <a:latin typeface="Times New Roman" panose="02020603050405020304" pitchFamily="18" charset="0"/>
                <a:cs typeface="Times New Roman" panose="02020603050405020304" pitchFamily="18" charset="0"/>
                <a:hlinkClick r:id="rId3"/>
              </a:rPr>
              <a:t>http://.../php?id=9999+union+select+null,USER(),null/*</a:t>
            </a:r>
            <a:r>
              <a:rPr lang="ru-RU" sz="2500" b="1" dirty="0">
                <a:latin typeface="Times New Roman" panose="02020603050405020304" pitchFamily="18" charset="0"/>
                <a:cs typeface="Times New Roman" panose="02020603050405020304" pitchFamily="18" charset="0"/>
              </a:rPr>
              <a:t>  </a:t>
            </a:r>
          </a:p>
          <a:p>
            <a:pPr marL="114300" indent="0" algn="just">
              <a:buNone/>
            </a:pPr>
            <a:r>
              <a:rPr lang="ru-RU" sz="2500" b="1" dirty="0">
                <a:latin typeface="Times New Roman" panose="02020603050405020304" pitchFamily="18" charset="0"/>
                <a:cs typeface="Times New Roman" panose="02020603050405020304" pitchFamily="18" charset="0"/>
                <a:hlinkClick r:id="rId4"/>
              </a:rPr>
              <a:t>http://.../php?id=9999+union+select+null,VERSION(),null/*</a:t>
            </a:r>
            <a:endParaRPr lang="ru-RU" sz="2500" b="1" dirty="0">
              <a:latin typeface="Times New Roman" panose="02020603050405020304" pitchFamily="18" charset="0"/>
              <a:cs typeface="Times New Roman" panose="02020603050405020304" pitchFamily="18" charset="0"/>
            </a:endParaRPr>
          </a:p>
          <a:p>
            <a:pPr marL="114300" indent="0" algn="just">
              <a:buNone/>
            </a:pPr>
            <a:r>
              <a:rPr lang="ru-RU" sz="2500" dirty="0">
                <a:latin typeface="Times New Roman" panose="02020603050405020304" pitchFamily="18" charset="0"/>
                <a:cs typeface="Times New Roman" panose="02020603050405020304" pitchFamily="18" charset="0"/>
              </a:rPr>
              <a:t> </a:t>
            </a:r>
          </a:p>
          <a:p>
            <a:pPr marL="114300" indent="0" algn="just">
              <a:buNone/>
            </a:pPr>
            <a:r>
              <a:rPr lang="ru-RU" sz="2500" dirty="0">
                <a:latin typeface="Times New Roman" panose="02020603050405020304" pitchFamily="18" charset="0"/>
                <a:cs typeface="Times New Roman" panose="02020603050405020304" pitchFamily="18" charset="0"/>
              </a:rPr>
              <a:t>Можно также попробовать и уязвимость, позволяющую загружать файлы с сервера: </a:t>
            </a:r>
          </a:p>
          <a:p>
            <a:pPr marL="114300" indent="0" algn="just">
              <a:buNone/>
            </a:pPr>
            <a:r>
              <a:rPr lang="ru-RU" sz="2500" b="1" dirty="0">
                <a:latin typeface="Times New Roman" panose="02020603050405020304" pitchFamily="18" charset="0"/>
                <a:cs typeface="Times New Roman" panose="02020603050405020304" pitchFamily="18" charset="0"/>
              </a:rPr>
              <a:t>http://.../php?id=9999+union+select+null,LOAD_FILE('/etc/passwd'),null/*  </a:t>
            </a:r>
          </a:p>
          <a:p>
            <a:pPr marL="88900" marR="43180" indent="259080" algn="just">
              <a:lnSpc>
                <a:spcPct val="115000"/>
              </a:lnSpc>
              <a:spcBef>
                <a:spcPts val="90"/>
              </a:spcBef>
              <a:spcAft>
                <a:spcPts val="0"/>
              </a:spcAft>
            </a:pPr>
            <a:endParaRPr lang="ru-RU"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21934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type="body" idx="1"/>
          </p:nvPr>
        </p:nvSpPr>
        <p:spPr>
          <a:xfrm>
            <a:off x="0" y="1"/>
            <a:ext cx="9144000" cy="6669088"/>
          </a:xfrm>
        </p:spPr>
        <p:txBody>
          <a:bodyPr/>
          <a:lstStyle/>
          <a:p>
            <a:pPr marL="0" indent="0" algn="just">
              <a:spcBef>
                <a:spcPts val="0"/>
              </a:spcBef>
              <a:buNone/>
            </a:pPr>
            <a:r>
              <a:rPr lang="ru-RU" sz="2500" b="1" dirty="0">
                <a:solidFill>
                  <a:srgbClr val="FF0000"/>
                </a:solidFill>
                <a:latin typeface="Times New Roman" panose="02020603050405020304" pitchFamily="18" charset="0"/>
                <a:cs typeface="Times New Roman" panose="02020603050405020304" pitchFamily="18" charset="0"/>
              </a:rPr>
              <a:t>Защита от </a:t>
            </a:r>
            <a:r>
              <a:rPr lang="en-US" sz="2500" b="1" dirty="0">
                <a:solidFill>
                  <a:srgbClr val="FF0000"/>
                </a:solidFill>
                <a:latin typeface="Times New Roman" panose="02020603050405020304" pitchFamily="18" charset="0"/>
                <a:cs typeface="Times New Roman" panose="02020603050405020304" pitchFamily="18" charset="0"/>
              </a:rPr>
              <a:t>SQL </a:t>
            </a:r>
            <a:r>
              <a:rPr lang="ru-RU" sz="2500" b="1" dirty="0">
                <a:solidFill>
                  <a:srgbClr val="FF0000"/>
                </a:solidFill>
                <a:latin typeface="Times New Roman" panose="02020603050405020304" pitchFamily="18" charset="0"/>
                <a:cs typeface="Times New Roman" panose="02020603050405020304" pitchFamily="18" charset="0"/>
              </a:rPr>
              <a:t>инъекций. </a:t>
            </a:r>
          </a:p>
          <a:p>
            <a:pPr marL="0" indent="0" algn="just">
              <a:spcBef>
                <a:spcPts val="0"/>
              </a:spcBef>
              <a:buNone/>
            </a:pPr>
            <a:r>
              <a:rPr lang="ru-RU" sz="2500" dirty="0">
                <a:latin typeface="Times New Roman" panose="02020603050405020304" pitchFamily="18" charset="0"/>
                <a:cs typeface="Times New Roman" panose="02020603050405020304" pitchFamily="18" charset="0"/>
              </a:rPr>
              <a:t>Предотвратить проникновение "инъекций" кода можно несколькими путями. </a:t>
            </a:r>
          </a:p>
          <a:p>
            <a:pPr marL="0" indent="0" algn="just">
              <a:spcBef>
                <a:spcPts val="0"/>
              </a:spcBef>
              <a:buNone/>
            </a:pPr>
            <a:r>
              <a:rPr lang="ru-RU" sz="2500" dirty="0">
                <a:latin typeface="Times New Roman" panose="02020603050405020304" pitchFamily="18" charset="0"/>
                <a:cs typeface="Times New Roman" panose="02020603050405020304" pitchFamily="18" charset="0"/>
              </a:rPr>
              <a:t>1. Взамен динамического формирования инструкций использовать подготовленные инструкции, например: </a:t>
            </a:r>
          </a:p>
          <a:p>
            <a:pPr marL="0" indent="0" algn="just">
              <a:spcBef>
                <a:spcPts val="0"/>
              </a:spcBef>
              <a:buNone/>
            </a:pPr>
            <a:r>
              <a:rPr lang="en-US" sz="2500" b="1" dirty="0" err="1">
                <a:latin typeface="Times New Roman" panose="02020603050405020304" pitchFamily="18" charset="0"/>
                <a:cs typeface="Times New Roman" panose="02020603050405020304" pitchFamily="18" charset="0"/>
              </a:rPr>
              <a:t>PreparedStatement</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pstmt</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conn.prepareStatement</a:t>
            </a:r>
            <a:r>
              <a:rPr lang="en-US" sz="2500" b="1" dirty="0">
                <a:latin typeface="Times New Roman" panose="02020603050405020304" pitchFamily="18" charset="0"/>
                <a:cs typeface="Times New Roman" panose="02020603050405020304" pitchFamily="18" charset="0"/>
              </a:rPr>
              <a:t>("select balance from account where </a:t>
            </a:r>
            <a:r>
              <a:rPr lang="en-US" sz="2500" b="1" dirty="0" err="1">
                <a:latin typeface="Times New Roman" panose="02020603050405020304" pitchFamily="18" charset="0"/>
                <a:cs typeface="Times New Roman" panose="02020603050405020304" pitchFamily="18" charset="0"/>
              </a:rPr>
              <a:t>account_number</a:t>
            </a:r>
            <a:r>
              <a:rPr lang="en-US" sz="2500" b="1" dirty="0">
                <a:latin typeface="Times New Roman" panose="02020603050405020304" pitchFamily="18" charset="0"/>
                <a:cs typeface="Times New Roman" panose="02020603050405020304" pitchFamily="18" charset="0"/>
              </a:rPr>
              <a:t> =?“); </a:t>
            </a:r>
            <a:endParaRPr lang="ru-RU" sz="2500" b="1" dirty="0">
              <a:latin typeface="Times New Roman" panose="02020603050405020304" pitchFamily="18" charset="0"/>
              <a:cs typeface="Times New Roman" panose="02020603050405020304" pitchFamily="18" charset="0"/>
            </a:endParaRPr>
          </a:p>
          <a:p>
            <a:pPr marL="0" indent="0" algn="just">
              <a:spcBef>
                <a:spcPts val="0"/>
              </a:spcBef>
              <a:buNone/>
            </a:pPr>
            <a:r>
              <a:rPr lang="en-US" sz="2500" b="1" dirty="0" err="1">
                <a:latin typeface="Times New Roman" panose="02020603050405020304" pitchFamily="18" charset="0"/>
                <a:cs typeface="Times New Roman" panose="02020603050405020304" pitchFamily="18" charset="0"/>
              </a:rPr>
              <a:t>pstmt.setString</a:t>
            </a:r>
            <a:r>
              <a:rPr lang="en-US" sz="2500" b="1" dirty="0">
                <a:latin typeface="Times New Roman" panose="02020603050405020304" pitchFamily="18" charset="0"/>
                <a:cs typeface="Times New Roman" panose="02020603050405020304" pitchFamily="18" charset="0"/>
              </a:rPr>
              <a:t>(1,accnt_number); </a:t>
            </a:r>
            <a:endParaRPr lang="ru-RU" sz="2500" b="1" dirty="0">
              <a:latin typeface="Times New Roman" panose="02020603050405020304" pitchFamily="18" charset="0"/>
              <a:cs typeface="Times New Roman" panose="02020603050405020304" pitchFamily="18" charset="0"/>
            </a:endParaRPr>
          </a:p>
          <a:p>
            <a:pPr marL="0" indent="0" algn="just">
              <a:spcBef>
                <a:spcPts val="0"/>
              </a:spcBef>
              <a:buNone/>
            </a:pPr>
            <a:r>
              <a:rPr lang="en-US" sz="2500" b="1" dirty="0" err="1">
                <a:latin typeface="Times New Roman" panose="02020603050405020304" pitchFamily="18" charset="0"/>
                <a:cs typeface="Times New Roman" panose="02020603050405020304" pitchFamily="18" charset="0"/>
              </a:rPr>
              <a:t>pstmt.execute</a:t>
            </a:r>
            <a:r>
              <a:rPr lang="en-US" sz="2500" b="1" dirty="0">
                <a:latin typeface="Times New Roman" panose="02020603050405020304" pitchFamily="18" charset="0"/>
                <a:cs typeface="Times New Roman" panose="02020603050405020304" pitchFamily="18" charset="0"/>
              </a:rPr>
              <a:t>(); </a:t>
            </a:r>
            <a:endParaRPr lang="ru-RU" sz="2500" b="1" dirty="0">
              <a:latin typeface="Times New Roman" panose="02020603050405020304" pitchFamily="18" charset="0"/>
              <a:cs typeface="Times New Roman" panose="02020603050405020304" pitchFamily="18" charset="0"/>
            </a:endParaRPr>
          </a:p>
          <a:p>
            <a:pPr marL="0" indent="0" algn="just">
              <a:spcBef>
                <a:spcPts val="0"/>
              </a:spcBef>
              <a:buNone/>
            </a:pPr>
            <a:r>
              <a:rPr lang="en-US" sz="2500" dirty="0">
                <a:latin typeface="Times New Roman" panose="02020603050405020304" pitchFamily="18" charset="0"/>
                <a:cs typeface="Times New Roman" panose="02020603050405020304" pitchFamily="18" charset="0"/>
              </a:rPr>
              <a:t>2. </a:t>
            </a:r>
            <a:r>
              <a:rPr lang="ru-RU" sz="2500" dirty="0">
                <a:latin typeface="Times New Roman" panose="02020603050405020304" pitchFamily="18" charset="0"/>
                <a:cs typeface="Times New Roman" panose="02020603050405020304" pitchFamily="18" charset="0"/>
              </a:rPr>
              <a:t>Производить проверку типа вводимых данных и ограничивать число вводимых символов. </a:t>
            </a:r>
          </a:p>
          <a:p>
            <a:pPr marL="0" indent="0" algn="just">
              <a:spcBef>
                <a:spcPts val="0"/>
              </a:spcBef>
              <a:buNone/>
            </a:pPr>
            <a:r>
              <a:rPr lang="ru-RU" sz="2500" dirty="0">
                <a:latin typeface="Times New Roman" panose="02020603050405020304" pitchFamily="18" charset="0"/>
                <a:cs typeface="Times New Roman" panose="02020603050405020304" pitchFamily="18" charset="0"/>
              </a:rPr>
              <a:t>3. Использовать сохраненные процедуры и функции.</a:t>
            </a:r>
          </a:p>
          <a:p>
            <a:pPr marL="0" indent="0" algn="just">
              <a:spcBef>
                <a:spcPts val="0"/>
              </a:spcBef>
              <a:buNone/>
            </a:pPr>
            <a:r>
              <a:rPr lang="ru-RU" sz="2500" dirty="0">
                <a:latin typeface="Times New Roman" panose="02020603050405020304" pitchFamily="18" charset="0"/>
                <a:cs typeface="Times New Roman" panose="02020603050405020304" pitchFamily="18" charset="0"/>
              </a:rPr>
              <a:t>4. Применять функции, автоматически устраняющие потенциально опасные символы или последовательности символов, содержащие терминаторы инструкций, комментарии, одиночные кавычки и символы </a:t>
            </a:r>
            <a:r>
              <a:rPr lang="ru-RU" sz="2500" dirty="0" err="1">
                <a:latin typeface="Times New Roman" panose="02020603050405020304" pitchFamily="18" charset="0"/>
                <a:cs typeface="Times New Roman" panose="02020603050405020304" pitchFamily="18" charset="0"/>
              </a:rPr>
              <a:t>хр</a:t>
            </a:r>
            <a:r>
              <a:rPr lang="ru-RU" sz="2500" dirty="0">
                <a:latin typeface="Times New Roman" panose="02020603050405020304" pitchFamily="18" charset="0"/>
                <a:cs typeface="Times New Roman" panose="02020603050405020304" pitchFamily="18" charset="0"/>
              </a:rPr>
              <a:t>_ (для SQL Server) из вводимых данных. </a:t>
            </a:r>
          </a:p>
          <a:p>
            <a:pPr marL="0" lvl="0" indent="0" algn="just">
              <a:lnSpc>
                <a:spcPct val="115000"/>
              </a:lnSpc>
              <a:buSzPts val="1000"/>
              <a:buNone/>
              <a:tabLst>
                <a:tab pos="418465" algn="l"/>
                <a:tab pos="453390" algn="l"/>
              </a:tabLst>
            </a:pPr>
            <a:endParaRPr lang="ru-RU" sz="2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29264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type="body" idx="1"/>
          </p:nvPr>
        </p:nvSpPr>
        <p:spPr>
          <a:xfrm>
            <a:off x="0" y="188913"/>
            <a:ext cx="9036496" cy="6480175"/>
          </a:xfrm>
        </p:spPr>
        <p:txBody>
          <a:bodyPr/>
          <a:lstStyle/>
          <a:p>
            <a:pPr marL="114300" indent="0" algn="just">
              <a:buNone/>
            </a:pPr>
            <a:r>
              <a:rPr lang="ru-RU" sz="2500" dirty="0">
                <a:latin typeface="Times New Roman" panose="02020603050405020304" pitchFamily="18" charset="0"/>
                <a:cs typeface="Times New Roman" panose="02020603050405020304" pitchFamily="18" charset="0"/>
              </a:rPr>
              <a:t>Например: функция блокировки </a:t>
            </a:r>
            <a:r>
              <a:rPr lang="ru-RU" sz="2500" b="1" dirty="0" err="1">
                <a:solidFill>
                  <a:srgbClr val="FF0000"/>
                </a:solidFill>
                <a:latin typeface="Times New Roman" panose="02020603050405020304" pitchFamily="18" charset="0"/>
                <a:cs typeface="Times New Roman" panose="02020603050405020304" pitchFamily="18" charset="0"/>
              </a:rPr>
              <a:t>mysql_real_escape_string</a:t>
            </a:r>
            <a:r>
              <a:rPr lang="ru-RU" sz="2500" b="1" dirty="0">
                <a:solidFill>
                  <a:srgbClr val="FF0000"/>
                </a:solidFill>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в MySQL блокирует ввод одиночных кавычек, терминаторов инструкций и прочее. </a:t>
            </a:r>
          </a:p>
          <a:p>
            <a:pPr marL="114300" indent="0" algn="just">
              <a:buNone/>
            </a:pPr>
            <a:endParaRPr lang="ru-RU" sz="2500" dirty="0">
              <a:latin typeface="Times New Roman" panose="02020603050405020304" pitchFamily="18" charset="0"/>
              <a:cs typeface="Times New Roman" panose="02020603050405020304" pitchFamily="18" charset="0"/>
            </a:endParaRPr>
          </a:p>
          <a:p>
            <a:pPr marL="114300" indent="0" algn="just">
              <a:buNone/>
            </a:pPr>
            <a:r>
              <a:rPr lang="ru-RU" sz="2500" dirty="0">
                <a:latin typeface="Times New Roman" panose="02020603050405020304" pitchFamily="18" charset="0"/>
                <a:cs typeface="Times New Roman" panose="02020603050405020304" pitchFamily="18" charset="0"/>
              </a:rPr>
              <a:t>5. Тщательно определять права доступа, чтобы инструкции не имели разрешений на запуск DDL инструкций. </a:t>
            </a:r>
          </a:p>
          <a:p>
            <a:pPr marL="114300" indent="0" algn="just">
              <a:buNone/>
            </a:pPr>
            <a:r>
              <a:rPr lang="ru-RU" sz="2500" dirty="0">
                <a:latin typeface="Times New Roman" panose="02020603050405020304" pitchFamily="18" charset="0"/>
                <a:cs typeface="Times New Roman" panose="02020603050405020304" pitchFamily="18" charset="0"/>
              </a:rPr>
              <a:t>6. Отключать выдачу необработанных ошибок.</a:t>
            </a:r>
          </a:p>
          <a:p>
            <a:pPr marL="88900" marR="43180" indent="259080" algn="just">
              <a:lnSpc>
                <a:spcPct val="115000"/>
              </a:lnSpc>
              <a:spcBef>
                <a:spcPts val="90"/>
              </a:spcBef>
              <a:spcAft>
                <a:spcPts val="0"/>
              </a:spcAft>
            </a:pPr>
            <a:endParaRPr lang="ru-RU"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5646212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11090</TotalTime>
  <Words>1936</Words>
  <Application>Microsoft Office PowerPoint</Application>
  <PresentationFormat>Экран (4:3)</PresentationFormat>
  <Paragraphs>120</Paragraphs>
  <Slides>28</Slides>
  <Notes>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28</vt:i4>
      </vt:variant>
    </vt:vector>
  </HeadingPairs>
  <TitlesOfParts>
    <vt:vector size="34" baseType="lpstr">
      <vt:lpstr>Arial</vt:lpstr>
      <vt:lpstr>Calibri</vt:lpstr>
      <vt:lpstr>Courier New</vt:lpstr>
      <vt:lpstr>Times New Roman</vt:lpstr>
      <vt:lpstr>Wingdings</vt:lpstr>
      <vt:lpstr>Тема Office</vt:lpstr>
      <vt:lpstr>Лекция 3  Атаки на базы данных</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Основные понятия и определения в области информационной безопасности</dc:title>
  <dc:creator>Марина</dc:creator>
  <cp:lastModifiedBy>Алексей</cp:lastModifiedBy>
  <cp:revision>289</cp:revision>
  <dcterms:created xsi:type="dcterms:W3CDTF">2013-02-04T18:05:09Z</dcterms:created>
  <dcterms:modified xsi:type="dcterms:W3CDTF">2025-09-14T14:41:57Z</dcterms:modified>
</cp:coreProperties>
</file>