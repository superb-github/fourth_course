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95" r:id="rId3"/>
    <p:sldId id="296" r:id="rId4"/>
    <p:sldId id="297" r:id="rId5"/>
    <p:sldId id="327" r:id="rId6"/>
    <p:sldId id="298" r:id="rId7"/>
    <p:sldId id="299" r:id="rId8"/>
    <p:sldId id="326" r:id="rId9"/>
    <p:sldId id="328" r:id="rId10"/>
    <p:sldId id="329" r:id="rId11"/>
    <p:sldId id="330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76" autoAdjust="0"/>
  </p:normalViewPr>
  <p:slideViewPr>
    <p:cSldViewPr>
      <p:cViewPr varScale="1">
        <p:scale>
          <a:sx n="85" d="100"/>
          <a:sy n="85" d="100"/>
        </p:scale>
        <p:origin x="108" y="4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FD9973-B9FD-4150-BF54-205C30D1846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6F158-8006-4287-9296-E0A422C9CE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664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6F158-8006-4287-9296-E0A422C9CEB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383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6F158-8006-4287-9296-E0A422C9CEB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383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6F158-8006-4287-9296-E0A422C9CEB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383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6F158-8006-4287-9296-E0A422C9CEB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383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6F158-8006-4287-9296-E0A422C9CEB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383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6F158-8006-4287-9296-E0A422C9CEB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383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6F158-8006-4287-9296-E0A422C9CEB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383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6F158-8006-4287-9296-E0A422C9CEB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383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6F158-8006-4287-9296-E0A422C9CEB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3308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6F158-8006-4287-9296-E0A422C9CEB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842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6F158-8006-4287-9296-E0A422C9CEB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082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D529E-0F0E-4E89-BC22-5E1CAED33076}" type="datetime1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9737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4C94A-EF32-4C96-8D6A-8250FC54D7CB}" type="datetime1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5058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BBEA-E1CE-481D-8D4C-3104D781EC7C}" type="datetime1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766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613D-2D25-4A89-BC0C-0C26DC050906}" type="datetime1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69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F3C8-E29B-48E2-90C6-2A0F80D327CC}" type="datetime1">
              <a:rPr lang="ru-RU" smtClean="0"/>
              <a:t>12.12.2025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11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5BE2-74DB-4DB3-B2F6-8F016E602A1C}" type="datetime1">
              <a:rPr lang="ru-RU" smtClean="0"/>
              <a:t>12.12.2025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224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F99E-DEE9-437D-8DDA-DCC612E9DAF2}" type="datetime1">
              <a:rPr lang="ru-RU" smtClean="0"/>
              <a:t>12.12.2025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660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D1AB5-34AA-4A37-8322-0AE0548AEB31}" type="datetime1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85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BF9C7-9DEB-4C7A-96DB-C3848D3E08DF}" type="datetime1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38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DA97-4B3C-4470-9078-809B7D8A6B89}" type="datetime1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786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C59F-960F-414E-8226-AD6C00CE71FE}" type="datetime1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99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D5C39-5CC4-4376-B830-7CF3AF7FFE6F}" type="datetime1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BD6AA-8DA5-41B7-AFC2-1730AB14F3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27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72766" y="1404065"/>
            <a:ext cx="83529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Режимы блочных шифров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61391" y="116632"/>
            <a:ext cx="758952" cy="246888"/>
          </a:xfrm>
        </p:spPr>
        <p:txBody>
          <a:bodyPr/>
          <a:lstStyle/>
          <a:p>
            <a:fld id="{830BD6AA-8DA5-41B7-AFC2-1730AB14F3A6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57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61391" y="116632"/>
            <a:ext cx="758952" cy="246888"/>
          </a:xfrm>
        </p:spPr>
        <p:txBody>
          <a:bodyPr/>
          <a:lstStyle/>
          <a:p>
            <a:fld id="{830BD6AA-8DA5-41B7-AFC2-1730AB14F3A6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43808" y="260648"/>
            <a:ext cx="3929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Режимы </a:t>
            </a:r>
            <a:r>
              <a:rPr lang="ru-RU" sz="2000" b="1" dirty="0" smtClean="0"/>
              <a:t>работы блочных шифров</a:t>
            </a:r>
            <a:endParaRPr lang="ru-RU" sz="2000" b="1" dirty="0"/>
          </a:p>
        </p:txBody>
      </p:sp>
      <p:sp>
        <p:nvSpPr>
          <p:cNvPr id="6" name="Прямоугольник с одним скругленным углом 5"/>
          <p:cNvSpPr/>
          <p:nvPr/>
        </p:nvSpPr>
        <p:spPr>
          <a:xfrm>
            <a:off x="4767436" y="980728"/>
            <a:ext cx="3362672" cy="2016224"/>
          </a:xfrm>
          <a:prstGeom prst="round1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с одним скругленным углом 6"/>
          <p:cNvSpPr/>
          <p:nvPr/>
        </p:nvSpPr>
        <p:spPr>
          <a:xfrm rot="10800000">
            <a:off x="1353344" y="3055640"/>
            <a:ext cx="3362672" cy="2016224"/>
          </a:xfrm>
          <a:prstGeom prst="round1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с одним скругленным углом 7"/>
          <p:cNvSpPr/>
          <p:nvPr/>
        </p:nvSpPr>
        <p:spPr>
          <a:xfrm rot="5400000">
            <a:off x="5444480" y="2386236"/>
            <a:ext cx="2008584" cy="3362672"/>
          </a:xfrm>
          <a:prstGeom prst="round1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с одним скругленным углом 8"/>
          <p:cNvSpPr/>
          <p:nvPr/>
        </p:nvSpPr>
        <p:spPr>
          <a:xfrm rot="16200000">
            <a:off x="2009799" y="311324"/>
            <a:ext cx="2008584" cy="3362672"/>
          </a:xfrm>
          <a:prstGeom prst="round1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615306" y="2348880"/>
            <a:ext cx="2324845" cy="144016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Режим </a:t>
            </a:r>
            <a:r>
              <a:rPr lang="ru-RU" b="1" dirty="0">
                <a:solidFill>
                  <a:schemeClr val="tx1"/>
                </a:solidFill>
              </a:rPr>
              <a:t>счетчика </a:t>
            </a:r>
            <a:r>
              <a:rPr lang="ru-RU" dirty="0" smtClean="0">
                <a:solidFill>
                  <a:schemeClr val="tx1"/>
                </a:solidFill>
              </a:rPr>
              <a:t>(англ</a:t>
            </a:r>
            <a:r>
              <a:rPr lang="ru-RU" dirty="0">
                <a:solidFill>
                  <a:schemeClr val="tx1"/>
                </a:solidFill>
              </a:rPr>
              <a:t>. </a:t>
            </a:r>
            <a:r>
              <a:rPr lang="ru-RU" dirty="0" smtClean="0">
                <a:solidFill>
                  <a:schemeClr val="tx1"/>
                </a:solidFill>
              </a:rPr>
              <a:t>«</a:t>
            </a:r>
            <a:r>
              <a:rPr lang="en-US" dirty="0">
                <a:solidFill>
                  <a:schemeClr val="tx1"/>
                </a:solidFill>
              </a:rPr>
              <a:t>Counter</a:t>
            </a:r>
            <a:r>
              <a:rPr lang="ru-RU" dirty="0">
                <a:solidFill>
                  <a:schemeClr val="tx1"/>
                </a:solidFill>
              </a:rPr>
              <a:t>» — </a:t>
            </a:r>
            <a:r>
              <a:rPr lang="ru-RU" dirty="0" smtClean="0"/>
              <a:t>)</a:t>
            </a:r>
            <a:endParaRPr lang="ru-RU" dirty="0"/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CTR</a:t>
            </a:r>
            <a:r>
              <a:rPr lang="ru-RU" dirty="0" smtClean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589866" y="1342287"/>
            <a:ext cx="27661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электронная кодовая книга </a:t>
            </a:r>
            <a:endParaRPr lang="ru-RU" b="1" dirty="0" smtClean="0"/>
          </a:p>
          <a:p>
            <a:pPr algn="ctr"/>
            <a:r>
              <a:rPr lang="ru-RU" dirty="0" smtClean="0"/>
              <a:t>(</a:t>
            </a:r>
            <a:r>
              <a:rPr lang="ru-RU" dirty="0"/>
              <a:t>англ. «</a:t>
            </a:r>
            <a:r>
              <a:rPr lang="en-US" dirty="0"/>
              <a:t>Electronic Code Book</a:t>
            </a:r>
            <a:r>
              <a:rPr lang="ru-RU" dirty="0"/>
              <a:t>» — </a:t>
            </a:r>
            <a:r>
              <a:rPr lang="en-US" dirty="0"/>
              <a:t>ECB</a:t>
            </a:r>
            <a:r>
              <a:rPr lang="ru-RU" dirty="0"/>
              <a:t>)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4860032" y="1425550"/>
            <a:ext cx="31260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сцепление блоков шифра </a:t>
            </a:r>
            <a:r>
              <a:rPr lang="ru-RU" dirty="0"/>
              <a:t>(англ. «</a:t>
            </a:r>
            <a:r>
              <a:rPr lang="en-US" dirty="0"/>
              <a:t>Cipher Block Chaining</a:t>
            </a:r>
            <a:r>
              <a:rPr lang="ru-RU" dirty="0"/>
              <a:t>» — </a:t>
            </a:r>
            <a:r>
              <a:rPr lang="en-US" dirty="0"/>
              <a:t>CBC</a:t>
            </a:r>
            <a:r>
              <a:rPr lang="ru-RU" dirty="0"/>
              <a:t>)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1589866" y="3740586"/>
            <a:ext cx="29134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обратная связь по </a:t>
            </a:r>
            <a:r>
              <a:rPr lang="ru-RU" b="1" dirty="0" err="1"/>
              <a:t>шифртексту</a:t>
            </a:r>
            <a:r>
              <a:rPr lang="ru-RU" b="1" dirty="0"/>
              <a:t> </a:t>
            </a:r>
            <a:endParaRPr lang="ru-RU" b="1" dirty="0" smtClean="0"/>
          </a:p>
          <a:p>
            <a:pPr algn="ctr"/>
            <a:r>
              <a:rPr lang="ru-RU" dirty="0" smtClean="0"/>
              <a:t>(</a:t>
            </a:r>
            <a:r>
              <a:rPr lang="ru-RU" dirty="0"/>
              <a:t>англ. </a:t>
            </a:r>
            <a:r>
              <a:rPr lang="en-US" dirty="0"/>
              <a:t>«Cipher </a:t>
            </a:r>
            <a:r>
              <a:rPr lang="en-US" dirty="0" err="1"/>
              <a:t>FeedBack</a:t>
            </a:r>
            <a:r>
              <a:rPr lang="en-US" dirty="0"/>
              <a:t>» </a:t>
            </a:r>
            <a:r>
              <a:rPr lang="ru-RU" dirty="0"/>
              <a:t>— </a:t>
            </a:r>
            <a:r>
              <a:rPr lang="en-US" dirty="0"/>
              <a:t>CFB)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867785" y="3789040"/>
            <a:ext cx="31183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обратная связь по выходу </a:t>
            </a:r>
            <a:r>
              <a:rPr lang="ru-RU" dirty="0"/>
              <a:t>(англ. </a:t>
            </a:r>
            <a:r>
              <a:rPr lang="en-US" dirty="0"/>
              <a:t>«Output </a:t>
            </a:r>
            <a:r>
              <a:rPr lang="en-US" dirty="0" err="1"/>
              <a:t>FeedBack</a:t>
            </a:r>
            <a:r>
              <a:rPr lang="en-US" dirty="0"/>
              <a:t>» </a:t>
            </a:r>
            <a:r>
              <a:rPr lang="ru-RU" dirty="0"/>
              <a:t>— </a:t>
            </a:r>
            <a:r>
              <a:rPr lang="en-US" dirty="0"/>
              <a:t>OFB)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006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61391" y="116632"/>
            <a:ext cx="758952" cy="246888"/>
          </a:xfrm>
        </p:spPr>
        <p:txBody>
          <a:bodyPr/>
          <a:lstStyle/>
          <a:p>
            <a:fld id="{830BD6AA-8DA5-41B7-AFC2-1730AB14F3A6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51520" y="260648"/>
            <a:ext cx="871296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b="1" i="1" dirty="0" smtClean="0"/>
              <a:t>Р</a:t>
            </a:r>
            <a:r>
              <a:rPr lang="en-US" b="1" i="1" dirty="0" err="1" smtClean="0"/>
              <a:t>ежим</a:t>
            </a:r>
            <a:r>
              <a:rPr lang="en-US" b="1" i="1" dirty="0" smtClean="0"/>
              <a:t> </a:t>
            </a:r>
            <a:r>
              <a:rPr lang="ru-RU" b="1" dirty="0" smtClean="0"/>
              <a:t>электронной кодовой книги </a:t>
            </a:r>
            <a:r>
              <a:rPr lang="en-US" b="1" i="1" dirty="0"/>
              <a:t>ECB</a:t>
            </a:r>
            <a:r>
              <a:rPr lang="en-US" dirty="0"/>
              <a:t> </a:t>
            </a:r>
            <a:endParaRPr lang="ru-RU" dirty="0" smtClean="0"/>
          </a:p>
          <a:p>
            <a:pPr indent="536575" algn="just">
              <a:spcAft>
                <a:spcPts val="1200"/>
              </a:spcAft>
            </a:pPr>
            <a:r>
              <a:rPr lang="ru-RU" dirty="0" smtClean="0"/>
              <a:t>Защищаемое </a:t>
            </a:r>
            <a:r>
              <a:rPr lang="ru-RU" dirty="0"/>
              <a:t>сообщение разбивают на 64-битные блоки </a:t>
            </a:r>
            <a:r>
              <a:rPr lang="en-US" i="1" dirty="0"/>
              <a:t>M</a:t>
            </a:r>
            <a:r>
              <a:rPr lang="en-US" i="1" baseline="-25000" dirty="0"/>
              <a:t>i</a:t>
            </a:r>
            <a:r>
              <a:rPr lang="en-US" i="1" dirty="0"/>
              <a:t>.</a:t>
            </a:r>
            <a:r>
              <a:rPr lang="en-US" dirty="0"/>
              <a:t> </a:t>
            </a:r>
            <a:r>
              <a:rPr lang="ru-RU" dirty="0"/>
              <a:t>Каждый такой блок шифруют </a:t>
            </a:r>
            <a:r>
              <a:rPr lang="ru-RU" i="1" u="sng" dirty="0"/>
              <a:t>независимо</a:t>
            </a:r>
            <a:r>
              <a:rPr lang="ru-RU" dirty="0"/>
              <a:t> от других, с использованием одного и того же ключа </a:t>
            </a:r>
            <a:r>
              <a:rPr lang="ru-RU" dirty="0" smtClean="0"/>
              <a:t>шифрования. </a:t>
            </a:r>
          </a:p>
          <a:p>
            <a:pPr indent="536575" algn="just">
              <a:spcAft>
                <a:spcPts val="1200"/>
              </a:spcAft>
            </a:pPr>
            <a:r>
              <a:rPr lang="ru-RU" dirty="0" smtClean="0"/>
              <a:t>При </a:t>
            </a:r>
            <a:r>
              <a:rPr lang="ru-RU" dirty="0"/>
              <a:t>расшифровывании </a:t>
            </a:r>
            <a:r>
              <a:rPr lang="ru-RU" b="1" u="sng" dirty="0"/>
              <a:t>криптограммы </a:t>
            </a:r>
            <a:r>
              <a:rPr lang="en-US" b="1" i="1" u="sng" dirty="0" err="1"/>
              <a:t>C</a:t>
            </a:r>
            <a:r>
              <a:rPr lang="en-US" b="1" i="1" u="sng" baseline="-25000" dirty="0" err="1"/>
              <a:t>i</a:t>
            </a:r>
            <a:r>
              <a:rPr lang="en-US" b="1" u="sng" dirty="0"/>
              <a:t> </a:t>
            </a:r>
            <a:r>
              <a:rPr lang="ru-RU" dirty="0"/>
              <a:t>также преобразуют 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независимо</a:t>
            </a:r>
            <a:r>
              <a:rPr lang="ru-RU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4820959"/>
            <a:ext cx="8712968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>
              <a:spcAft>
                <a:spcPts val="1200"/>
              </a:spcAft>
            </a:pPr>
            <a:r>
              <a:rPr lang="ru-RU" b="1" dirty="0"/>
              <a:t>Достоинством</a:t>
            </a:r>
            <a:r>
              <a:rPr lang="ru-RU" dirty="0"/>
              <a:t> данного режима является </a:t>
            </a:r>
            <a:r>
              <a:rPr lang="ru-RU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простота его реализации</a:t>
            </a:r>
            <a:r>
              <a:rPr lang="ru-RU" dirty="0"/>
              <a:t>. </a:t>
            </a:r>
            <a:endParaRPr lang="ru-RU" dirty="0" smtClean="0"/>
          </a:p>
          <a:p>
            <a:pPr indent="536575" algn="just">
              <a:spcAft>
                <a:spcPts val="1200"/>
              </a:spcAft>
            </a:pPr>
            <a:r>
              <a:rPr lang="ru-RU" b="1" dirty="0" smtClean="0"/>
              <a:t>Главный </a:t>
            </a:r>
            <a:r>
              <a:rPr lang="ru-RU" b="1" dirty="0"/>
              <a:t>недостаток</a:t>
            </a:r>
            <a:r>
              <a:rPr lang="ru-RU" dirty="0"/>
              <a:t> режима </a:t>
            </a:r>
            <a:r>
              <a:rPr lang="en-US" dirty="0"/>
              <a:t>ECB </a:t>
            </a:r>
            <a:r>
              <a:rPr lang="ru-RU" dirty="0"/>
              <a:t>заключается в том, что </a:t>
            </a:r>
            <a:r>
              <a:rPr lang="ru-RU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если в исходном сообщении есть повторяющиеся блоки, то и значения соответствующих блоков криптограммы будет совпадать</a:t>
            </a:r>
            <a:r>
              <a:rPr lang="ru-RU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pic>
        <p:nvPicPr>
          <p:cNvPr id="12" name="Рисунок 11" descr="image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375881"/>
            <a:ext cx="5256584" cy="24482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091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61391" y="116632"/>
            <a:ext cx="758952" cy="246888"/>
          </a:xfrm>
        </p:spPr>
        <p:txBody>
          <a:bodyPr/>
          <a:lstStyle/>
          <a:p>
            <a:fld id="{830BD6AA-8DA5-41B7-AFC2-1730AB14F3A6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63688" y="44624"/>
            <a:ext cx="51633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Р</a:t>
            </a:r>
            <a:r>
              <a:rPr lang="en-US" sz="2400" b="1" dirty="0" err="1"/>
              <a:t>ежим</a:t>
            </a:r>
            <a:r>
              <a:rPr lang="en-US" sz="2400" b="1" dirty="0"/>
              <a:t> </a:t>
            </a:r>
            <a:r>
              <a:rPr lang="ru-RU" sz="2400" b="1" dirty="0"/>
              <a:t>сцепление блоков шифра</a:t>
            </a:r>
            <a:r>
              <a:rPr lang="ru-RU" b="1" dirty="0"/>
              <a:t> </a:t>
            </a:r>
            <a:r>
              <a:rPr lang="en-US" sz="2400" b="1" dirty="0"/>
              <a:t>CBC</a:t>
            </a:r>
            <a:endParaRPr lang="ru-RU" sz="24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7179" y="506289"/>
            <a:ext cx="8336262" cy="183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>
              <a:spcAft>
                <a:spcPts val="600"/>
              </a:spcAft>
            </a:pPr>
            <a:r>
              <a:rPr lang="ru-RU" dirty="0"/>
              <a:t>Исходное сообщение, как и в предыдущем случае, </a:t>
            </a:r>
            <a:r>
              <a:rPr lang="ru-RU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разбивается</a:t>
            </a:r>
            <a:r>
              <a:rPr lang="ru-RU" dirty="0"/>
              <a:t> на блоки </a:t>
            </a:r>
            <a:r>
              <a:rPr lang="en-US" i="1" dirty="0" err="1" smtClean="0"/>
              <a:t>M</a:t>
            </a:r>
            <a:r>
              <a:rPr lang="en-US" i="1" baseline="-25000" dirty="0" err="1" smtClean="0"/>
              <a:t>i</a:t>
            </a:r>
            <a:r>
              <a:rPr lang="en-US" dirty="0" smtClean="0"/>
              <a:t> </a:t>
            </a:r>
            <a:r>
              <a:rPr lang="ru-RU" dirty="0"/>
              <a:t>по </a:t>
            </a:r>
            <a:r>
              <a:rPr lang="ru-RU" b="1" dirty="0"/>
              <a:t>64 бита</a:t>
            </a:r>
            <a:r>
              <a:rPr lang="ru-RU" dirty="0"/>
              <a:t>. </a:t>
            </a:r>
            <a:endParaRPr lang="ru-RU" dirty="0" smtClean="0"/>
          </a:p>
          <a:p>
            <a:pPr indent="536575" algn="just">
              <a:spcAft>
                <a:spcPts val="600"/>
              </a:spcAft>
            </a:pPr>
            <a:r>
              <a:rPr lang="ru-RU" dirty="0" smtClean="0"/>
              <a:t>Первый </a:t>
            </a:r>
            <a:r>
              <a:rPr lang="ru-RU" dirty="0"/>
              <a:t>блок </a:t>
            </a:r>
            <a:r>
              <a:rPr lang="en-US" i="1" dirty="0" smtClean="0"/>
              <a:t>М</a:t>
            </a:r>
            <a:r>
              <a:rPr lang="ru-RU" i="1" baseline="-25000" dirty="0"/>
              <a:t>1</a:t>
            </a:r>
            <a:r>
              <a:rPr lang="en-US" i="1" baseline="-25000" dirty="0" smtClean="0"/>
              <a:t> </a:t>
            </a:r>
            <a:r>
              <a:rPr lang="ru-RU" dirty="0" smtClean="0"/>
              <a:t>складывается </a:t>
            </a:r>
            <a:r>
              <a:rPr lang="ru-RU" dirty="0"/>
              <a:t>побитно по </a:t>
            </a:r>
            <a:r>
              <a:rPr lang="en-US" dirty="0" smtClean="0"/>
              <a:t>mod2</a:t>
            </a:r>
            <a:r>
              <a:rPr lang="ru-RU" dirty="0" smtClean="0"/>
              <a:t> </a:t>
            </a:r>
            <a:r>
              <a:rPr lang="ru-RU" dirty="0"/>
              <a:t>с 64-битным блоком, называемым </a:t>
            </a:r>
            <a:r>
              <a:rPr lang="ru-RU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инициализирующим вектором </a:t>
            </a:r>
            <a:r>
              <a:rPr lang="en-US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 </a:t>
            </a:r>
            <a:r>
              <a:rPr lang="en-US" i="1" dirty="0" smtClean="0"/>
              <a:t>,</a:t>
            </a:r>
            <a:r>
              <a:rPr lang="ru-RU" dirty="0" smtClean="0"/>
              <a:t> </a:t>
            </a:r>
            <a:r>
              <a:rPr lang="ru-RU" dirty="0"/>
              <a:t>который известен обеим сторонам взаимодействия, периодически ими меняется и </a:t>
            </a:r>
            <a:r>
              <a:rPr lang="ru-RU" b="1" dirty="0"/>
              <a:t>держится в секрете от других</a:t>
            </a:r>
            <a:r>
              <a:rPr lang="ru-RU" dirty="0"/>
              <a:t>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4550" y="2350136"/>
            <a:ext cx="88215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>
              <a:spcAft>
                <a:spcPts val="1200"/>
              </a:spcAft>
            </a:pPr>
            <a:r>
              <a:rPr lang="ru-RU" dirty="0"/>
              <a:t>Блок исходного сообщения </a:t>
            </a:r>
            <a:r>
              <a:rPr lang="en-US" i="1" dirty="0" smtClean="0"/>
              <a:t>M</a:t>
            </a:r>
            <a:r>
              <a:rPr lang="en-US" i="1" baseline="-25000" dirty="0" smtClean="0"/>
              <a:t>2</a:t>
            </a:r>
            <a:r>
              <a:rPr lang="ru-RU" dirty="0" smtClean="0"/>
              <a:t> </a:t>
            </a:r>
            <a:r>
              <a:rPr lang="ru-RU" dirty="0"/>
              <a:t>модифицируется с использованием блока криптограммы </a:t>
            </a:r>
            <a:r>
              <a:rPr lang="en-US" i="1" dirty="0"/>
              <a:t>C</a:t>
            </a:r>
            <a:r>
              <a:rPr lang="en-US" dirty="0"/>
              <a:t>1 </a:t>
            </a:r>
            <a:r>
              <a:rPr lang="ru-RU" dirty="0"/>
              <a:t>и т. д. Аналогичные действия производятся при расшифровывании.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02028" y="3140968"/>
            <a:ext cx="882151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>
              <a:spcAft>
                <a:spcPts val="1200"/>
              </a:spcAft>
            </a:pPr>
            <a:r>
              <a:rPr lang="ru-RU" b="1" dirty="0"/>
              <a:t>Режим</a:t>
            </a:r>
            <a:r>
              <a:rPr lang="ru-RU" dirty="0"/>
              <a:t> </a:t>
            </a:r>
            <a:r>
              <a:rPr lang="en-US" b="1" dirty="0"/>
              <a:t>CBC</a:t>
            </a:r>
            <a:r>
              <a:rPr lang="en-US" dirty="0"/>
              <a:t> </a:t>
            </a:r>
            <a:r>
              <a:rPr lang="ru-RU" dirty="0"/>
              <a:t>используется для шифрования </a:t>
            </a:r>
            <a:r>
              <a:rPr lang="ru-RU" b="1" dirty="0"/>
              <a:t>больших сообщений</a:t>
            </a:r>
            <a:r>
              <a:rPr lang="ru-RU" dirty="0"/>
              <a:t>. </a:t>
            </a:r>
            <a:endParaRPr lang="en-US" dirty="0" smtClean="0"/>
          </a:p>
          <a:p>
            <a:pPr indent="536575" algn="just">
              <a:spcAft>
                <a:spcPts val="1200"/>
              </a:spcAft>
            </a:pPr>
            <a:r>
              <a:rPr lang="ru-RU" dirty="0" smtClean="0"/>
              <a:t>Алгоритм шифрования</a:t>
            </a:r>
            <a:endParaRPr lang="en-US" dirty="0" smtClean="0"/>
          </a:p>
          <a:p>
            <a:pPr indent="536575" algn="just">
              <a:spcAft>
                <a:spcPts val="1200"/>
              </a:spcAft>
            </a:pPr>
            <a:r>
              <a:rPr lang="ru-RU" dirty="0"/>
              <a:t>П</a:t>
            </a:r>
            <a:r>
              <a:rPr lang="ru-RU" dirty="0" smtClean="0"/>
              <a:t>оследний </a:t>
            </a:r>
            <a:r>
              <a:rPr lang="ru-RU" dirty="0"/>
              <a:t>блок криптограммы зависит от инициализирующего вектора, каждого бита открытого текста и значения секретного ключа. Поэтому его можно использовать для контроля </a:t>
            </a:r>
            <a:r>
              <a:rPr lang="ru-RU" b="1" i="1" u="sng" dirty="0"/>
              <a:t>целостности и аутентификации сообщений</a:t>
            </a:r>
            <a:r>
              <a:rPr lang="ru-RU" dirty="0"/>
              <a:t>, задавая ему фиксированное значение и проверяя его после расшифровки.</a:t>
            </a:r>
          </a:p>
        </p:txBody>
      </p:sp>
    </p:spTree>
    <p:extLst>
      <p:ext uri="{BB962C8B-B14F-4D97-AF65-F5344CB8AC3E}">
        <p14:creationId xmlns:p14="http://schemas.microsoft.com/office/powerpoint/2010/main" val="224917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61391" y="116632"/>
            <a:ext cx="758952" cy="246888"/>
          </a:xfrm>
        </p:spPr>
        <p:txBody>
          <a:bodyPr/>
          <a:lstStyle/>
          <a:p>
            <a:fld id="{830BD6AA-8DA5-41B7-AFC2-1730AB14F3A6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63688" y="44624"/>
            <a:ext cx="51633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Р</a:t>
            </a:r>
            <a:r>
              <a:rPr lang="en-US" sz="2400" b="1" dirty="0" err="1"/>
              <a:t>ежим</a:t>
            </a:r>
            <a:r>
              <a:rPr lang="en-US" sz="2400" b="1" dirty="0"/>
              <a:t> </a:t>
            </a:r>
            <a:r>
              <a:rPr lang="ru-RU" sz="2400" b="1" dirty="0"/>
              <a:t>сцепление блоков шифра</a:t>
            </a:r>
            <a:r>
              <a:rPr lang="ru-RU" b="1" dirty="0"/>
              <a:t> </a:t>
            </a:r>
            <a:r>
              <a:rPr lang="en-US" sz="2400" b="1" dirty="0"/>
              <a:t>CBC</a:t>
            </a:r>
            <a:endParaRPr lang="ru-RU" sz="2400" b="1" dirty="0"/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403648" y="1412776"/>
            <a:ext cx="6048672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5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61391" y="116632"/>
            <a:ext cx="758952" cy="246888"/>
          </a:xfrm>
        </p:spPr>
        <p:txBody>
          <a:bodyPr/>
          <a:lstStyle/>
          <a:p>
            <a:fld id="{830BD6AA-8DA5-41B7-AFC2-1730AB14F3A6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123728" y="44624"/>
            <a:ext cx="59014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Режим</a:t>
            </a:r>
            <a:r>
              <a:rPr lang="en-US" i="1" dirty="0"/>
              <a:t> </a:t>
            </a:r>
            <a:r>
              <a:rPr lang="ru-RU" sz="2400" b="1" dirty="0"/>
              <a:t>обратная связь по </a:t>
            </a:r>
            <a:r>
              <a:rPr lang="ru-RU" sz="2400" b="1" dirty="0" err="1"/>
              <a:t>шифртексту</a:t>
            </a:r>
            <a:r>
              <a:rPr lang="ru-RU" sz="2400" b="1" dirty="0"/>
              <a:t> </a:t>
            </a:r>
            <a:r>
              <a:rPr lang="en-US" sz="2400" b="1" dirty="0"/>
              <a:t>CFB </a:t>
            </a:r>
            <a:endParaRPr lang="ru-RU" sz="24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01894" y="3030418"/>
            <a:ext cx="75780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/>
              <a:t>Используется, если длина </a:t>
            </a:r>
            <a:r>
              <a:rPr lang="ru-RU" sz="1600" dirty="0"/>
              <a:t>преобразуемого блока </a:t>
            </a:r>
            <a:r>
              <a:rPr lang="ru-RU" sz="1600" b="1" dirty="0"/>
              <a:t>отличается от 64 </a:t>
            </a:r>
            <a:r>
              <a:rPr lang="ru-RU" sz="1600" b="1" dirty="0" smtClean="0"/>
              <a:t>бит.</a:t>
            </a:r>
            <a:endParaRPr lang="ru-RU" sz="16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34413" y="3316003"/>
            <a:ext cx="87859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/>
            <a:r>
              <a:rPr lang="ru-RU" sz="1600" dirty="0"/>
              <a:t>Пусть необходимо зашифровать сообщение, считываемое последовательно блоками по </a:t>
            </a:r>
            <a:r>
              <a:rPr lang="en-US" sz="1600" dirty="0"/>
              <a:t>r </a:t>
            </a:r>
            <a:r>
              <a:rPr lang="ru-RU" sz="1600" dirty="0"/>
              <a:t>бит, </a:t>
            </a:r>
            <a:r>
              <a:rPr lang="ru-RU" sz="1600" dirty="0" smtClean="0"/>
              <a:t>где </a:t>
            </a:r>
            <a:r>
              <a:rPr lang="ru-RU" sz="1600" dirty="0">
                <a:solidFill>
                  <a:srgbClr val="FF0000"/>
                </a:solidFill>
              </a:rPr>
              <a:t>1 &lt; </a:t>
            </a:r>
            <a:r>
              <a:rPr lang="en-US" sz="1600" dirty="0">
                <a:solidFill>
                  <a:srgbClr val="FF0000"/>
                </a:solidFill>
              </a:rPr>
              <a:t>r </a:t>
            </a:r>
            <a:r>
              <a:rPr lang="ru-RU" sz="1600" dirty="0">
                <a:solidFill>
                  <a:srgbClr val="FF0000"/>
                </a:solidFill>
              </a:rPr>
              <a:t>&lt; 64.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3" y="3889791"/>
            <a:ext cx="87129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Порядок шифрования в режиме CFB: </a:t>
            </a:r>
            <a:endParaRPr lang="en-US" sz="1600" dirty="0" smtClean="0"/>
          </a:p>
          <a:p>
            <a:r>
              <a:rPr lang="en-US" sz="1600" dirty="0" smtClean="0"/>
              <a:t>1. </a:t>
            </a:r>
            <a:r>
              <a:rPr lang="ru-RU" sz="1600" dirty="0" smtClean="0"/>
              <a:t>Вектор </a:t>
            </a:r>
            <a:r>
              <a:rPr lang="ru-RU" sz="1600" dirty="0"/>
              <a:t>инициализации ІV записывается в регистр 1 из 64 ячеек. 2. Содержимое регистра 1 шифруется, а результат помещается в регистр 2. </a:t>
            </a:r>
            <a:endParaRPr lang="en-US" sz="1600" dirty="0" smtClean="0"/>
          </a:p>
          <a:p>
            <a:r>
              <a:rPr lang="ru-RU" sz="1600" dirty="0" smtClean="0"/>
              <a:t>3</a:t>
            </a:r>
            <a:r>
              <a:rPr lang="ru-RU" sz="1600" dirty="0"/>
              <a:t>. Из регистра 2 выбираются r левых битов, которые суммируются (ХОR) с r -битным блоком открытого текста. Результат этого шага – r -битный блок ШТ. </a:t>
            </a:r>
            <a:endParaRPr lang="en-US" sz="16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134413" y="5139475"/>
            <a:ext cx="88569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4. Содержимое регистра 1 сдвигается влево на r битов. </a:t>
            </a:r>
            <a:endParaRPr lang="en-US" sz="1600" dirty="0" smtClean="0"/>
          </a:p>
          <a:p>
            <a:r>
              <a:rPr lang="ru-RU" sz="1600" dirty="0" smtClean="0"/>
              <a:t>5</a:t>
            </a:r>
            <a:r>
              <a:rPr lang="ru-RU" sz="1600" dirty="0"/>
              <a:t>. Регистр 1 дополняется справа r -битным блоком ШТ. </a:t>
            </a:r>
            <a:endParaRPr lang="en-US" sz="1600" dirty="0" smtClean="0"/>
          </a:p>
          <a:p>
            <a:r>
              <a:rPr lang="ru-RU" sz="1600" dirty="0" smtClean="0"/>
              <a:t>Шаги </a:t>
            </a:r>
            <a:r>
              <a:rPr lang="ru-RU" sz="1600" dirty="0"/>
              <a:t>2 – 5 повторяются. </a:t>
            </a:r>
            <a:endParaRPr lang="en-US" sz="1600" dirty="0" smtClean="0"/>
          </a:p>
          <a:p>
            <a:r>
              <a:rPr lang="ru-RU" sz="1600" dirty="0" smtClean="0"/>
              <a:t>Фактически </a:t>
            </a:r>
            <a:r>
              <a:rPr lang="ru-RU" sz="1600" dirty="0"/>
              <a:t>в режиме CFB алгоритм шифрования генерирует псевдослучайную последовательность, которая суммируется с открытым текстом (поэтому в русской литературе др. название режима – гаммирование с обратной связью).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660" y="506289"/>
            <a:ext cx="5697867" cy="257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7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61391" y="116632"/>
            <a:ext cx="758952" cy="246888"/>
          </a:xfrm>
        </p:spPr>
        <p:txBody>
          <a:bodyPr/>
          <a:lstStyle/>
          <a:p>
            <a:fld id="{830BD6AA-8DA5-41B7-AFC2-1730AB14F3A6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195736" y="149326"/>
            <a:ext cx="53130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Режим </a:t>
            </a:r>
            <a:r>
              <a:rPr lang="ru-RU" sz="2400" b="1" dirty="0"/>
              <a:t>обратная связь по выходу </a:t>
            </a:r>
            <a:r>
              <a:rPr lang="en-US" sz="2400" b="1" dirty="0"/>
              <a:t>OFB </a:t>
            </a:r>
            <a:endParaRPr lang="ru-RU" sz="24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31785" y="5460524"/>
            <a:ext cx="86409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/>
              <a:t>Используется, если длина </a:t>
            </a:r>
            <a:r>
              <a:rPr lang="ru-RU" sz="1600" dirty="0"/>
              <a:t>преобразуемого блока </a:t>
            </a:r>
            <a:r>
              <a:rPr lang="ru-RU" sz="1600" b="1" dirty="0"/>
              <a:t>отличается от 64 </a:t>
            </a:r>
            <a:r>
              <a:rPr lang="ru-RU" sz="1600" b="1" dirty="0" smtClean="0"/>
              <a:t>бит.</a:t>
            </a:r>
            <a:endParaRPr lang="ru-RU" sz="16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87727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/>
            <a:r>
              <a:rPr lang="ru-RU" sz="1600" dirty="0"/>
              <a:t>Аналогично режиму </a:t>
            </a:r>
            <a:r>
              <a:rPr lang="en-US" sz="1600" dirty="0"/>
              <a:t>CFB</a:t>
            </a:r>
            <a:r>
              <a:rPr lang="ru-RU" sz="1600" dirty="0"/>
              <a:t>, сдвиговый регистр сначала содержит значение инициализирующего вектора. </a:t>
            </a:r>
            <a:endParaRPr lang="ru-RU" sz="16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608" y="772547"/>
            <a:ext cx="6719233" cy="232689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3157003"/>
            <a:ext cx="6753218" cy="233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0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61391" y="116632"/>
            <a:ext cx="758952" cy="246888"/>
          </a:xfrm>
        </p:spPr>
        <p:txBody>
          <a:bodyPr/>
          <a:lstStyle/>
          <a:p>
            <a:fld id="{830BD6AA-8DA5-41B7-AFC2-1730AB14F3A6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9512" y="1052736"/>
            <a:ext cx="88569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/>
            <a:r>
              <a:rPr lang="ru-RU" dirty="0"/>
              <a:t>Режим счетчика (</a:t>
            </a:r>
            <a:r>
              <a:rPr lang="ru-RU" dirty="0" err="1"/>
              <a:t>Counter</a:t>
            </a:r>
            <a:r>
              <a:rPr lang="ru-RU" dirty="0"/>
              <a:t> </a:t>
            </a:r>
            <a:r>
              <a:rPr lang="ru-RU" dirty="0" err="1"/>
              <a:t>Mode</a:t>
            </a:r>
            <a:r>
              <a:rPr lang="ru-RU" dirty="0"/>
              <a:t>-CTR) предполагает возврат на вход соответствующего алгоритма блочного шифрования значения счетчика, накопленного с момента старта. Увеличивая значение счетчика, алгоритм блочного шифрования образует строку битов, которая используется в качестве бегущего ключа шифра </a:t>
            </a:r>
            <a:r>
              <a:rPr lang="ru-RU" dirty="0" err="1"/>
              <a:t>Вернама</a:t>
            </a:r>
            <a:r>
              <a:rPr lang="ru-RU" dirty="0"/>
              <a:t>, т.е. к бегущему ключу и блокам исходного сообщения применяются операции XOR</a:t>
            </a:r>
            <a:r>
              <a:rPr lang="ru-RU"/>
              <a:t>. </a:t>
            </a:r>
            <a:endParaRPr lang="ru-RU" smtClean="0"/>
          </a:p>
          <a:p>
            <a:pPr indent="536575" algn="just"/>
            <a:endParaRPr lang="en-US" dirty="0" smtClean="0"/>
          </a:p>
          <a:p>
            <a:pPr indent="536575" algn="just"/>
            <a:r>
              <a:rPr lang="ru-RU" dirty="0"/>
              <a:t>При отсутствии обратной связи алгоритмы шифрования и расшифровки в режиме CTR могут выполняться параллельно. Это обеспечивает режиму CTR преимущество перед режимами </a:t>
            </a:r>
            <a:r>
              <a:rPr lang="ru-RU" dirty="0" err="1"/>
              <a:t>Cipher</a:t>
            </a:r>
            <a:r>
              <a:rPr lang="ru-RU" dirty="0"/>
              <a:t> </a:t>
            </a:r>
            <a:r>
              <a:rPr lang="ru-RU" dirty="0" err="1"/>
              <a:t>Feedback</a:t>
            </a:r>
            <a:r>
              <a:rPr lang="ru-RU" dirty="0"/>
              <a:t> (CFB) и </a:t>
            </a:r>
            <a:r>
              <a:rPr lang="ru-RU" dirty="0" err="1"/>
              <a:t>Output</a:t>
            </a:r>
            <a:r>
              <a:rPr lang="ru-RU" dirty="0"/>
              <a:t> </a:t>
            </a:r>
            <a:r>
              <a:rPr lang="ru-RU" dirty="0" err="1"/>
              <a:t>Feedback</a:t>
            </a:r>
            <a:r>
              <a:rPr lang="ru-RU" dirty="0"/>
              <a:t> (OFB).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298033" y="116632"/>
            <a:ext cx="31239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Режим счетчика (</a:t>
            </a:r>
            <a:r>
              <a:rPr lang="en-US" sz="2400" b="1" dirty="0"/>
              <a:t>CTR)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66675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61391" y="116632"/>
            <a:ext cx="758952" cy="246888"/>
          </a:xfrm>
        </p:spPr>
        <p:txBody>
          <a:bodyPr/>
          <a:lstStyle/>
          <a:p>
            <a:fld id="{830BD6AA-8DA5-41B7-AFC2-1730AB14F3A6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298033" y="116632"/>
            <a:ext cx="31817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Режим </a:t>
            </a:r>
            <a:r>
              <a:rPr lang="ru-RU" sz="2400" b="1" dirty="0" err="1"/>
              <a:t>гаммирования</a:t>
            </a:r>
            <a:endParaRPr lang="ru-RU" sz="2400" b="1" dirty="0"/>
          </a:p>
        </p:txBody>
      </p:sp>
      <p:pic>
        <p:nvPicPr>
          <p:cNvPr id="6" name="Рисунок 5" descr="https://studfile.net/html/2706/20/html_1KZZoPzJQP.i9pv/img-cCXpj9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68760"/>
            <a:ext cx="2353816" cy="331236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3112404" y="1301551"/>
            <a:ext cx="5428463" cy="4018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Шаг 0 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Определяет исходные данные для основного шага криптопреобразования: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b="1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(ш) – массив открытых (зашифрованных) данных произвольного размера, подвергаемый процедуре 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зашифрования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расшифрования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по ходу процедуры массив подвергается преобразованию порциями по 64 бита;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 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синхропосылка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64-битовый элемент данных, необходимый для инициализации генератора гаммы;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Шаг 1 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Начальное преобразование 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синхропосылки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выполняемое для ее «рандомизации», то есть для устранения статистических закономерностей, присутствующих в ней, результат используется как начальное заполнение РГПЧ;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Шаг 2 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Один шаг работы РГПЧ, реализующий его рекуррентный алгоритм. В ходе данного шага старшая (S</a:t>
            </a:r>
            <a:r>
              <a:rPr lang="ru-RU" sz="12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и младшая (S</a:t>
            </a:r>
            <a:r>
              <a:rPr lang="ru-RU" sz="12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части последовательности данных вырабатываются независимо друг от друга;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Шаг 3 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Гаммирование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Очередной 64-битовый элемент, выработанный РГПЧ, подвергается процедуре 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зашифрования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 циклу 32–З, результат используется как элемент гаммы для 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зашифрования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расшифрования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очередного блока открытых (зашифрованных) данных того же размера.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Шаг 4 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 работы алгоритма – зашифрованный (расшифрованный) массив данных.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964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61391" y="116632"/>
            <a:ext cx="758952" cy="246888"/>
          </a:xfrm>
        </p:spPr>
        <p:txBody>
          <a:bodyPr/>
          <a:lstStyle/>
          <a:p>
            <a:fld id="{830BD6AA-8DA5-41B7-AFC2-1730AB14F3A6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907704" y="140038"/>
            <a:ext cx="5734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Режим </a:t>
            </a:r>
            <a:r>
              <a:rPr lang="ru-RU" sz="2400" b="1" dirty="0" err="1"/>
              <a:t>гаммирования</a:t>
            </a:r>
            <a:r>
              <a:rPr lang="ru-RU" sz="2400" b="1" dirty="0"/>
              <a:t> с обратной связью</a:t>
            </a:r>
            <a:endParaRPr lang="ru-RU" sz="24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085552" y="1844824"/>
            <a:ext cx="5428463" cy="3319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Данный 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режим очень похож на режим </a:t>
            </a:r>
            <a:r>
              <a:rPr lang="ru-RU" sz="1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гаммирования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 отличается от него только способом выработки элементов гаммы – очередной элемент гаммы вырабатывается как результат преобразования по циклу 32-З предыдущего блока зашифрованных данных, а для </a:t>
            </a:r>
            <a:r>
              <a:rPr lang="ru-RU" sz="1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зашифрования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первого блока массива данных элемент гаммы вырабатывается как результат преобразования по тому же циклу </a:t>
            </a:r>
            <a:r>
              <a:rPr lang="ru-RU" sz="1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синхропосылки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14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Этим 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достигается зацепление блоков – каждый блок </a:t>
            </a:r>
            <a:r>
              <a:rPr lang="ru-RU" sz="1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шифртекста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 этом режиме зависит от соответствующего и всех предыдущих блоков открытого текста. </a:t>
            </a:r>
            <a:endParaRPr lang="ru-RU" sz="14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Поэтому 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данный режим иногда называется </a:t>
            </a:r>
            <a:r>
              <a:rPr lang="ru-RU" sz="1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гаммированием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 зацеплением блоков. На стойкость шифра факт зацепления блоков не оказывает никакого влияния.</a:t>
            </a:r>
            <a:endParaRPr lang="ru-RU" sz="1400" dirty="0"/>
          </a:p>
        </p:txBody>
      </p:sp>
      <p:pic>
        <p:nvPicPr>
          <p:cNvPr id="7" name="Рисунок 6" descr="https://studfile.net/html/2706/20/html_1KZZoPzJQP.i9pv/img-FtitIH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44824"/>
            <a:ext cx="2038722" cy="2736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24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61391" y="116632"/>
            <a:ext cx="758952" cy="246888"/>
          </a:xfrm>
        </p:spPr>
        <p:txBody>
          <a:bodyPr/>
          <a:lstStyle/>
          <a:p>
            <a:fld id="{830BD6AA-8DA5-41B7-AFC2-1730AB14F3A6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907704" y="140038"/>
            <a:ext cx="4737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Режим </a:t>
            </a:r>
            <a:r>
              <a:rPr lang="ru-RU" sz="2400" b="1" dirty="0"/>
              <a:t>выработки </a:t>
            </a:r>
            <a:r>
              <a:rPr lang="ru-RU" sz="2400" b="1" dirty="0" err="1"/>
              <a:t>имитовставки</a:t>
            </a:r>
            <a:endParaRPr lang="ru-RU" sz="24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899592" y="1844824"/>
            <a:ext cx="7612557" cy="3088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Имитовставка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это контрольная комбинация, зависящая от открытых данных и секретной ключевой информации. </a:t>
            </a:r>
            <a:endParaRPr lang="ru-RU" sz="14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Целью 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использования </a:t>
            </a:r>
            <a:r>
              <a:rPr lang="ru-RU" sz="1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имитовставки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является обнаружение всех случайных или преднамеренных изменений в массиве информации. Проблема, изложенная в предыдущем пункте, может быть успешно решена с помощью добавления к шифрованным данным </a:t>
            </a:r>
            <a:r>
              <a:rPr lang="ru-RU" sz="1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имитовставки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14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14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потенциального злоумышленника две следующие задачи практически неразрешимы, если он не владеет ключевой информацией: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вычисление </a:t>
            </a:r>
            <a:r>
              <a:rPr lang="ru-RU" sz="1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имитовставки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для заданного открытого массива информации;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подбор 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открытых данных под заданную </a:t>
            </a:r>
            <a:r>
              <a:rPr lang="ru-RU" sz="1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имитовставку</a:t>
            </a:r>
            <a:endParaRPr lang="ru-RU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07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2324</TotalTime>
  <Words>769</Words>
  <Application>Microsoft Office PowerPoint</Application>
  <PresentationFormat>Экран (4:3)</PresentationFormat>
  <Paragraphs>84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Пользователь</cp:lastModifiedBy>
  <cp:revision>111</cp:revision>
  <dcterms:created xsi:type="dcterms:W3CDTF">2017-11-25T10:27:42Z</dcterms:created>
  <dcterms:modified xsi:type="dcterms:W3CDTF">2025-12-12T08:52:05Z</dcterms:modified>
</cp:coreProperties>
</file>