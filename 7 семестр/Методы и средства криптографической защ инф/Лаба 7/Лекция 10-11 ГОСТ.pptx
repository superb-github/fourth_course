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7" r:id="rId5"/>
    <p:sldId id="261" r:id="rId6"/>
    <p:sldId id="268" r:id="rId7"/>
    <p:sldId id="269" r:id="rId8"/>
    <p:sldId id="270" r:id="rId9"/>
    <p:sldId id="271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-595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7ED75A7-91B7-454E-AA53-B30EB44AEFB9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2A6F40B-58D9-4022-BDE8-D215E35678B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5339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11624-B4FE-4222-8B29-8B4C7F225551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47D70-9B40-4368-9FA1-8564EB3DB9D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F887-A54F-4B2B-BE9C-1C99EA51814A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FB8BC-BF53-4882-A325-A5F4770919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282CA-7CD5-4B9E-AB18-949466342EC7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61F6B-8942-4BC9-9CD2-CFC3D2FF4C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82242-80CB-44A1-BD31-B72FD119D82C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B55A4-29FF-45A9-B907-9E1880FCA0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5F7A3-B3D3-4902-800E-4C2E842994B2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E1E28-41FA-44C6-8E43-219C058E135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903E2-8A82-4F6C-A337-1C0211CD0D54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244900-980B-4665-876E-48583B8DCF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FABB-1996-44C1-9699-5EDE1A29782E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34381-5195-43A4-A871-10E5562C74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EC189-AE78-4B3E-9AED-E7F092D5E3FC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AC788-A564-40F7-8F81-CCFAB405C1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3AFF1-9699-45E0-9AD2-982A44C4BBCA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3499C-6CD4-40E5-94E6-E607F7C1AAF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1F3E7-33F4-45F2-BA19-03DBC8BF770E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2C0A7-EC5B-44C1-8E5E-7225313796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26ACE-DBD8-42FF-80E2-9163493EF613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AF4B5-6585-4EEB-A6A8-EB4B958484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A351B3-4791-4F10-83A7-E09694C95E04}" type="datetimeFigureOut">
              <a:rPr lang="ru-RU"/>
              <a:pPr>
                <a:defRPr/>
              </a:pPr>
              <a:t>06.12.2024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05C85B-BFD2-4B01-93A3-5E45A697568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12888" y="3017838"/>
            <a:ext cx="9144000" cy="1655762"/>
          </a:xfrm>
        </p:spPr>
        <p:txBody>
          <a:bodyPr/>
          <a:lstStyle/>
          <a:p>
            <a:pPr eaLnBrk="1" hangingPunct="1"/>
            <a:r>
              <a:rPr lang="ru-RU" sz="2800" b="1" smtClean="0"/>
              <a:t>Алгоритм шифрования ГОСТ 28147-89</a:t>
            </a:r>
            <a:endParaRPr lang="ru-RU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9"/>
          <p:cNvSpPr txBox="1">
            <a:spLocks noChangeArrowheads="1"/>
          </p:cNvSpPr>
          <p:nvPr/>
        </p:nvSpPr>
        <p:spPr bwMode="auto">
          <a:xfrm>
            <a:off x="261792" y="550718"/>
            <a:ext cx="11680825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endParaRPr lang="ru-RU" sz="2800" dirty="0"/>
          </a:p>
          <a:p>
            <a:r>
              <a:rPr lang="ru-RU" dirty="0"/>
              <a:t>Данный алгоритм симметричного шифрования был разработан в СССР и в качестве стандарта утвержден в 1989 году. </a:t>
            </a:r>
            <a:endParaRPr lang="ru-RU" dirty="0" smtClean="0"/>
          </a:p>
          <a:p>
            <a:r>
              <a:rPr lang="ru-RU" dirty="0" smtClean="0"/>
              <a:t>Он </a:t>
            </a:r>
            <a:r>
              <a:rPr lang="ru-RU" dirty="0"/>
              <a:t>считается достаточно стойким и широко используется в России теми предприятиями и организациями, которым, в силу особенностей сферы их деятельности, необходимо применять сертифицированные средства криптографической защиты данных (это государственные и военные структуры, организации банковской сферы и т. д</a:t>
            </a:r>
            <a:r>
              <a:rPr lang="ru-RU" dirty="0" smtClean="0"/>
              <a:t>.).</a:t>
            </a:r>
          </a:p>
          <a:p>
            <a:endParaRPr lang="ru-RU" dirty="0"/>
          </a:p>
          <a:p>
            <a:r>
              <a:rPr lang="ru-RU" dirty="0"/>
              <a:t>Этот шифр преобразует сообщение 64-битными блоками, преобразование осуществляется в соответствии со схемой </a:t>
            </a:r>
            <a:r>
              <a:rPr lang="ru-RU" dirty="0" err="1"/>
              <a:t>Фейстеля</a:t>
            </a:r>
            <a:r>
              <a:rPr lang="ru-RU" dirty="0"/>
              <a:t> в 32 раунда, размер ключа — 256 бит.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Алгоритм </a:t>
            </a:r>
            <a:r>
              <a:rPr lang="ru-RU" dirty="0"/>
              <a:t>предусматривает 4 режима работы</a:t>
            </a:r>
            <a:r>
              <a:rPr lang="ru-RU" dirty="0" smtClean="0"/>
              <a:t>:</a:t>
            </a:r>
          </a:p>
          <a:p>
            <a:r>
              <a:rPr lang="ru-RU" dirty="0" smtClean="0"/>
              <a:t>· </a:t>
            </a:r>
            <a:r>
              <a:rPr lang="ru-RU" dirty="0"/>
              <a:t>режим простой замены;</a:t>
            </a:r>
          </a:p>
          <a:p>
            <a:r>
              <a:rPr lang="ru-RU" dirty="0"/>
              <a:t>· режим </a:t>
            </a:r>
            <a:r>
              <a:rPr lang="ru-RU" dirty="0" err="1"/>
              <a:t>гаммирования</a:t>
            </a:r>
            <a:r>
              <a:rPr lang="ru-RU" dirty="0"/>
              <a:t>;</a:t>
            </a:r>
          </a:p>
          <a:p>
            <a:r>
              <a:rPr lang="ru-RU" dirty="0"/>
              <a:t>· режим </a:t>
            </a:r>
            <a:r>
              <a:rPr lang="ru-RU" dirty="0" err="1"/>
              <a:t>гаммирования</a:t>
            </a:r>
            <a:r>
              <a:rPr lang="ru-RU" dirty="0"/>
              <a:t> с обратной связью;</a:t>
            </a:r>
          </a:p>
          <a:p>
            <a:r>
              <a:rPr lang="ru-RU" dirty="0"/>
              <a:t>· режим выработки </a:t>
            </a:r>
            <a:r>
              <a:rPr lang="ru-RU" dirty="0" err="1"/>
              <a:t>имитовставки</a:t>
            </a:r>
            <a:r>
              <a:rPr lang="ru-RU" dirty="0"/>
              <a:t>.</a:t>
            </a: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3" descr="image0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3325" y="215900"/>
            <a:ext cx="3810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6" name="Text Box 4"/>
          <p:cNvSpPr txBox="1">
            <a:spLocks noChangeArrowheads="1"/>
          </p:cNvSpPr>
          <p:nvPr/>
        </p:nvSpPr>
        <p:spPr bwMode="auto">
          <a:xfrm>
            <a:off x="6321425" y="5955723"/>
            <a:ext cx="4552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ru-RU" b="1" dirty="0"/>
              <a:t>Алгоритм шифрования ГОСТ 28147-89</a:t>
            </a:r>
          </a:p>
          <a:p>
            <a:pPr algn="ctr"/>
            <a:r>
              <a:rPr lang="ru-RU" b="1" dirty="0"/>
              <a:t> (режим простой замены)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5860474" y="609600"/>
            <a:ext cx="60702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1) Правый </a:t>
            </a:r>
            <a:r>
              <a:rPr lang="ru-RU" dirty="0" err="1"/>
              <a:t>полублок</a:t>
            </a:r>
            <a:r>
              <a:rPr lang="ru-RU" dirty="0"/>
              <a:t> Ri-1 складывается по модулю </a:t>
            </a:r>
            <a:r>
              <a:rPr lang="ru-RU" dirty="0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r>
              <a:rPr lang="ru-RU" baseline="30000" dirty="0">
                <a:solidFill>
                  <a:srgbClr val="000000"/>
                </a:solidFill>
                <a:latin typeface="Courier New"/>
                <a:ea typeface="Courier New"/>
              </a:rPr>
              <a:t>32</a:t>
            </a:r>
            <a:r>
              <a:rPr lang="ru-RU" dirty="0" smtClean="0"/>
              <a:t> </a:t>
            </a:r>
            <a:r>
              <a:rPr lang="ru-RU" dirty="0"/>
              <a:t>(сложение 32-разрядных двоичных значений без переноса старшего разряда) с раундовым ключом </a:t>
            </a:r>
            <a:r>
              <a:rPr lang="ru-RU" dirty="0" err="1"/>
              <a:t>Kj</a:t>
            </a:r>
            <a:r>
              <a:rPr lang="ru-RU" dirty="0"/>
              <a:t>. </a:t>
            </a:r>
          </a:p>
          <a:p>
            <a:endParaRPr lang="ru-RU" dirty="0" smtClean="0"/>
          </a:p>
          <a:p>
            <a:r>
              <a:rPr lang="ru-RU" dirty="0" smtClean="0"/>
              <a:t>2</a:t>
            </a:r>
            <a:r>
              <a:rPr lang="ru-RU" dirty="0"/>
              <a:t>) Далее выполняется подстановка, задаваемая таблицами </a:t>
            </a:r>
            <a:r>
              <a:rPr lang="ru-RU" dirty="0" err="1"/>
              <a:t>So</a:t>
            </a:r>
            <a:r>
              <a:rPr lang="ru-RU" dirty="0"/>
              <a:t>, ..., S7, и полученное значение преобразуется с помощью циклического сдвига влево на 11 позиций. </a:t>
            </a:r>
          </a:p>
          <a:p>
            <a:endParaRPr lang="ru-RU" dirty="0" smtClean="0"/>
          </a:p>
          <a:p>
            <a:r>
              <a:rPr lang="ru-RU" dirty="0" smtClean="0"/>
              <a:t>3</a:t>
            </a:r>
            <a:r>
              <a:rPr lang="ru-RU" dirty="0"/>
              <a:t>) После этого выполняется побитное сложение по модулю 2 с левым </a:t>
            </a:r>
            <a:r>
              <a:rPr lang="ru-RU" dirty="0" err="1"/>
              <a:t>полублоком</a:t>
            </a:r>
            <a:r>
              <a:rPr lang="ru-RU" dirty="0"/>
              <a:t> Li-1 и перестановка </a:t>
            </a:r>
            <a:r>
              <a:rPr lang="ru-RU" dirty="0" err="1"/>
              <a:t>полублоков</a:t>
            </a:r>
            <a:r>
              <a:rPr lang="ru-RU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423" y="841374"/>
            <a:ext cx="4069469" cy="479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805054" y="855229"/>
            <a:ext cx="58835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Расписание использования раундовых ключей формируется следующим образом.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256-битный </a:t>
            </a:r>
            <a:r>
              <a:rPr lang="ru-RU" dirty="0"/>
              <a:t>секретный ключ K представляется в виде сцепления 8-ми 32-битных </a:t>
            </a:r>
            <a:r>
              <a:rPr lang="ru-RU" dirty="0" err="1" smtClean="0"/>
              <a:t>подключей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На первом раунде берется 0-й </a:t>
            </a:r>
            <a:r>
              <a:rPr lang="ru-RU" dirty="0" err="1"/>
              <a:t>подключ</a:t>
            </a:r>
            <a:r>
              <a:rPr lang="ru-RU" dirty="0"/>
              <a:t>, на втором — 1-й и т. д., на 9-м раунде опять используется 0-й </a:t>
            </a:r>
            <a:r>
              <a:rPr lang="ru-RU" dirty="0" err="1"/>
              <a:t>подключ</a:t>
            </a:r>
            <a:r>
              <a:rPr lang="ru-RU" dirty="0"/>
              <a:t>, на 24-м — 7-й, а вот на 25-м раунде преобразования вновь используется 7-й и далее ключи используются в обратном порядке.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Иными </a:t>
            </a:r>
            <a:r>
              <a:rPr lang="ru-RU" dirty="0"/>
              <a:t>словами, номер раундового ключа j зависит от номера раунда i следующим образом</a:t>
            </a:r>
            <a:r>
              <a:rPr lang="ru-RU" dirty="0" smtClean="0"/>
              <a:t>:</a:t>
            </a:r>
          </a:p>
          <a:p>
            <a:r>
              <a:rPr lang="ru-RU" dirty="0" smtClean="0"/>
              <a:t> </a:t>
            </a:r>
            <a:endParaRPr lang="ru-RU" dirty="0"/>
          </a:p>
          <a:p>
            <a:r>
              <a:rPr lang="ru-RU" dirty="0"/>
              <a:t>j = (i - 1)</a:t>
            </a:r>
            <a:r>
              <a:rPr lang="ru-RU" dirty="0" err="1"/>
              <a:t>mod</a:t>
            </a:r>
            <a:r>
              <a:rPr lang="ru-RU" dirty="0"/>
              <a:t> 8 для 1 &lt; i &lt; 24</a:t>
            </a:r>
            <a:r>
              <a:rPr lang="ru-RU" dirty="0" smtClean="0"/>
              <a:t>,</a:t>
            </a:r>
          </a:p>
          <a:p>
            <a:endParaRPr lang="ru-RU" dirty="0"/>
          </a:p>
          <a:p>
            <a:r>
              <a:rPr lang="ru-RU" dirty="0"/>
              <a:t>j = (32 - i)</a:t>
            </a:r>
            <a:r>
              <a:rPr lang="ru-RU" dirty="0" err="1"/>
              <a:t>mod</a:t>
            </a:r>
            <a:r>
              <a:rPr lang="ru-RU" dirty="0"/>
              <a:t> 8 для 25 &lt; i &lt; 32.               	</a:t>
            </a:r>
          </a:p>
        </p:txBody>
      </p:sp>
    </p:spTree>
    <p:extLst>
      <p:ext uri="{BB962C8B-B14F-4D97-AF65-F5344CB8AC3E}">
        <p14:creationId xmlns:p14="http://schemas.microsoft.com/office/powerpoint/2010/main" val="319652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4" descr="image00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085" y="411885"/>
            <a:ext cx="5222442" cy="5431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209838" y="6190674"/>
            <a:ext cx="7032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 dirty="0"/>
              <a:t>Функция преобразования </a:t>
            </a:r>
            <a:r>
              <a:rPr lang="ru-RU" b="1" i="1" dirty="0"/>
              <a:t>f(R,X)</a:t>
            </a:r>
            <a:r>
              <a:rPr lang="ru-RU" b="1" dirty="0"/>
              <a:t> в алгоритме ГОСТ 28147-89</a:t>
            </a:r>
            <a:r>
              <a:rPr lang="ru-RU" dirty="0"/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94218" y="445825"/>
            <a:ext cx="6248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подстановок </a:t>
            </a:r>
            <a:r>
              <a:rPr lang="ru-RU" dirty="0" err="1"/>
              <a:t>Si</a:t>
            </a:r>
            <a:r>
              <a:rPr lang="ru-RU" dirty="0"/>
              <a:t> представляет собой вектор с 16-ю 4-битовыми элементами.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Из </a:t>
            </a:r>
            <a:r>
              <a:rPr lang="ru-RU" dirty="0"/>
              <a:t>нее берется элемент, номер которого совпадает со значением </a:t>
            </a:r>
            <a:r>
              <a:rPr lang="ru-RU" dirty="0" err="1"/>
              <a:t>Ri</a:t>
            </a:r>
            <a:r>
              <a:rPr lang="ru-RU" dirty="0"/>
              <a:t>, пришедшим на вход подстановки. </a:t>
            </a:r>
            <a:endParaRPr lang="ru-RU" dirty="0" smtClean="0"/>
          </a:p>
          <a:p>
            <a:endParaRPr lang="ru-RU" dirty="0"/>
          </a:p>
          <a:p>
            <a:r>
              <a:rPr lang="ru-RU" b="1" dirty="0"/>
              <a:t>Надо отметить, что значения таблиц подстановки не определены стандартом, как это сделано, например, в шифре DES. </a:t>
            </a:r>
            <a:endParaRPr lang="ru-RU" b="1" dirty="0" smtClean="0"/>
          </a:p>
          <a:p>
            <a:endParaRPr lang="ru-RU" b="1" dirty="0"/>
          </a:p>
          <a:p>
            <a:r>
              <a:rPr lang="ru-RU" b="1" dirty="0" smtClean="0"/>
              <a:t>В </a:t>
            </a:r>
            <a:r>
              <a:rPr lang="ru-RU" b="1" dirty="0"/>
              <a:t>то же время стойкость алгоритма существенно зависит от их правильного выбора</a:t>
            </a:r>
            <a:r>
              <a:rPr lang="ru-RU" b="1" dirty="0" smtClean="0"/>
              <a:t>.</a:t>
            </a:r>
          </a:p>
          <a:p>
            <a:endParaRPr lang="ru-RU" b="1" dirty="0" smtClean="0"/>
          </a:p>
          <a:p>
            <a:r>
              <a:rPr lang="ru-RU" b="1" dirty="0" smtClean="0"/>
              <a:t>Считается</a:t>
            </a:r>
            <a:r>
              <a:rPr lang="ru-RU" b="1" dirty="0"/>
              <a:t>, что конкретные значения этих таблиц должны храниться в секрете и это своеобразные ключевые элементы, которые являются общими для всей организации или подразделения и редко изменяются.</a:t>
            </a:r>
          </a:p>
          <a:p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397" y="544792"/>
            <a:ext cx="117420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 сравнению с шифром DES у ГОСТ 28147-89 есть следующие достоинства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 smtClean="0"/>
              <a:t>существенно </a:t>
            </a:r>
            <a:r>
              <a:rPr lang="ru-RU" dirty="0"/>
              <a:t>более длинный ключ (256 бит против 56 у шифра DES), атака на который путем полного перебора ключевого множества на данный момент представляется невыполнимой</a:t>
            </a:r>
            <a:r>
              <a:rPr lang="ru-RU" dirty="0" smtClean="0"/>
              <a:t>;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 smtClean="0"/>
              <a:t>простое </a:t>
            </a:r>
            <a:r>
              <a:rPr lang="ru-RU" dirty="0"/>
              <a:t>расписание использования ключа, что упрощает реализацию алгоритма и повышает скорость вычислений</a:t>
            </a:r>
            <a:r>
              <a:rPr lang="ru-RU" dirty="0" smtClean="0"/>
              <a:t>.</a:t>
            </a:r>
          </a:p>
          <a:p>
            <a:pPr marL="285750" indent="-285750">
              <a:buFontTx/>
              <a:buChar char="-"/>
            </a:pP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11397" y="3366655"/>
            <a:ext cx="113871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Режим простой замены чересчур простой и имеет существенные недостатки:</a:t>
            </a:r>
          </a:p>
          <a:p>
            <a:endParaRPr lang="ru-RU" dirty="0"/>
          </a:p>
          <a:p>
            <a:r>
              <a:rPr lang="ru-RU" dirty="0" smtClean="0"/>
              <a:t>- одна </a:t>
            </a:r>
            <a:r>
              <a:rPr lang="ru-RU" dirty="0"/>
              <a:t>ошибка в шифрованном блоке искажает все биты этого блока;</a:t>
            </a:r>
          </a:p>
          <a:p>
            <a:r>
              <a:rPr lang="ru-RU" dirty="0" smtClean="0"/>
              <a:t>- при </a:t>
            </a:r>
            <a:r>
              <a:rPr lang="ru-RU" dirty="0"/>
              <a:t>шифровании одинаковых блоков открытого текста получаются одинаковые блоки </a:t>
            </a:r>
            <a:r>
              <a:rPr lang="ru-RU" dirty="0" err="1"/>
              <a:t>шифротекста</a:t>
            </a:r>
            <a:r>
              <a:rPr lang="ru-RU" dirty="0"/>
              <a:t>, что может дать определенную информацию </a:t>
            </a:r>
            <a:r>
              <a:rPr lang="ru-RU" dirty="0" err="1"/>
              <a:t>криптоаналитику</a:t>
            </a:r>
            <a:r>
              <a:rPr lang="ru-RU" dirty="0"/>
              <a:t>.</a:t>
            </a:r>
          </a:p>
          <a:p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образом, применять ГОСТ 28147—89 в режиме простой замены желательно лишь для шифрования ключевых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7639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24935"/>
            <a:ext cx="24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Режим </a:t>
            </a:r>
            <a:r>
              <a:rPr lang="ru-RU" dirty="0" err="1"/>
              <a:t>гаммирования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565" y="1000990"/>
            <a:ext cx="7842106" cy="5008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435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24935"/>
            <a:ext cx="4569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Режим </a:t>
            </a:r>
            <a:r>
              <a:rPr lang="ru-RU" dirty="0" err="1"/>
              <a:t>гаммирования</a:t>
            </a:r>
            <a:r>
              <a:rPr lang="ru-RU" dirty="0"/>
              <a:t> с обратной связью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133475"/>
            <a:ext cx="8429625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63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29977" y="706585"/>
            <a:ext cx="242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Режим </a:t>
            </a:r>
            <a:r>
              <a:rPr lang="ru-RU" dirty="0" err="1"/>
              <a:t>имитовставки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977" y="1712768"/>
            <a:ext cx="9618131" cy="3460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69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5"/>
          <p:cNvSpPr txBox="1">
            <a:spLocks noChangeArrowheads="1"/>
          </p:cNvSpPr>
          <p:nvPr/>
        </p:nvSpPr>
        <p:spPr bwMode="auto">
          <a:xfrm>
            <a:off x="2254250" y="165100"/>
            <a:ext cx="90058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/>
              <a:t>Приложение. Символы кириллицы (альтернативная кодовая таблица ASCII)</a:t>
            </a:r>
            <a:r>
              <a:rPr lang="ru-RU"/>
              <a:t> </a:t>
            </a:r>
          </a:p>
        </p:txBody>
      </p:sp>
      <p:pic>
        <p:nvPicPr>
          <p:cNvPr id="19458" name="Picture 136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35400" y="512763"/>
            <a:ext cx="4935538" cy="634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/>
          <p:cNvSpPr txBox="1">
            <a:spLocks noChangeArrowheads="1"/>
          </p:cNvSpPr>
          <p:nvPr/>
        </p:nvSpPr>
        <p:spPr bwMode="auto">
          <a:xfrm>
            <a:off x="2254250" y="165100"/>
            <a:ext cx="8426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/>
              <a:t>Приложени. Блок подстановки в алгоритме шифрования ГОСТ 28147-89</a:t>
            </a:r>
          </a:p>
        </p:txBody>
      </p:sp>
      <p:pic>
        <p:nvPicPr>
          <p:cNvPr id="2048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1488" y="871538"/>
            <a:ext cx="4110037" cy="512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543</Words>
  <Application>Microsoft Office PowerPoint</Application>
  <PresentationFormat>Произвольный</PresentationFormat>
  <Paragraphs>56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2</dc:title>
  <dc:creator>RePack by Diakov</dc:creator>
  <cp:lastModifiedBy>User</cp:lastModifiedBy>
  <cp:revision>27</cp:revision>
  <dcterms:created xsi:type="dcterms:W3CDTF">2016-08-26T08:24:06Z</dcterms:created>
  <dcterms:modified xsi:type="dcterms:W3CDTF">2024-12-06T12:06:59Z</dcterms:modified>
</cp:coreProperties>
</file>