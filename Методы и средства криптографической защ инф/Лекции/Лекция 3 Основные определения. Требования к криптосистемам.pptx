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59" r:id="rId5"/>
    <p:sldId id="261" r:id="rId6"/>
    <p:sldId id="262" r:id="rId7"/>
    <p:sldId id="260" r:id="rId8"/>
    <p:sldId id="263" r:id="rId9"/>
    <p:sldId id="266" r:id="rId10"/>
    <p:sldId id="268" r:id="rId11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280" autoAdjust="0"/>
    <p:restoredTop sz="94660"/>
  </p:normalViewPr>
  <p:slideViewPr>
    <p:cSldViewPr snapToGrid="0">
      <p:cViewPr varScale="1">
        <p:scale>
          <a:sx n="55" d="100"/>
          <a:sy n="55" d="100"/>
        </p:scale>
        <p:origin x="-1104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BD54A-1461-4094-BCF1-B14955DD009C}" type="datetimeFigureOut">
              <a:rPr lang="ru-RU"/>
              <a:pPr>
                <a:defRPr/>
              </a:pPr>
              <a:t>20.09.2023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A1DD8-5BB4-463E-AE93-E69557ADCDD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08848-C7EF-4E41-8A44-33B8D966D25A}" type="datetimeFigureOut">
              <a:rPr lang="ru-RU"/>
              <a:pPr>
                <a:defRPr/>
              </a:pPr>
              <a:t>20.09.2023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73D0F-7D75-4AA9-ACA4-D40CD3164E1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3E7A3-3D5F-4AF6-A4F3-924515DE030E}" type="datetimeFigureOut">
              <a:rPr lang="ru-RU"/>
              <a:pPr>
                <a:defRPr/>
              </a:pPr>
              <a:t>20.09.2023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9669C-89FB-4D29-BB50-19AFF21710E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A03C6-B6B0-4CFD-96FD-BD43E7AFC811}" type="datetimeFigureOut">
              <a:rPr lang="ru-RU"/>
              <a:pPr>
                <a:defRPr/>
              </a:pPr>
              <a:t>20.09.2023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AD8817-47EF-4217-BC3E-A48CC18CBED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8D68E-E5B1-4F1D-8953-2CE7C7D29512}" type="datetimeFigureOut">
              <a:rPr lang="ru-RU"/>
              <a:pPr>
                <a:defRPr/>
              </a:pPr>
              <a:t>20.09.2023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C88B3-0043-4812-9989-15FDC232A35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9E26B-0302-42ED-B309-66FF1A86057E}" type="datetimeFigureOut">
              <a:rPr lang="ru-RU"/>
              <a:pPr>
                <a:defRPr/>
              </a:pPr>
              <a:t>20.09.2023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5A5AC-12B0-4A96-AC3F-B9DDF93C2E9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841A5-587A-4442-992E-8E0845E5B91E}" type="datetimeFigureOut">
              <a:rPr lang="ru-RU"/>
              <a:pPr>
                <a:defRPr/>
              </a:pPr>
              <a:t>20.09.2023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F0E26B-B3F5-4C4D-A565-55AF6754F19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23C9A-382A-48C9-9142-FB4E872250D8}" type="datetimeFigureOut">
              <a:rPr lang="ru-RU"/>
              <a:pPr>
                <a:defRPr/>
              </a:pPr>
              <a:t>20.09.2023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1C208-F586-4CBC-A681-4BBF7656366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93DA4-8F3A-4C45-8D8E-28A71D14B216}" type="datetimeFigureOut">
              <a:rPr lang="ru-RU"/>
              <a:pPr>
                <a:defRPr/>
              </a:pPr>
              <a:t>20.09.2023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77046-6E48-42D9-B426-8F0C6253F96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28CCF-78F0-465C-AF5B-F02329219A24}" type="datetimeFigureOut">
              <a:rPr lang="ru-RU"/>
              <a:pPr>
                <a:defRPr/>
              </a:pPr>
              <a:t>20.09.2023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C7DA4-81B3-45A1-B802-60EFB6F1612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A0EF6-3322-4EEB-B786-EF607C540F87}" type="datetimeFigureOut">
              <a:rPr lang="ru-RU"/>
              <a:pPr>
                <a:defRPr/>
              </a:pPr>
              <a:t>20.09.2023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12405-15EC-4D6A-943B-0EFC6E0BED0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07EF86E-6159-484F-B7B1-B844DFB9C682}" type="datetimeFigureOut">
              <a:rPr lang="ru-RU"/>
              <a:pPr>
                <a:defRPr/>
              </a:pPr>
              <a:t>20.09.2023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17C01D-863C-496B-8E6E-47B47E93898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Заголовок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/>
          <a:lstStyle/>
          <a:p>
            <a:pPr eaLnBrk="1" hangingPunct="1"/>
            <a:r>
              <a:rPr lang="ru-RU" smtClean="0"/>
              <a:t>Лекция № 2-4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957513"/>
            <a:ext cx="9144000" cy="16557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sz="4400" dirty="0" smtClean="0">
                <a:solidFill>
                  <a:schemeClr val="accent1">
                    <a:lumMod val="50000"/>
                  </a:schemeClr>
                </a:solidFill>
              </a:rPr>
              <a:t>Основные определения. Требования к криптосистемам</a:t>
            </a:r>
            <a:endParaRPr lang="ru-RU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29150" y="157163"/>
            <a:ext cx="7391400" cy="5635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Криптология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38" name="AutoShape 3"/>
          <p:cNvSpPr>
            <a:spLocks noChangeArrowheads="1"/>
          </p:cNvSpPr>
          <p:nvPr/>
        </p:nvSpPr>
        <p:spPr bwMode="auto">
          <a:xfrm>
            <a:off x="7277100" y="2282825"/>
            <a:ext cx="3224213" cy="5715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ru-RU" altLang="ru-RU">
              <a:latin typeface="Verdana" pitchFamily="34" charset="0"/>
            </a:endParaRPr>
          </a:p>
        </p:txBody>
      </p:sp>
      <p:sp>
        <p:nvSpPr>
          <p:cNvPr id="14339" name="Text Box 6"/>
          <p:cNvSpPr txBox="1">
            <a:spLocks noChangeArrowheads="1"/>
          </p:cNvSpPr>
          <p:nvPr/>
        </p:nvSpPr>
        <p:spPr bwMode="auto">
          <a:xfrm>
            <a:off x="1651000" y="2198688"/>
            <a:ext cx="29289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/>
            <a:r>
              <a:rPr lang="ru-RU" altLang="ru-RU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Криптография </a:t>
            </a:r>
            <a:r>
              <a:rPr lang="ru-RU" altLang="ru-RU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altLang="ru-RU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>
                <a:latin typeface="Times New Roman" pitchFamily="18" charset="0"/>
                <a:cs typeface="Times New Roman" pitchFamily="18" charset="0"/>
              </a:rPr>
              <a:t>синтез шифров, их создание.</a:t>
            </a:r>
            <a:endParaRPr lang="en-US" altLang="ru-RU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reeform 10"/>
          <p:cNvSpPr>
            <a:spLocks/>
          </p:cNvSpPr>
          <p:nvPr/>
        </p:nvSpPr>
        <p:spPr bwMode="gray">
          <a:xfrm flipH="1">
            <a:off x="6300788" y="2065338"/>
            <a:ext cx="903287" cy="534987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cs typeface="+mn-cs"/>
            </a:endParaRPr>
          </a:p>
        </p:txBody>
      </p:sp>
      <p:sp>
        <p:nvSpPr>
          <p:cNvPr id="14341" name="Text Box 19"/>
          <p:cNvSpPr txBox="1">
            <a:spLocks noChangeArrowheads="1"/>
          </p:cNvSpPr>
          <p:nvPr/>
        </p:nvSpPr>
        <p:spPr bwMode="auto">
          <a:xfrm>
            <a:off x="1849438" y="717550"/>
            <a:ext cx="8899525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ru-RU" altLang="ru-RU" sz="2400">
                <a:latin typeface="Times New Roman" pitchFamily="18" charset="0"/>
                <a:cs typeface="Times New Roman" pitchFamily="18" charset="0"/>
              </a:rPr>
              <a:t>Криптология – наука о тайном (” cryptos” -  тайна, “logos” - наука).</a:t>
            </a:r>
          </a:p>
        </p:txBody>
      </p:sp>
      <p:grpSp>
        <p:nvGrpSpPr>
          <p:cNvPr id="14342" name="Группа 22"/>
          <p:cNvGrpSpPr>
            <a:grpSpLocks/>
          </p:cNvGrpSpPr>
          <p:nvPr/>
        </p:nvGrpSpPr>
        <p:grpSpPr bwMode="auto">
          <a:xfrm>
            <a:off x="4845050" y="1230313"/>
            <a:ext cx="2333625" cy="727075"/>
            <a:chOff x="3427756" y="2214555"/>
            <a:chExt cx="2333278" cy="940741"/>
          </a:xfrm>
        </p:grpSpPr>
        <p:grpSp>
          <p:nvGrpSpPr>
            <p:cNvPr id="14347" name="Group 11"/>
            <p:cNvGrpSpPr>
              <a:grpSpLocks/>
            </p:cNvGrpSpPr>
            <p:nvPr/>
          </p:nvGrpSpPr>
          <p:grpSpPr bwMode="auto">
            <a:xfrm>
              <a:off x="3427756" y="2214555"/>
              <a:ext cx="2333278" cy="940741"/>
              <a:chOff x="1996" y="1314"/>
              <a:chExt cx="1890" cy="1010"/>
            </a:xfrm>
          </p:grpSpPr>
          <p:grpSp>
            <p:nvGrpSpPr>
              <p:cNvPr id="14349" name="Group 12"/>
              <p:cNvGrpSpPr>
                <a:grpSpLocks/>
              </p:cNvGrpSpPr>
              <p:nvPr/>
            </p:nvGrpSpPr>
            <p:grpSpPr bwMode="auto">
              <a:xfrm>
                <a:off x="1996" y="1404"/>
                <a:ext cx="1890" cy="920"/>
                <a:chOff x="1972" y="1026"/>
                <a:chExt cx="1927" cy="938"/>
              </a:xfrm>
            </p:grpSpPr>
            <p:sp>
              <p:nvSpPr>
                <p:cNvPr id="18" name="Oval 13"/>
                <p:cNvSpPr>
                  <a:spLocks noChangeArrowheads="1"/>
                </p:cNvSpPr>
                <p:nvPr/>
              </p:nvSpPr>
              <p:spPr bwMode="gray">
                <a:xfrm>
                  <a:off x="1994" y="1058"/>
                  <a:ext cx="1905" cy="90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8627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cs typeface="+mn-cs"/>
                  </a:endParaRPr>
                </a:p>
              </p:txBody>
            </p:sp>
            <p:sp>
              <p:nvSpPr>
                <p:cNvPr id="19" name="Oval 14"/>
                <p:cNvSpPr>
                  <a:spLocks noChangeArrowheads="1"/>
                </p:cNvSpPr>
                <p:nvPr/>
              </p:nvSpPr>
              <p:spPr bwMode="gray">
                <a:xfrm>
                  <a:off x="1972" y="1026"/>
                  <a:ext cx="1905" cy="90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44314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ru-RU">
                    <a:cs typeface="+mn-cs"/>
                  </a:endParaRPr>
                </a:p>
              </p:txBody>
            </p:sp>
          </p:grpSp>
          <p:sp>
            <p:nvSpPr>
              <p:cNvPr id="14" name="Oval 15"/>
              <p:cNvSpPr>
                <a:spLocks noChangeArrowheads="1"/>
              </p:cNvSpPr>
              <p:nvPr/>
            </p:nvSpPr>
            <p:spPr bwMode="gray">
              <a:xfrm>
                <a:off x="2086" y="1314"/>
                <a:ext cx="1691" cy="845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cs typeface="+mn-cs"/>
                </a:endParaRPr>
              </a:p>
            </p:txBody>
          </p:sp>
          <p:sp>
            <p:nvSpPr>
              <p:cNvPr id="15" name="Oval 16"/>
              <p:cNvSpPr>
                <a:spLocks noChangeArrowheads="1"/>
              </p:cNvSpPr>
              <p:nvPr/>
            </p:nvSpPr>
            <p:spPr bwMode="gray">
              <a:xfrm>
                <a:off x="2108" y="1318"/>
                <a:ext cx="1650" cy="825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gamma/>
                      <a:tint val="34902"/>
                      <a:invGamma/>
                    </a:schemeClr>
                  </a:gs>
                </a:gsLst>
                <a:lin ang="27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cs typeface="+mn-cs"/>
                </a:endParaRPr>
              </a:p>
            </p:txBody>
          </p:sp>
          <p:sp>
            <p:nvSpPr>
              <p:cNvPr id="16" name="Oval 17"/>
              <p:cNvSpPr>
                <a:spLocks noChangeArrowheads="1"/>
              </p:cNvSpPr>
              <p:nvPr/>
            </p:nvSpPr>
            <p:spPr bwMode="gray">
              <a:xfrm>
                <a:off x="2125" y="1327"/>
                <a:ext cx="1570" cy="770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79216"/>
                      <a:invGamma/>
                    </a:schemeClr>
                  </a:gs>
                  <a:gs pos="100000">
                    <a:schemeClr val="accent1">
                      <a:alpha val="48000"/>
                    </a:schemeClr>
                  </a:gs>
                </a:gsLst>
                <a:lin ang="27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cs typeface="+mn-cs"/>
                </a:endParaRPr>
              </a:p>
            </p:txBody>
          </p:sp>
          <p:sp>
            <p:nvSpPr>
              <p:cNvPr id="17" name="Oval 18"/>
              <p:cNvSpPr>
                <a:spLocks noChangeArrowheads="1"/>
              </p:cNvSpPr>
              <p:nvPr/>
            </p:nvSpPr>
            <p:spPr bwMode="gray">
              <a:xfrm>
                <a:off x="2208" y="1345"/>
                <a:ext cx="1382" cy="62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100000">
                    <a:schemeClr val="accent1">
                      <a:alpha val="38000"/>
                    </a:schemeClr>
                  </a:gs>
                </a:gsLst>
                <a:lin ang="27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cs typeface="+mn-cs"/>
                </a:endParaRPr>
              </a:p>
            </p:txBody>
          </p:sp>
        </p:grp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3703940" y="2294661"/>
              <a:ext cx="2038047" cy="5135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20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cs"/>
                </a:rPr>
                <a:t>Криптология</a:t>
              </a:r>
              <a:endParaRPr 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endParaRPr>
            </a:p>
          </p:txBody>
        </p:sp>
      </p:grpSp>
      <p:sp>
        <p:nvSpPr>
          <p:cNvPr id="14343" name="Text Box 19"/>
          <p:cNvSpPr txBox="1">
            <a:spLocks noChangeArrowheads="1"/>
          </p:cNvSpPr>
          <p:nvPr/>
        </p:nvSpPr>
        <p:spPr bwMode="auto">
          <a:xfrm>
            <a:off x="328613" y="3459163"/>
            <a:ext cx="11537950" cy="274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</a:pPr>
            <a:r>
              <a:rPr lang="ru-RU" altLang="ru-RU">
                <a:latin typeface="Times New Roman" pitchFamily="18" charset="0"/>
                <a:cs typeface="Times New Roman" pitchFamily="18" charset="0"/>
              </a:rPr>
              <a:t>                                 Современная криптография делится на две части:</a:t>
            </a:r>
          </a:p>
          <a:p>
            <a:pPr algn="just">
              <a:lnSpc>
                <a:spcPct val="80000"/>
              </a:lnSpc>
              <a:buClr>
                <a:srgbClr val="677EDF"/>
              </a:buClr>
              <a:buFont typeface="Wingdings" pitchFamily="2" charset="2"/>
              <a:buChar char="§"/>
            </a:pPr>
            <a:r>
              <a:rPr lang="ru-RU" altLang="ru-RU">
                <a:latin typeface="Times New Roman" pitchFamily="18" charset="0"/>
                <a:cs typeface="Times New Roman" pitchFamily="18" charset="0"/>
              </a:rPr>
              <a:t>   Симметричная</a:t>
            </a:r>
          </a:p>
          <a:p>
            <a:pPr algn="just">
              <a:lnSpc>
                <a:spcPct val="80000"/>
              </a:lnSpc>
              <a:buClr>
                <a:srgbClr val="677EDF"/>
              </a:buClr>
              <a:buFont typeface="Wingdings" pitchFamily="2" charset="2"/>
              <a:buChar char="§"/>
            </a:pPr>
            <a:r>
              <a:rPr lang="ru-RU" altLang="ru-RU">
                <a:latin typeface="Times New Roman" pitchFamily="18" charset="0"/>
                <a:cs typeface="Times New Roman" pitchFamily="18" charset="0"/>
              </a:rPr>
              <a:t>   Асимметричная</a:t>
            </a:r>
          </a:p>
          <a:p>
            <a:pPr algn="just">
              <a:lnSpc>
                <a:spcPct val="80000"/>
              </a:lnSpc>
            </a:pPr>
            <a:r>
              <a:rPr lang="ru-RU" altLang="ru-RU">
                <a:latin typeface="Times New Roman" pitchFamily="18" charset="0"/>
                <a:cs typeface="Times New Roman" pitchFamily="18" charset="0"/>
              </a:rPr>
              <a:t>                                         Симметричные криптосистемы бывают:</a:t>
            </a:r>
          </a:p>
          <a:p>
            <a:pPr algn="just">
              <a:lnSpc>
                <a:spcPct val="80000"/>
              </a:lnSpc>
              <a:buClr>
                <a:srgbClr val="677EDF"/>
              </a:buClr>
              <a:buFont typeface="Wingdings" pitchFamily="2" charset="2"/>
              <a:buChar char="§"/>
            </a:pPr>
            <a:r>
              <a:rPr lang="ru-RU" altLang="ru-RU">
                <a:latin typeface="Times New Roman" pitchFamily="18" charset="0"/>
                <a:cs typeface="Times New Roman" pitchFamily="18" charset="0"/>
              </a:rPr>
              <a:t>   Блочные</a:t>
            </a:r>
          </a:p>
          <a:p>
            <a:pPr algn="just">
              <a:lnSpc>
                <a:spcPct val="80000"/>
              </a:lnSpc>
              <a:buClr>
                <a:srgbClr val="677EDF"/>
              </a:buClr>
              <a:buFont typeface="Wingdings" pitchFamily="2" charset="2"/>
              <a:buChar char="§"/>
            </a:pPr>
            <a:r>
              <a:rPr lang="ru-RU" altLang="ru-RU">
                <a:latin typeface="Times New Roman" pitchFamily="18" charset="0"/>
                <a:cs typeface="Times New Roman" pitchFamily="18" charset="0"/>
              </a:rPr>
              <a:t>   Поточные</a:t>
            </a:r>
          </a:p>
          <a:p>
            <a:pPr algn="just">
              <a:lnSpc>
                <a:spcPct val="80000"/>
              </a:lnSpc>
              <a:buClr>
                <a:srgbClr val="677EDF"/>
              </a:buClr>
              <a:buFont typeface="Wingdings" pitchFamily="2" charset="2"/>
              <a:buChar char="§"/>
            </a:pPr>
            <a:endParaRPr lang="ru-RU" altLang="ru-RU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buClr>
                <a:srgbClr val="677EDF"/>
              </a:buClr>
              <a:buFont typeface="Wingdings" pitchFamily="2" charset="2"/>
              <a:buChar char="§"/>
            </a:pPr>
            <a:endParaRPr lang="ru-RU" altLang="ru-RU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ru-RU" altLang="ru-RU" sz="1600">
                <a:latin typeface="Times New Roman" pitchFamily="18" charset="0"/>
                <a:cs typeface="Times New Roman" pitchFamily="18" charset="0"/>
              </a:rPr>
              <a:t>Блочные очень хорошо реализованы программно, так как информация обрабатывается блоками.</a:t>
            </a:r>
          </a:p>
          <a:p>
            <a:pPr algn="just">
              <a:lnSpc>
                <a:spcPct val="80000"/>
              </a:lnSpc>
            </a:pPr>
            <a:r>
              <a:rPr lang="ru-RU" altLang="ru-RU" sz="1600">
                <a:latin typeface="Times New Roman" pitchFamily="18" charset="0"/>
                <a:cs typeface="Times New Roman" pitchFamily="18" charset="0"/>
              </a:rPr>
              <a:t>Поточные имеют аппаратную реализацию в виде специализированных устройств.</a:t>
            </a:r>
          </a:p>
          <a:p>
            <a:pPr algn="just">
              <a:lnSpc>
                <a:spcPct val="80000"/>
              </a:lnSpc>
              <a:buFont typeface="Arial" charset="0"/>
              <a:buNone/>
            </a:pPr>
            <a:r>
              <a:rPr lang="ru-RU" altLang="ru-RU">
                <a:latin typeface="Times New Roman" pitchFamily="18" charset="0"/>
                <a:cs typeface="Times New Roman" pitchFamily="18" charset="0"/>
              </a:rPr>
              <a:t>                                                     </a:t>
            </a:r>
          </a:p>
          <a:p>
            <a:pPr>
              <a:lnSpc>
                <a:spcPct val="80000"/>
              </a:lnSpc>
            </a:pPr>
            <a:endParaRPr lang="ru-RU" altLang="ru-RU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44" name="AutoShape 3"/>
          <p:cNvSpPr>
            <a:spLocks noChangeArrowheads="1"/>
          </p:cNvSpPr>
          <p:nvPr/>
        </p:nvSpPr>
        <p:spPr bwMode="auto">
          <a:xfrm>
            <a:off x="1531938" y="2244725"/>
            <a:ext cx="3224212" cy="5715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ru-RU" altLang="ru-RU">
              <a:latin typeface="Verdana" pitchFamily="34" charset="0"/>
            </a:endParaRPr>
          </a:p>
        </p:txBody>
      </p:sp>
      <p:sp>
        <p:nvSpPr>
          <p:cNvPr id="7" name="Freeform 8"/>
          <p:cNvSpPr>
            <a:spLocks/>
          </p:cNvSpPr>
          <p:nvPr/>
        </p:nvSpPr>
        <p:spPr bwMode="gray">
          <a:xfrm>
            <a:off x="4784725" y="2016125"/>
            <a:ext cx="911225" cy="534988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cs typeface="+mn-cs"/>
            </a:endParaRPr>
          </a:p>
        </p:txBody>
      </p:sp>
      <p:sp>
        <p:nvSpPr>
          <p:cNvPr id="14346" name="Text Box 20"/>
          <p:cNvSpPr txBox="1">
            <a:spLocks noChangeArrowheads="1"/>
          </p:cNvSpPr>
          <p:nvPr/>
        </p:nvSpPr>
        <p:spPr bwMode="auto">
          <a:xfrm>
            <a:off x="7370763" y="2222500"/>
            <a:ext cx="2995612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ru-RU" altLang="ru-RU">
                <a:latin typeface="Times New Roman" pitchFamily="18" charset="0"/>
                <a:cs typeface="Times New Roman" pitchFamily="18" charset="0"/>
              </a:rPr>
              <a:t>Криптоанализ – расшифрование, взлом.</a:t>
            </a:r>
          </a:p>
          <a:p>
            <a:pPr eaLnBrk="0" hangingPunct="0"/>
            <a:endParaRPr lang="en-US" altLang="ru-RU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29150" y="157163"/>
            <a:ext cx="7391400" cy="5635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Криптология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2" name="Text Box 19"/>
          <p:cNvSpPr txBox="1">
            <a:spLocks noChangeArrowheads="1"/>
          </p:cNvSpPr>
          <p:nvPr/>
        </p:nvSpPr>
        <p:spPr bwMode="auto">
          <a:xfrm>
            <a:off x="376238" y="1012825"/>
            <a:ext cx="11537950" cy="494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b="1"/>
              <a:t>Блочное шифрование</a:t>
            </a:r>
          </a:p>
          <a:p>
            <a:r>
              <a:rPr lang="ru-RU" altLang="ru-RU"/>
              <a:t>Если имеется сообщение М, которое состоит из многих блоков М1,….Мi,….Mn. Шифрование представляет некоторую функцию Е над сообщением  М и ключом К и реализуется:</a:t>
            </a:r>
          </a:p>
          <a:p>
            <a:r>
              <a:rPr lang="ru-RU" altLang="ru-RU"/>
              <a:t>                                        Ек(М) = Ек(М1), Ек(М2),….., Ек(Мi),….Ек(Мn), где </a:t>
            </a:r>
          </a:p>
          <a:p>
            <a:r>
              <a:rPr lang="ru-RU" altLang="ru-RU"/>
              <a:t> Мi,….Mn – блоки конкретной длины (64 бита), т.е. сообщение М разбивается на блоки определенной длины и каждый блок зашифрован одним и тем же алгоритмом, соответствующим шифру  Е и на одном и том же ключе К.</a:t>
            </a:r>
          </a:p>
          <a:p>
            <a:endParaRPr lang="ru-RU" altLang="ru-RU"/>
          </a:p>
          <a:p>
            <a:endParaRPr lang="ru-RU" altLang="ru-RU" b="1"/>
          </a:p>
          <a:p>
            <a:endParaRPr lang="ru-RU" b="1">
              <a:latin typeface="Times New Roman" pitchFamily="18" charset="0"/>
              <a:cs typeface="Times New Roman" pitchFamily="18" charset="0"/>
            </a:endParaRPr>
          </a:p>
          <a:p>
            <a:r>
              <a:rPr lang="ru-RU" b="1">
                <a:latin typeface="Times New Roman" pitchFamily="18" charset="0"/>
                <a:cs typeface="Times New Roman" pitchFamily="18" charset="0"/>
              </a:rPr>
              <a:t>Асимметричные (или с открытым (публичным) ключом)</a:t>
            </a:r>
          </a:p>
          <a:p>
            <a:r>
              <a:rPr lang="ru-RU"/>
              <a:t>В системах с открытым ключом используются два ключа - открытый (публичный) и закрытый (секретный), которые математически связаны друг с другом. Информация зашифровы</a:t>
            </a:r>
            <a:r>
              <a:rPr lang="ru-RU">
                <a:latin typeface="Times New Roman" pitchFamily="18" charset="0"/>
              </a:rPr>
              <a:t>­</a:t>
            </a:r>
            <a:r>
              <a:rPr lang="ru-RU"/>
              <a:t>вается с помощью открытого ключа, который доступен всем желающим, а расшифровывается с помощью закрытого ключа, известного только получателю сообщения.</a:t>
            </a:r>
          </a:p>
          <a:p>
            <a:pPr algn="just">
              <a:lnSpc>
                <a:spcPct val="80000"/>
              </a:lnSpc>
            </a:pPr>
            <a:endParaRPr lang="ru-RU" altLang="ru-RU"/>
          </a:p>
          <a:p>
            <a:pPr>
              <a:lnSpc>
                <a:spcPct val="80000"/>
              </a:lnSpc>
            </a:pPr>
            <a:endParaRPr lang="ru-RU" altLang="ru-RU"/>
          </a:p>
          <a:p>
            <a:pPr>
              <a:lnSpc>
                <a:spcPct val="80000"/>
              </a:lnSpc>
            </a:pPr>
            <a:endParaRPr lang="ru-RU" altLang="ru-RU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b="1" smtClean="0">
                <a:solidFill>
                  <a:schemeClr val="accent1"/>
                </a:solidFill>
              </a:rPr>
              <a:t>Основные понятия.</a:t>
            </a:r>
            <a:r>
              <a:rPr lang="ru-RU" altLang="ru-RU" smtClean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60488"/>
            <a:ext cx="10515600" cy="4351337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ru-RU" altLang="ru-RU" b="1" i="1" dirty="0" err="1" smtClean="0">
                <a:solidFill>
                  <a:schemeClr val="accent1"/>
                </a:solidFill>
              </a:rPr>
              <a:t>Криптология</a:t>
            </a:r>
            <a:r>
              <a:rPr lang="ru-RU" altLang="ru-RU" b="1" i="1" dirty="0" smtClean="0">
                <a:solidFill>
                  <a:schemeClr val="accent1"/>
                </a:solidFill>
              </a:rPr>
              <a:t> </a:t>
            </a:r>
            <a:r>
              <a:rPr lang="ru-RU" altLang="ru-RU" dirty="0" smtClean="0"/>
              <a:t>– н</a:t>
            </a:r>
            <a:r>
              <a:rPr lang="ru-RU" dirty="0" smtClean="0"/>
              <a:t>аука, изучающей математические методы защиты информации путем ее преобразования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altLang="ru-RU" b="1" i="1" dirty="0" smtClean="0">
                <a:solidFill>
                  <a:schemeClr val="accent1"/>
                </a:solidFill>
              </a:rPr>
              <a:t>Криптография</a:t>
            </a:r>
            <a:r>
              <a:rPr lang="ru-RU" altLang="ru-RU" dirty="0" smtClean="0"/>
              <a:t>– </a:t>
            </a:r>
            <a:r>
              <a:rPr lang="ru-RU" dirty="0" smtClean="0"/>
              <a:t>изучает методы преобразования информации, обеспечивающие ее конфиденциальность и аутентичность.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dirty="0" smtClean="0"/>
              <a:t>Под </a:t>
            </a:r>
            <a:r>
              <a:rPr lang="ru-RU" b="1" i="1" dirty="0" smtClean="0">
                <a:solidFill>
                  <a:schemeClr val="accent1"/>
                </a:solidFill>
              </a:rPr>
              <a:t>конфиденциальностью</a:t>
            </a:r>
            <a:r>
              <a:rPr lang="ru-RU" i="1" dirty="0" smtClean="0"/>
              <a:t> </a:t>
            </a:r>
            <a:r>
              <a:rPr lang="ru-RU" dirty="0" smtClean="0"/>
              <a:t>понимают невозможность получения информации из преобразованного массива без знания дополнительной информации (ключа).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b="1" i="1" dirty="0" smtClean="0">
                <a:solidFill>
                  <a:schemeClr val="accent1"/>
                </a:solidFill>
              </a:rPr>
              <a:t>Аутентичность</a:t>
            </a:r>
            <a:r>
              <a:rPr lang="ru-RU" b="1" dirty="0" smtClean="0"/>
              <a:t> </a:t>
            </a:r>
            <a:r>
              <a:rPr lang="ru-RU" dirty="0" smtClean="0"/>
              <a:t>информации состоит в </a:t>
            </a:r>
            <a:r>
              <a:rPr lang="ru-RU" i="1" dirty="0" smtClean="0"/>
              <a:t>подлинности авторства </a:t>
            </a:r>
            <a:r>
              <a:rPr lang="ru-RU" dirty="0" smtClean="0"/>
              <a:t>и </a:t>
            </a:r>
            <a:r>
              <a:rPr lang="ru-RU" i="1" dirty="0" smtClean="0"/>
              <a:t>целостности.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b="1" i="1" dirty="0" err="1" smtClean="0">
                <a:solidFill>
                  <a:schemeClr val="accent1"/>
                </a:solidFill>
              </a:rPr>
              <a:t>Криптоанализ</a:t>
            </a:r>
            <a:r>
              <a:rPr lang="ru-RU" b="1" dirty="0" smtClean="0"/>
              <a:t> </a:t>
            </a:r>
            <a:r>
              <a:rPr lang="ru-RU" dirty="0" smtClean="0"/>
              <a:t>объединяет математические методы нарушения конфиденциальности и аутентичности информации без знания ключей.</a:t>
            </a:r>
            <a:endParaRPr lang="ru-RU" i="1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b="1" smtClean="0">
                <a:solidFill>
                  <a:schemeClr val="accent1"/>
                </a:solidFill>
              </a:rPr>
              <a:t>Основные понятия.</a:t>
            </a:r>
            <a:r>
              <a:rPr lang="ru-RU" altLang="ru-RU" smtClean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84300"/>
            <a:ext cx="10515600" cy="4351338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ru-RU" altLang="ru-RU" b="1" i="1" dirty="0" smtClean="0">
                <a:solidFill>
                  <a:schemeClr val="accent1"/>
                </a:solidFill>
              </a:rPr>
              <a:t>Алгоритм шифрования (шифр)</a:t>
            </a:r>
            <a:r>
              <a:rPr lang="ru-RU" altLang="ru-RU" dirty="0" smtClean="0">
                <a:solidFill>
                  <a:schemeClr val="accent1"/>
                </a:solidFill>
              </a:rPr>
              <a:t> </a:t>
            </a:r>
            <a:r>
              <a:rPr lang="ru-RU" altLang="ru-RU" dirty="0" smtClean="0"/>
              <a:t>– некоторое обратимое математическое преобразование сообщения с целью сокрытия его содержания.</a:t>
            </a:r>
            <a:endParaRPr lang="ru-RU" altLang="ru-RU" b="1" i="1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altLang="ru-RU" b="1" i="1" dirty="0" smtClean="0">
                <a:solidFill>
                  <a:schemeClr val="accent1"/>
                </a:solidFill>
              </a:rPr>
              <a:t>Раунд (цикл) шифрования</a:t>
            </a:r>
            <a:r>
              <a:rPr lang="ru-RU" altLang="ru-RU" dirty="0" smtClean="0">
                <a:solidFill>
                  <a:schemeClr val="accent1"/>
                </a:solidFill>
              </a:rPr>
              <a:t> </a:t>
            </a:r>
            <a:r>
              <a:rPr lang="ru-RU" altLang="ru-RU" dirty="0" smtClean="0"/>
              <a:t>– последовательность действий, многократно повторяемая для </a:t>
            </a:r>
            <a:r>
              <a:rPr lang="ru-RU" altLang="ru-RU" dirty="0" err="1" smtClean="0"/>
              <a:t>зашифрования</a:t>
            </a:r>
            <a:r>
              <a:rPr lang="ru-RU" altLang="ru-RU" dirty="0" smtClean="0"/>
              <a:t> или дешифрования сообщений.</a:t>
            </a:r>
            <a:endParaRPr lang="ru-RU" altLang="ru-RU" b="1" i="1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altLang="ru-RU" b="1" i="1" dirty="0" smtClean="0">
                <a:solidFill>
                  <a:schemeClr val="accent1"/>
                </a:solidFill>
              </a:rPr>
              <a:t>Открытый текст</a:t>
            </a:r>
            <a:r>
              <a:rPr lang="ru-RU" altLang="ru-RU" dirty="0" smtClean="0">
                <a:solidFill>
                  <a:schemeClr val="accent1"/>
                </a:solidFill>
              </a:rPr>
              <a:t> </a:t>
            </a:r>
            <a:r>
              <a:rPr lang="ru-RU" altLang="ru-RU" dirty="0" smtClean="0"/>
              <a:t>– сообщение, подлежащее </a:t>
            </a:r>
            <a:r>
              <a:rPr lang="ru-RU" altLang="ru-RU" dirty="0" err="1" smtClean="0"/>
              <a:t>зашифрованию</a:t>
            </a:r>
            <a:r>
              <a:rPr lang="ru-RU" altLang="ru-RU" dirty="0" smtClean="0"/>
              <a:t>.</a:t>
            </a:r>
            <a:endParaRPr lang="ru-RU" altLang="ru-RU" b="1" i="1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altLang="ru-RU" b="1" i="1" dirty="0" smtClean="0">
                <a:solidFill>
                  <a:schemeClr val="accent1"/>
                </a:solidFill>
              </a:rPr>
              <a:t>Закрытый текст (</a:t>
            </a:r>
            <a:r>
              <a:rPr lang="ru-RU" altLang="ru-RU" b="1" i="1" dirty="0" err="1" smtClean="0">
                <a:solidFill>
                  <a:schemeClr val="accent1"/>
                </a:solidFill>
              </a:rPr>
              <a:t>шифртекст</a:t>
            </a:r>
            <a:r>
              <a:rPr lang="ru-RU" altLang="ru-RU" b="1" i="1" dirty="0" smtClean="0">
                <a:solidFill>
                  <a:schemeClr val="accent1"/>
                </a:solidFill>
              </a:rPr>
              <a:t>)</a:t>
            </a:r>
            <a:r>
              <a:rPr lang="ru-RU" altLang="ru-RU" dirty="0" smtClean="0">
                <a:solidFill>
                  <a:schemeClr val="accent1"/>
                </a:solidFill>
              </a:rPr>
              <a:t> </a:t>
            </a:r>
            <a:r>
              <a:rPr lang="ru-RU" altLang="ru-RU" dirty="0" smtClean="0"/>
              <a:t>– сообщение, полученное в результате </a:t>
            </a:r>
            <a:r>
              <a:rPr lang="ru-RU" altLang="ru-RU" dirty="0" err="1" smtClean="0"/>
              <a:t>зашифрования</a:t>
            </a:r>
            <a:r>
              <a:rPr lang="ru-RU" altLang="ru-RU" dirty="0" smtClean="0"/>
              <a:t> открытого сообщения.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altLang="ru-RU" b="1" i="1" dirty="0" smtClean="0">
                <a:solidFill>
                  <a:schemeClr val="accent1"/>
                </a:solidFill>
              </a:rPr>
              <a:t>Ключ</a:t>
            </a:r>
            <a:r>
              <a:rPr lang="ru-RU" altLang="ru-RU" dirty="0" smtClean="0"/>
              <a:t> – конкретное значение некоторых параметров алго­ритма криптографического </a:t>
            </a:r>
            <a:r>
              <a:rPr lang="ru-RU" altLang="ru-RU" dirty="0" smtClean="0"/>
              <a:t>преобразования. </a:t>
            </a:r>
            <a:r>
              <a:rPr lang="ru-RU" altLang="ru-RU" dirty="0" smtClean="0"/>
              <a:t>Секретность ключа должна обеспечивать невозможность восстановление исходного текста по шифрованному.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-228600"/>
            <a:ext cx="10515600" cy="1325563"/>
          </a:xfrm>
        </p:spPr>
        <p:txBody>
          <a:bodyPr/>
          <a:lstStyle/>
          <a:p>
            <a:pPr algn="ctr" eaLnBrk="1" hangingPunct="1"/>
            <a:r>
              <a:rPr lang="ru-RU" altLang="ru-RU" b="1" smtClean="0">
                <a:solidFill>
                  <a:schemeClr val="accent1"/>
                </a:solidFill>
              </a:rPr>
              <a:t>Основные понятия.</a:t>
            </a:r>
            <a:r>
              <a:rPr lang="ru-RU" altLang="ru-RU" smtClean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8" y="1050925"/>
            <a:ext cx="12031662" cy="4351338"/>
          </a:xfrm>
        </p:spPr>
        <p:txBody>
          <a:bodyPr/>
          <a:lstStyle/>
          <a:p>
            <a:pPr eaLnBrk="1" hangingPunct="1"/>
            <a:r>
              <a:rPr lang="ru-RU" b="1" i="1" smtClean="0">
                <a:solidFill>
                  <a:schemeClr val="accent1"/>
                </a:solidFill>
              </a:rPr>
              <a:t>Зашифрование </a:t>
            </a:r>
            <a:r>
              <a:rPr lang="ru-RU" smtClean="0"/>
              <a:t>- процесс преобразования открытых данных в зашифрованные при помощи шифра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b="1" i="1" smtClean="0">
                <a:solidFill>
                  <a:schemeClr val="accent1"/>
                </a:solidFill>
              </a:rPr>
              <a:t>Расшифрование</a:t>
            </a:r>
            <a:r>
              <a:rPr lang="ru-RU" i="1" smtClean="0"/>
              <a:t> -</a:t>
            </a:r>
            <a:r>
              <a:rPr lang="ru-RU" smtClean="0"/>
              <a:t> процесс, обратный зашифрованию, т.е процесс преобразования зашифрованных данных в открытые при помощи ключа.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b="1" i="1" smtClean="0">
                <a:solidFill>
                  <a:schemeClr val="accent1"/>
                </a:solidFill>
              </a:rPr>
              <a:t>Дешифрование - </a:t>
            </a:r>
            <a:r>
              <a:rPr lang="ru-RU" smtClean="0"/>
              <a:t>восстановление исходного текста на основе шифрованного без знания ключа, то есть методами криптоанализа. 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b="1" i="1" smtClean="0">
                <a:solidFill>
                  <a:schemeClr val="accent1"/>
                </a:solidFill>
              </a:rPr>
              <a:t>Шифрованием </a:t>
            </a:r>
            <a:r>
              <a:rPr lang="ru-RU" smtClean="0"/>
              <a:t>понимается процесс зашифрования или расшифрования. </a:t>
            </a:r>
          </a:p>
          <a:p>
            <a:pPr eaLnBrk="1" hangingPunct="1"/>
            <a:r>
              <a:rPr lang="ru-RU" b="1" i="1" smtClean="0">
                <a:solidFill>
                  <a:schemeClr val="accent1"/>
                </a:solidFill>
              </a:rPr>
              <a:t>Криптографическая система</a:t>
            </a:r>
            <a:r>
              <a:rPr lang="ru-RU" i="1" smtClean="0"/>
              <a:t>,</a:t>
            </a:r>
            <a:r>
              <a:rPr lang="ru-RU" smtClean="0"/>
              <a:t> или </a:t>
            </a:r>
            <a:r>
              <a:rPr lang="ru-RU" b="1" i="1" smtClean="0">
                <a:solidFill>
                  <a:schemeClr val="accent1"/>
                </a:solidFill>
              </a:rPr>
              <a:t>шифр </a:t>
            </a:r>
            <a:r>
              <a:rPr lang="ru-RU" smtClean="0"/>
              <a:t>представляет собой семейство Т обратимых преобразований открытого текста в шифрованный. </a:t>
            </a:r>
          </a:p>
          <a:p>
            <a:pPr eaLnBrk="1" hangingPunct="1"/>
            <a:r>
              <a:rPr lang="ru-RU" smtClean="0"/>
              <a:t>Членам этого семейства можно взаимно однозначно сопоставить число </a:t>
            </a:r>
            <a:r>
              <a:rPr lang="ru-RU" i="1" smtClean="0"/>
              <a:t>к,</a:t>
            </a:r>
            <a:r>
              <a:rPr lang="ru-RU" smtClean="0"/>
              <a:t> называемое </a:t>
            </a:r>
            <a:r>
              <a:rPr lang="ru-RU" i="1" smtClean="0"/>
              <a:t>ключом.</a:t>
            </a:r>
            <a:r>
              <a:rPr lang="ru-RU" smtClean="0"/>
              <a:t> Преобразование </a:t>
            </a:r>
            <a:r>
              <a:rPr lang="ru-RU" i="1" smtClean="0"/>
              <a:t>Т</a:t>
            </a:r>
            <a:r>
              <a:rPr lang="ru-RU" i="1" baseline="-25000" smtClean="0"/>
              <a:t>к</a:t>
            </a:r>
            <a:r>
              <a:rPr lang="ru-RU" smtClean="0"/>
              <a:t> определяется соответствующим алгоритмом и значением ключа </a:t>
            </a:r>
            <a:r>
              <a:rPr lang="ru-RU" i="1" smtClean="0"/>
              <a:t>к.</a:t>
            </a:r>
            <a:endParaRPr lang="ru-RU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98450"/>
            <a:ext cx="10515600" cy="1325563"/>
          </a:xfrm>
        </p:spPr>
        <p:txBody>
          <a:bodyPr/>
          <a:lstStyle/>
          <a:p>
            <a:pPr algn="ctr" eaLnBrk="1" hangingPunct="1"/>
            <a:r>
              <a:rPr lang="ru-RU" altLang="ru-RU" b="1" smtClean="0">
                <a:solidFill>
                  <a:schemeClr val="accent1"/>
                </a:solidFill>
              </a:rPr>
              <a:t>Основные понятия.</a:t>
            </a:r>
            <a:r>
              <a:rPr lang="ru-RU" altLang="ru-RU" smtClean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3" y="742950"/>
            <a:ext cx="10515600" cy="4351338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Font typeface="Arial" charset="0"/>
              <a:buNone/>
            </a:pPr>
            <a:r>
              <a:rPr lang="ru-RU" altLang="ru-RU" sz="2400" b="1" i="1" smtClean="0">
                <a:solidFill>
                  <a:schemeClr val="accent1"/>
                </a:solidFill>
              </a:rPr>
              <a:t>Алфавит - </a:t>
            </a:r>
            <a:r>
              <a:rPr lang="ru-RU" sz="2400" i="1" smtClean="0"/>
              <a:t> </a:t>
            </a:r>
            <a:r>
              <a:rPr lang="ru-RU" sz="2400" smtClean="0"/>
              <a:t>конечное множество используемых для кодирования информации знаков.</a:t>
            </a:r>
          </a:p>
          <a:p>
            <a:pPr marL="0" indent="0" algn="just" eaLnBrk="1" hangingPunct="1">
              <a:lnSpc>
                <a:spcPct val="80000"/>
              </a:lnSpc>
              <a:buFont typeface="Arial" charset="0"/>
              <a:buNone/>
            </a:pPr>
            <a:r>
              <a:rPr lang="ru-RU" sz="2400" smtClean="0"/>
              <a:t>− алфавит </a:t>
            </a:r>
            <a:r>
              <a:rPr lang="ru-RU" sz="2400" i="1" smtClean="0"/>
              <a:t>Z</a:t>
            </a:r>
            <a:r>
              <a:rPr lang="ru-RU" sz="2400" smtClean="0"/>
              <a:t>33 – 32 буквы русского алфавита (исключая "ё") и пробел;</a:t>
            </a:r>
          </a:p>
          <a:p>
            <a:pPr marL="0" indent="0" eaLnBrk="1" hangingPunct="1">
              <a:buFont typeface="Arial" charset="0"/>
              <a:buNone/>
            </a:pPr>
            <a:r>
              <a:rPr lang="ru-RU" sz="2400" smtClean="0"/>
              <a:t>− алфавит </a:t>
            </a:r>
            <a:r>
              <a:rPr lang="ru-RU" sz="2400" i="1" smtClean="0"/>
              <a:t>Z</a:t>
            </a:r>
            <a:r>
              <a:rPr lang="ru-RU" sz="2400" smtClean="0"/>
              <a:t>256 – символы, входящие в стандартные коды ASCII и КОИ-8;</a:t>
            </a:r>
          </a:p>
          <a:p>
            <a:pPr marL="0" indent="0" eaLnBrk="1" hangingPunct="1">
              <a:buFont typeface="Arial" charset="0"/>
              <a:buNone/>
            </a:pPr>
            <a:r>
              <a:rPr lang="ru-RU" sz="2400" smtClean="0"/>
              <a:t>− двоичный алфавит – </a:t>
            </a:r>
            <a:r>
              <a:rPr lang="ru-RU" sz="2400" i="1" smtClean="0"/>
              <a:t>Z</a:t>
            </a:r>
            <a:r>
              <a:rPr lang="ru-RU" sz="2400" smtClean="0"/>
              <a:t>2 = {0, 1};</a:t>
            </a:r>
          </a:p>
          <a:p>
            <a:pPr marL="0" indent="0" eaLnBrk="1" hangingPunct="1">
              <a:buFont typeface="Arial" charset="0"/>
              <a:buNone/>
            </a:pPr>
            <a:r>
              <a:rPr lang="ru-RU" sz="2400" smtClean="0"/>
              <a:t>− восьмеричный или шестнадцатеричный алфавит.</a:t>
            </a:r>
          </a:p>
          <a:p>
            <a:pPr marL="0" indent="0" eaLnBrk="1" hangingPunct="1">
              <a:buFont typeface="Arial" charset="0"/>
              <a:buNone/>
            </a:pPr>
            <a:endParaRPr lang="ru-RU" sz="2400" smtClean="0"/>
          </a:p>
          <a:p>
            <a:pPr marL="0" indent="0" eaLnBrk="1" hangingPunct="1">
              <a:buFont typeface="Arial" charset="0"/>
              <a:buNone/>
            </a:pPr>
            <a:r>
              <a:rPr lang="ru-RU" sz="2400" b="1" i="1" smtClean="0">
                <a:solidFill>
                  <a:schemeClr val="accent1"/>
                </a:solidFill>
              </a:rPr>
              <a:t>Электронной (цифровой) подписью - </a:t>
            </a:r>
            <a:r>
              <a:rPr lang="ru-RU" sz="2400" smtClean="0"/>
              <a:t>называется присоединяемое к тексту его криптографическое преобразование, которое позволяет при получении текста другим пользователем проверить авторство и целостность сообщения.</a:t>
            </a:r>
          </a:p>
          <a:p>
            <a:pPr marL="0" indent="0" eaLnBrk="1" hangingPunct="1">
              <a:buFont typeface="Arial" charset="0"/>
              <a:buNone/>
            </a:pPr>
            <a:endParaRPr lang="ru-RU" sz="2400" smtClean="0"/>
          </a:p>
          <a:p>
            <a:pPr marL="0" indent="0" algn="just" eaLnBrk="1" hangingPunct="1">
              <a:lnSpc>
                <a:spcPct val="80000"/>
              </a:lnSpc>
            </a:pPr>
            <a:endParaRPr lang="ru-RU" altLang="ru-RU" sz="2400" b="1" i="1" smtClean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530225" y="111125"/>
            <a:ext cx="11220450" cy="1325563"/>
          </a:xfrm>
        </p:spPr>
        <p:txBody>
          <a:bodyPr/>
          <a:lstStyle/>
          <a:p>
            <a:pPr algn="ctr" eaLnBrk="1" hangingPunct="1"/>
            <a:r>
              <a:rPr lang="ru-RU" sz="3200" b="1" smtClean="0">
                <a:solidFill>
                  <a:srgbClr val="0070C0"/>
                </a:solidFill>
              </a:rPr>
              <a:t>ТРЕБОВАНИЯ К КРИПТОГРАФИЧЕСКИМ СИСТЕМАМ</a:t>
            </a:r>
            <a:r>
              <a:rPr lang="ru-RU" sz="4000" b="1" smtClean="0">
                <a:solidFill>
                  <a:srgbClr val="0070C0"/>
                </a:solidFill>
              </a:rPr>
              <a:t/>
            </a:r>
            <a:br>
              <a:rPr lang="ru-RU" sz="4000" b="1" smtClean="0">
                <a:solidFill>
                  <a:srgbClr val="0070C0"/>
                </a:solidFill>
              </a:rPr>
            </a:br>
            <a:endParaRPr lang="ru-RU" altLang="ru-RU" sz="4000" smtClean="0">
              <a:solidFill>
                <a:srgbClr val="0070C0"/>
              </a:solidFill>
            </a:endParaRP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4488" y="808038"/>
            <a:ext cx="11566525" cy="4351337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Font typeface="Arial" charset="0"/>
              <a:buNone/>
            </a:pPr>
            <a:r>
              <a:rPr lang="ru-RU" altLang="ru-RU" sz="3200" b="1" i="1" smtClean="0"/>
              <a:t>Независимо от способа реализации для современных крипто­графических систем защиты информации сформулированы сле­дующие общепринятые требования:</a:t>
            </a:r>
          </a:p>
          <a:p>
            <a:pPr marL="0" indent="0" algn="just" eaLnBrk="1" hangingPunct="1">
              <a:lnSpc>
                <a:spcPct val="80000"/>
              </a:lnSpc>
              <a:buFont typeface="Arial" charset="0"/>
              <a:buNone/>
            </a:pPr>
            <a:r>
              <a:rPr lang="ru-RU" altLang="ru-RU" sz="3000" b="1" i="1" smtClean="0"/>
              <a:t>1.  Знание алгоритма шифрования не должно снижать криптостойкости шифра.</a:t>
            </a:r>
          </a:p>
          <a:p>
            <a:pPr marL="0" indent="0" algn="just" eaLnBrk="1" hangingPunct="1">
              <a:lnSpc>
                <a:spcPct val="80000"/>
              </a:lnSpc>
              <a:buFont typeface="Arial" charset="0"/>
              <a:buNone/>
            </a:pPr>
            <a:r>
              <a:rPr lang="ru-RU" altLang="ru-RU" sz="3000" b="1" i="1" smtClean="0"/>
              <a:t>2. Зашифрованное сообщение должно поддаваться чтению только при наличии ключа.</a:t>
            </a:r>
          </a:p>
          <a:p>
            <a:pPr marL="0" indent="0" algn="just" eaLnBrk="1" hangingPunct="1">
              <a:lnSpc>
                <a:spcPct val="80000"/>
              </a:lnSpc>
              <a:buFont typeface="Arial" charset="0"/>
              <a:buNone/>
            </a:pPr>
            <a:r>
              <a:rPr lang="ru-RU" altLang="ru-RU" sz="3000" b="1" i="1" smtClean="0"/>
              <a:t>3. Шифр должен быть стойким даже если нарушителю известно достаточно большое количество исходных данных и соответствующих им зашифрованных данных.</a:t>
            </a:r>
          </a:p>
          <a:p>
            <a:pPr marL="0" indent="0" eaLnBrk="1" hangingPunct="1">
              <a:lnSpc>
                <a:spcPct val="80000"/>
              </a:lnSpc>
              <a:buFont typeface="Arial" charset="0"/>
              <a:buNone/>
            </a:pPr>
            <a:r>
              <a:rPr lang="ru-RU" sz="3000" b="1" i="1" smtClean="0"/>
              <a:t>4. Незначительное изменение ключа или исходного текста должно приводить к существенному изменению вида зашифрованного текста</a:t>
            </a:r>
          </a:p>
          <a:p>
            <a:pPr marL="0" indent="0" algn="just" eaLnBrk="1" hangingPunct="1">
              <a:lnSpc>
                <a:spcPct val="80000"/>
              </a:lnSpc>
              <a:buFont typeface="Arial" charset="0"/>
              <a:buNone/>
            </a:pPr>
            <a:endParaRPr lang="ru-RU" altLang="ru-RU" sz="3000" b="1" i="1" smtClean="0"/>
          </a:p>
          <a:p>
            <a:pPr marL="0" indent="0" algn="just" eaLnBrk="1" hangingPunct="1">
              <a:lnSpc>
                <a:spcPct val="80000"/>
              </a:lnSpc>
              <a:buFont typeface="Arial" charset="0"/>
              <a:buNone/>
            </a:pPr>
            <a:endParaRPr lang="ru-RU" altLang="ru-RU" sz="3200" b="1" i="1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111125"/>
            <a:ext cx="11220450" cy="1325563"/>
          </a:xfrm>
        </p:spPr>
        <p:txBody>
          <a:bodyPr/>
          <a:lstStyle/>
          <a:p>
            <a:pPr algn="ctr" eaLnBrk="1" hangingPunct="1"/>
            <a:r>
              <a:rPr lang="ru-RU" sz="3200" b="1" smtClean="0">
                <a:solidFill>
                  <a:srgbClr val="0070C0"/>
                </a:solidFill>
              </a:rPr>
              <a:t>ТРЕБОВАНИЯ К КРИПТОГРАФИЧЕСКИМ СИСТЕМАМ</a:t>
            </a:r>
            <a:br>
              <a:rPr lang="ru-RU" sz="3200" b="1" smtClean="0">
                <a:solidFill>
                  <a:srgbClr val="0070C0"/>
                </a:solidFill>
              </a:rPr>
            </a:br>
            <a:r>
              <a:rPr lang="ru-RU" sz="3200" b="1" smtClean="0">
                <a:solidFill>
                  <a:srgbClr val="0070C0"/>
                </a:solidFill>
              </a:rPr>
              <a:t/>
            </a:r>
            <a:br>
              <a:rPr lang="ru-RU" sz="3200" b="1" smtClean="0">
                <a:solidFill>
                  <a:srgbClr val="0070C0"/>
                </a:solidFill>
              </a:rPr>
            </a:br>
            <a:endParaRPr lang="ru-RU" altLang="ru-RU" sz="3200" b="1" smtClean="0">
              <a:solidFill>
                <a:srgbClr val="0070C0"/>
              </a:solidFill>
            </a:endParaRPr>
          </a:p>
        </p:txBody>
      </p:sp>
      <p:sp>
        <p:nvSpPr>
          <p:cNvPr id="21506" name="Объект 1"/>
          <p:cNvSpPr>
            <a:spLocks noGrp="1"/>
          </p:cNvSpPr>
          <p:nvPr>
            <p:ph idx="1"/>
          </p:nvPr>
        </p:nvSpPr>
        <p:spPr>
          <a:xfrm>
            <a:off x="334963" y="684213"/>
            <a:ext cx="11483975" cy="5492750"/>
          </a:xfrm>
        </p:spPr>
        <p:txBody>
          <a:bodyPr/>
          <a:lstStyle/>
          <a:p>
            <a:pPr marL="0" indent="0" algn="just" eaLnBrk="1" hangingPunct="1">
              <a:buFont typeface="Arial" charset="0"/>
              <a:buNone/>
            </a:pPr>
            <a:r>
              <a:rPr lang="ru-RU" altLang="ru-RU" sz="3000" b="1" i="1" smtClean="0"/>
              <a:t>5. Число операций, необходимых для расшифровывания ин­формации путем, перебора всевозможных ключей должно иметь строгую нижнюю оценку и должно либо выходить за пределы возможностей современных компьютеров (с учетом возможности организации сетевых вычислений) или требовать создания использования дорогих вычислительных систем. </a:t>
            </a:r>
          </a:p>
          <a:p>
            <a:pPr marL="0" indent="0" eaLnBrk="1" hangingPunct="1">
              <a:lnSpc>
                <a:spcPct val="80000"/>
              </a:lnSpc>
              <a:buFont typeface="Arial" charset="0"/>
              <a:buNone/>
            </a:pPr>
            <a:r>
              <a:rPr lang="ru-RU" sz="3000" b="1" i="1" smtClean="0"/>
              <a:t>6. Структурные элементы алгоритма шифрования должны быть неизменными</a:t>
            </a:r>
          </a:p>
          <a:p>
            <a:pPr marL="0" indent="0" eaLnBrk="1" hangingPunct="1">
              <a:lnSpc>
                <a:spcPct val="80000"/>
              </a:lnSpc>
              <a:buFont typeface="Arial" charset="0"/>
              <a:buNone/>
            </a:pPr>
            <a:r>
              <a:rPr lang="ru-RU" sz="3000" b="1" i="1" smtClean="0"/>
              <a:t>7. Длина шифрованного текста должна быть равной длине исходного текста</a:t>
            </a:r>
          </a:p>
          <a:p>
            <a:pPr marL="0" indent="0" eaLnBrk="1" hangingPunct="1">
              <a:lnSpc>
                <a:spcPct val="80000"/>
              </a:lnSpc>
              <a:buFont typeface="Arial" charset="0"/>
              <a:buNone/>
            </a:pPr>
            <a:r>
              <a:rPr lang="ru-RU" sz="3000" b="1" i="1" smtClean="0"/>
              <a:t>8. </a:t>
            </a:r>
            <a:r>
              <a:rPr lang="ru-RU" b="1" i="1" smtClean="0"/>
              <a:t>Дополнительные биты, вводимые в сообщение в процессе шифрования, должен быть полностью и надежно скрыты в шифрованном тексте.</a:t>
            </a:r>
            <a:r>
              <a:rPr lang="ru-RU" smtClean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5775" y="111125"/>
            <a:ext cx="11220450" cy="1325563"/>
          </a:xfrm>
        </p:spPr>
        <p:txBody>
          <a:bodyPr/>
          <a:lstStyle/>
          <a:p>
            <a:pPr algn="ctr" eaLnBrk="1" hangingPunct="1"/>
            <a:r>
              <a:rPr lang="ru-RU" sz="3200" b="1" smtClean="0">
                <a:solidFill>
                  <a:srgbClr val="0070C0"/>
                </a:solidFill>
              </a:rPr>
              <a:t>ТРЕБОВАНИЯ К КРИПТОГРАФИЧЕСКИМ СИСТЕМАМ</a:t>
            </a:r>
            <a:br>
              <a:rPr lang="ru-RU" sz="3200" b="1" smtClean="0">
                <a:solidFill>
                  <a:srgbClr val="0070C0"/>
                </a:solidFill>
              </a:rPr>
            </a:br>
            <a:r>
              <a:rPr lang="ru-RU" sz="3200" b="1" smtClean="0">
                <a:solidFill>
                  <a:srgbClr val="0070C0"/>
                </a:solidFill>
              </a:rPr>
              <a:t/>
            </a:r>
            <a:br>
              <a:rPr lang="ru-RU" sz="3200" b="1" smtClean="0">
                <a:solidFill>
                  <a:srgbClr val="0070C0"/>
                </a:solidFill>
              </a:rPr>
            </a:br>
            <a:endParaRPr lang="ru-RU" altLang="ru-RU" sz="3200" b="1" smtClean="0">
              <a:solidFill>
                <a:srgbClr val="0070C0"/>
              </a:solidFill>
            </a:endParaRPr>
          </a:p>
        </p:txBody>
      </p:sp>
      <p:sp>
        <p:nvSpPr>
          <p:cNvPr id="22530" name="Объект 1"/>
          <p:cNvSpPr>
            <a:spLocks noGrp="1"/>
          </p:cNvSpPr>
          <p:nvPr>
            <p:ph idx="4294967295"/>
          </p:nvPr>
        </p:nvSpPr>
        <p:spPr>
          <a:xfrm>
            <a:off x="334963" y="684213"/>
            <a:ext cx="11483975" cy="5492750"/>
          </a:xfrm>
        </p:spPr>
        <p:txBody>
          <a:bodyPr/>
          <a:lstStyle/>
          <a:p>
            <a:pPr marL="533400" indent="-533400" algn="just" eaLnBrk="1" hangingPunct="1">
              <a:buFont typeface="Arial" charset="0"/>
              <a:buNone/>
            </a:pPr>
            <a:r>
              <a:rPr lang="ru-RU" altLang="ru-RU" sz="3000" b="1" i="1" smtClean="0"/>
              <a:t>9. Не должно быть простых и легко устанавливаемых</a:t>
            </a:r>
          </a:p>
          <a:p>
            <a:pPr marL="533400" indent="-533400" algn="just" eaLnBrk="1" hangingPunct="1">
              <a:buFont typeface="Arial" charset="0"/>
              <a:buNone/>
            </a:pPr>
            <a:r>
              <a:rPr lang="ru-RU" altLang="ru-RU" sz="3000" b="1" i="1" smtClean="0"/>
              <a:t> зависимостей между ключами, последовательно</a:t>
            </a:r>
          </a:p>
          <a:p>
            <a:pPr marL="533400" indent="-533400" algn="just" eaLnBrk="1" hangingPunct="1">
              <a:buFont typeface="Arial" charset="0"/>
              <a:buNone/>
            </a:pPr>
            <a:r>
              <a:rPr lang="ru-RU" altLang="ru-RU" sz="3000" b="1" i="1" smtClean="0"/>
              <a:t> используемыми в процессе шифрования.</a:t>
            </a:r>
          </a:p>
          <a:p>
            <a:pPr marL="533400" indent="-533400" algn="just" eaLnBrk="1" hangingPunct="1">
              <a:buFont typeface="Arial" charset="0"/>
              <a:buNone/>
            </a:pPr>
            <a:r>
              <a:rPr lang="ru-RU" altLang="ru-RU" sz="3000" b="1" i="1" smtClean="0"/>
              <a:t>10. Любой ключ из множества возможных должен</a:t>
            </a:r>
          </a:p>
          <a:p>
            <a:pPr marL="533400" indent="-533400" algn="just" eaLnBrk="1" hangingPunct="1">
              <a:buFont typeface="Arial" charset="0"/>
              <a:buNone/>
            </a:pPr>
            <a:r>
              <a:rPr lang="ru-RU" altLang="ru-RU" sz="3000" b="1" i="1" smtClean="0"/>
              <a:t> обеспечивать равную криптостойкость.</a:t>
            </a:r>
            <a:endParaRPr lang="ru-RU" sz="3000" b="1" i="1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650</Words>
  <Application>Microsoft Office PowerPoint</Application>
  <PresentationFormat>Произвольный</PresentationFormat>
  <Paragraphs>73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Лекция № 2-4</vt:lpstr>
      <vt:lpstr>Криптология</vt:lpstr>
      <vt:lpstr>Криптология</vt:lpstr>
      <vt:lpstr>Основные понятия. </vt:lpstr>
      <vt:lpstr>Основные понятия. </vt:lpstr>
      <vt:lpstr>Основные понятия. </vt:lpstr>
      <vt:lpstr>Основные понятия. </vt:lpstr>
      <vt:lpstr>ТРЕБОВАНИЯ К КРИПТОГРАФИЧЕСКИМ СИСТЕМАМ </vt:lpstr>
      <vt:lpstr>ТРЕБОВАНИЯ К КРИПТОГРАФИЧЕСКИМ СИСТЕМАМ  </vt:lpstr>
      <vt:lpstr>ТРЕБОВАНИЯ К КРИПТОГРАФИЧЕСКИМ СИСТЕМАМ  </vt:lpstr>
    </vt:vector>
  </TitlesOfParts>
  <Company>diakov.net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2</dc:title>
  <dc:creator>RePack by Diakov</dc:creator>
  <cp:lastModifiedBy>User</cp:lastModifiedBy>
  <cp:revision>14</cp:revision>
  <dcterms:created xsi:type="dcterms:W3CDTF">2016-08-26T08:24:06Z</dcterms:created>
  <dcterms:modified xsi:type="dcterms:W3CDTF">2023-09-20T12:37:46Z</dcterms:modified>
</cp:coreProperties>
</file>