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07" r:id="rId2"/>
    <p:sldId id="310" r:id="rId3"/>
    <p:sldId id="312" r:id="rId4"/>
    <p:sldId id="311" r:id="rId5"/>
    <p:sldId id="313" r:id="rId6"/>
    <p:sldId id="315" r:id="rId7"/>
    <p:sldId id="301" r:id="rId8"/>
    <p:sldId id="300" r:id="rId9"/>
    <p:sldId id="314" r:id="rId10"/>
    <p:sldId id="302" r:id="rId11"/>
    <p:sldId id="316" r:id="rId12"/>
    <p:sldId id="303" r:id="rId13"/>
    <p:sldId id="309" r:id="rId14"/>
    <p:sldId id="317" r:id="rId15"/>
    <p:sldId id="318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6A0"/>
    <a:srgbClr val="FFFFFF"/>
    <a:srgbClr val="692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4" autoAdjust="0"/>
    <p:restoredTop sz="90426" autoAdjust="0"/>
  </p:normalViewPr>
  <p:slideViewPr>
    <p:cSldViewPr>
      <p:cViewPr varScale="1">
        <p:scale>
          <a:sx n="100" d="100"/>
          <a:sy n="100" d="100"/>
        </p:scale>
        <p:origin x="198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CFBCA1C-9D59-409E-9E56-A3F48A23AD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738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Majority (X1X2+X1X3+X2X3)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FBCA1C-9D59-409E-9E56-A3F48A23ADC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3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7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/>
            <a:ahLst/>
            <a:cxnLst>
              <a:cxn ang="0">
                <a:pos x="12" y="124"/>
              </a:cxn>
              <a:cxn ang="0">
                <a:pos x="1381" y="12"/>
              </a:cxn>
              <a:cxn ang="0">
                <a:pos x="4064" y="581"/>
              </a:cxn>
              <a:cxn ang="0">
                <a:pos x="5773" y="118"/>
              </a:cxn>
              <a:cxn ang="0">
                <a:pos x="5766" y="2151"/>
              </a:cxn>
              <a:cxn ang="0">
                <a:pos x="3966" y="2263"/>
              </a:cxn>
              <a:cxn ang="0">
                <a:pos x="1963" y="1897"/>
              </a:cxn>
              <a:cxn ang="0">
                <a:pos x="6" y="2407"/>
              </a:cxn>
              <a:cxn ang="0">
                <a:pos x="12" y="124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cs typeface="+mn-cs"/>
            </a:endParaRPr>
          </a:p>
        </p:txBody>
      </p:sp>
      <p:sp>
        <p:nvSpPr>
          <p:cNvPr id="5" name="Freeform 18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/>
            <a:ahLst/>
            <a:cxnLst>
              <a:cxn ang="0">
                <a:pos x="6" y="272"/>
              </a:cxn>
              <a:cxn ang="0">
                <a:pos x="1453" y="10"/>
              </a:cxn>
              <a:cxn ang="0">
                <a:pos x="4182" y="482"/>
              </a:cxn>
              <a:cxn ang="0">
                <a:pos x="5764" y="154"/>
              </a:cxn>
              <a:cxn ang="0">
                <a:pos x="5764" y="1806"/>
              </a:cxn>
              <a:cxn ang="0">
                <a:pos x="4005" y="1994"/>
              </a:cxn>
              <a:cxn ang="0">
                <a:pos x="1891" y="1522"/>
              </a:cxn>
              <a:cxn ang="0">
                <a:pos x="6" y="1967"/>
              </a:cxn>
              <a:cxn ang="0">
                <a:pos x="6" y="272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cs typeface="+mn-cs"/>
            </a:endParaRPr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7" name="Oval 20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  <p:sp>
          <p:nvSpPr>
            <p:cNvPr id="8" name="Oval 21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grpSp>
        <p:nvGrpSpPr>
          <p:cNvPr id="9" name="Group 22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0" name="Oval 23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  <p:sp>
          <p:nvSpPr>
            <p:cNvPr id="11" name="Oval 24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grpSp>
        <p:nvGrpSpPr>
          <p:cNvPr id="12" name="Group 25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3" name="Oval 26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  <p:sp>
          <p:nvSpPr>
            <p:cNvPr id="14" name="Oval 27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grpSp>
        <p:nvGrpSpPr>
          <p:cNvPr id="15" name="Group 16"/>
          <p:cNvGrpSpPr>
            <a:grpSpLocks/>
          </p:cNvGrpSpPr>
          <p:nvPr/>
        </p:nvGrpSpPr>
        <p:grpSpPr bwMode="auto">
          <a:xfrm>
            <a:off x="228600" y="304800"/>
            <a:ext cx="1079500" cy="633413"/>
            <a:chOff x="2680" y="3678"/>
            <a:chExt cx="680" cy="399"/>
          </a:xfrm>
        </p:grpSpPr>
        <p:sp>
          <p:nvSpPr>
            <p:cNvPr id="16" name="Text Box 14"/>
            <p:cNvSpPr txBox="1">
              <a:spLocks noChangeArrowheads="1"/>
            </p:cNvSpPr>
            <p:nvPr/>
          </p:nvSpPr>
          <p:spPr bwMode="gray">
            <a:xfrm>
              <a:off x="2680" y="3789"/>
              <a:ext cx="6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>
                  <a:solidFill>
                    <a:schemeClr val="tx2"/>
                  </a:solidFill>
                  <a:cs typeface="+mn-cs"/>
                </a:rPr>
                <a:t>LOGO</a:t>
              </a:r>
            </a:p>
          </p:txBody>
        </p:sp>
        <p:sp>
          <p:nvSpPr>
            <p:cNvPr id="17" name="AutoShape 15"/>
            <p:cNvSpPr>
              <a:spLocks noChangeArrowheads="1"/>
            </p:cNvSpPr>
            <p:nvPr/>
          </p:nvSpPr>
          <p:spPr bwMode="gray">
            <a:xfrm rot="5400000">
              <a:off x="2928" y="3493"/>
              <a:ext cx="172" cy="542"/>
            </a:xfrm>
            <a:prstGeom prst="moon">
              <a:avLst>
                <a:gd name="adj" fmla="val 21208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1E2EFBF4-08EF-4E06-BD78-E2BE649291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C93FA-6EB5-4DBF-B0AF-D9F2C0C04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30EDEC-8FDA-4F3C-97D2-CD73625FBE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3F87B-32D3-472C-AAC6-ECB1C5BE91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C1944-5767-44ED-8C7A-123053D755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92134-989A-4E9F-A1CB-DCFED5E1EC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BD495-18A9-408D-B9CF-9A89E7F10C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0910A-466D-4587-A315-08C476BFB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4917E-D919-466A-8DD2-CFB43BA9E2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08063-7216-4C90-A36D-5AEA921EAD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928A3-E605-459C-B6EE-ABE9A69CC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r>
              <a:rPr lang="ru-RU" noProof="0"/>
              <a:t>Вставка таблицы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75C5B-2D58-45BD-A303-F3BA69E705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9561905" imgH="1600000" progId="">
                  <p:embed/>
                </p:oleObj>
              </mc:Choice>
              <mc:Fallback>
                <p:oleObj name="Image" r:id="rId14" imgW="9561905" imgH="16000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5AAE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Freeform 16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/>
            <a:ahLst/>
            <a:cxnLst>
              <a:cxn ang="0">
                <a:pos x="6" y="109"/>
              </a:cxn>
              <a:cxn ang="0">
                <a:pos x="1427" y="46"/>
              </a:cxn>
              <a:cxn ang="0">
                <a:pos x="4032" y="255"/>
              </a:cxn>
              <a:cxn ang="0">
                <a:pos x="5767" y="0"/>
              </a:cxn>
              <a:cxn ang="0">
                <a:pos x="5767" y="776"/>
              </a:cxn>
              <a:cxn ang="0">
                <a:pos x="4065" y="831"/>
              </a:cxn>
              <a:cxn ang="0">
                <a:pos x="1984" y="674"/>
              </a:cxn>
              <a:cxn ang="0">
                <a:pos x="14" y="995"/>
              </a:cxn>
              <a:cxn ang="0">
                <a:pos x="6" y="109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cs typeface="+mn-cs"/>
            </a:endParaRPr>
          </a:p>
        </p:txBody>
      </p:sp>
      <p:sp>
        <p:nvSpPr>
          <p:cNvPr id="1041" name="Freeform 17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/>
            <a:ahLst/>
            <a:cxnLst>
              <a:cxn ang="0">
                <a:pos x="20" y="109"/>
              </a:cxn>
              <a:cxn ang="0">
                <a:pos x="1442" y="3"/>
              </a:cxn>
              <a:cxn ang="0">
                <a:pos x="4150" y="148"/>
              </a:cxn>
              <a:cxn ang="0">
                <a:pos x="5771" y="37"/>
              </a:cxn>
              <a:cxn ang="0">
                <a:pos x="5771" y="557"/>
              </a:cxn>
              <a:cxn ang="0">
                <a:pos x="3942" y="592"/>
              </a:cxn>
              <a:cxn ang="0">
                <a:pos x="1839" y="456"/>
              </a:cxn>
              <a:cxn ang="0">
                <a:pos x="6" y="620"/>
              </a:cxn>
              <a:cxn ang="0">
                <a:pos x="20" y="109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cs typeface="+mn-cs"/>
            </a:endParaRPr>
          </a:p>
        </p:txBody>
      </p:sp>
      <p:grpSp>
        <p:nvGrpSpPr>
          <p:cNvPr id="1055" name="Group 18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043" name="Oval 19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grpSp>
        <p:nvGrpSpPr>
          <p:cNvPr id="1056" name="Group 21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6" name="Oval 2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grpSp>
        <p:nvGrpSpPr>
          <p:cNvPr id="1057" name="Group 24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49" name="Oval 25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cs typeface="+mn-cs"/>
              </a:endParaRPr>
            </a:p>
          </p:txBody>
        </p:sp>
      </p:grpSp>
      <p:sp>
        <p:nvSpPr>
          <p:cNvPr id="105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9A3FF5EA-774D-432F-A721-B43BBB7096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6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7188" y="2071688"/>
            <a:ext cx="8572500" cy="2643187"/>
          </a:xfrm>
        </p:spPr>
        <p:txBody>
          <a:bodyPr/>
          <a:lstStyle/>
          <a:p>
            <a:pPr eaLnBrk="1" hangingPunct="1"/>
            <a:r>
              <a:rPr 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Поточные шифры</a:t>
            </a:r>
            <a:br>
              <a:rPr 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14313"/>
            <a:ext cx="1357313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14313"/>
            <a:ext cx="1357313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39552" y="332656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Потоковый шифр - симметричный тип шифра, где каждый элемент открытого текста переводится в зашифрованный вид, в зависимости от применяемого ключа и его позиции в текстовом потоке. </a:t>
            </a: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35697"/>
            <a:ext cx="5574974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6469" y="4416017"/>
            <a:ext cx="87129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Принцип потокового шифрования. </a:t>
            </a:r>
          </a:p>
          <a:p>
            <a:endParaRPr lang="ru-RU" dirty="0"/>
          </a:p>
          <a:p>
            <a:r>
              <a:rPr lang="ru-RU" dirty="0"/>
              <a:t>Генератор случайных чисел выдает определенную гамму (числовую последовательность). Она накладывается на шифруемую информацию с применением операции XOR. На выходе получаются зашифрованные данные. </a:t>
            </a:r>
          </a:p>
          <a:p>
            <a:endParaRPr lang="ru-RU" dirty="0"/>
          </a:p>
          <a:p>
            <a:r>
              <a:rPr lang="ru-RU" dirty="0"/>
              <a:t>Надежность потокового шифрования зависит от числовой последовательности, выдаваемой генератором. </a:t>
            </a:r>
          </a:p>
        </p:txBody>
      </p:sp>
    </p:spTree>
    <p:extLst>
      <p:ext uri="{BB962C8B-B14F-4D97-AF65-F5344CB8AC3E}">
        <p14:creationId xmlns:p14="http://schemas.microsoft.com/office/powerpoint/2010/main" val="116685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14313"/>
            <a:ext cx="1357313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332656"/>
            <a:ext cx="86775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проектировании поточных шифров применяется один из следующих подходов: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- системно-теоретический - основан на создании проблемы, которая еще не известна и не исследована </a:t>
            </a:r>
            <a:r>
              <a:rPr lang="ru-RU" dirty="0" err="1"/>
              <a:t>криптоаналитиком</a:t>
            </a:r>
            <a:r>
              <a:rPr lang="ru-RU" dirty="0"/>
              <a:t>;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- информационно-технический - базируется на попытке спрятать разгадку от </a:t>
            </a:r>
            <a:r>
              <a:rPr lang="ru-RU" dirty="0" err="1"/>
              <a:t>криптоаналитика</a:t>
            </a:r>
            <a:r>
              <a:rPr lang="ru-RU" dirty="0"/>
              <a:t>;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- сложно-теоретический - подход, базирующийся на известной, хоть и сложной проблеме;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рандомизированный</a:t>
            </a:r>
            <a:r>
              <a:rPr lang="ru-RU" dirty="0"/>
              <a:t> - подход, где создается объемная задача, решение которой выглядит невозможным.</a:t>
            </a:r>
          </a:p>
        </p:txBody>
      </p:sp>
    </p:spTree>
    <p:extLst>
      <p:ext uri="{BB962C8B-B14F-4D97-AF65-F5344CB8AC3E}">
        <p14:creationId xmlns:p14="http://schemas.microsoft.com/office/powerpoint/2010/main" val="3352801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14313"/>
            <a:ext cx="1357313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42875" y="28241"/>
            <a:ext cx="889362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Потоковый шифры: виды, преимущества и недостатки, характеристики.</a:t>
            </a:r>
          </a:p>
          <a:p>
            <a:br>
              <a:rPr lang="ru-RU" sz="1600" dirty="0"/>
            </a:br>
            <a:r>
              <a:rPr lang="ru-RU" sz="1600" dirty="0"/>
              <a:t>- высокая скорость шифровки, происходящая со скоростью потока входящих данных. Шифрование информации происходит в онлайн режиме, не зависит от разрядности потока и объема преобразующихся данных;</a:t>
            </a:r>
          </a:p>
          <a:p>
            <a:br>
              <a:rPr lang="ru-RU" sz="1600" dirty="0"/>
            </a:br>
            <a:r>
              <a:rPr lang="ru-RU" sz="1600" dirty="0"/>
              <a:t>- отсутствие эффекта размножения сбоев (ошибок). Объем ошибочных элементов последовательности после расшифровки равен объему искаженных данных уже после зашифровки;</a:t>
            </a:r>
          </a:p>
          <a:p>
            <a:r>
              <a:rPr lang="ru-RU" sz="1600" dirty="0"/>
              <a:t> </a:t>
            </a:r>
          </a:p>
          <a:p>
            <a:r>
              <a:rPr lang="ru-RU" sz="1600" dirty="0"/>
              <a:t>- структура потокового ключа имеет уязвимости, позволяющие </a:t>
            </a:r>
            <a:r>
              <a:rPr lang="ru-RU" sz="1600" dirty="0" err="1"/>
              <a:t>криптоаналитику</a:t>
            </a:r>
            <a:r>
              <a:rPr lang="ru-RU" sz="1600" dirty="0"/>
              <a:t> выведать необходимые данные о ключе;</a:t>
            </a:r>
          </a:p>
          <a:p>
            <a:br>
              <a:rPr lang="ru-RU" sz="1600" dirty="0"/>
            </a:br>
            <a:r>
              <a:rPr lang="ru-RU" sz="1600" dirty="0"/>
              <a:t>- потоковый шифр можно атаковать с помощью линейной алгебры. Взлом потоковых шифров возможен с помощью одного из популярных видов анализа - потокового или линейного;</a:t>
            </a:r>
          </a:p>
          <a:p>
            <a:br>
              <a:rPr lang="ru-RU" sz="1600" dirty="0"/>
            </a:br>
            <a:r>
              <a:rPr lang="ru-RU" sz="1600" dirty="0"/>
              <a:t>- методы взлома потоковых шифров разнообразны. В отличие от блочных шифров здесь не уделяется внимание отдельным алгоритмам шифрования;</a:t>
            </a:r>
          </a:p>
          <a:p>
            <a:br>
              <a:rPr lang="ru-RU" sz="1600" dirty="0"/>
            </a:br>
            <a:r>
              <a:rPr lang="ru-RU" sz="1600" dirty="0"/>
              <a:t>- разработка потоковых шифров ведется, как правило, в криптографических центрах Европы (к примеру, блочные шифры разрабатываются в США);</a:t>
            </a:r>
          </a:p>
          <a:p>
            <a:br>
              <a:rPr lang="ru-RU" sz="1600" dirty="0"/>
            </a:br>
            <a:r>
              <a:rPr lang="ru-RU" sz="1600" dirty="0"/>
              <a:t>- изучение потоковых шифров проходит активней. В последние годы в области ПШ было сделано больше открытий.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1472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14313"/>
            <a:ext cx="1357313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332656"/>
            <a:ext cx="87849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Синхронные потоковые шифры</a:t>
            </a:r>
            <a:r>
              <a:rPr lang="ru-RU" u="sng" dirty="0"/>
              <a:t> </a:t>
            </a:r>
          </a:p>
          <a:p>
            <a:r>
              <a:rPr lang="ru-RU" dirty="0"/>
              <a:t>В синхронных поточных шифрах отсутствует эффект размножения ошибок, т. е. число искаженных элементов в расшифрованной последовательности равно числу искаженных элементов зашифрованной последовательности, пришедшей из канала связи. </a:t>
            </a:r>
            <a:endParaRPr lang="ru-RU" i="1" u="sng" dirty="0"/>
          </a:p>
          <a:p>
            <a:endParaRPr lang="ru-RU" i="1" u="sng" dirty="0"/>
          </a:p>
          <a:p>
            <a:r>
              <a:rPr lang="ru-RU" i="1" u="sng" dirty="0"/>
              <a:t>Преимущества синхронных потоковых шифров:</a:t>
            </a:r>
            <a:endParaRPr lang="ru-RU" dirty="0"/>
          </a:p>
          <a:p>
            <a:br>
              <a:rPr lang="ru-RU" dirty="0"/>
            </a:br>
            <a:r>
              <a:rPr lang="ru-RU" dirty="0"/>
              <a:t>- защита от возможных вставок и удаления шифрованного текста. Такие манипуляции приводят к </a:t>
            </a:r>
            <a:r>
              <a:rPr lang="ru-RU" dirty="0" err="1"/>
              <a:t>рассинхронизации</a:t>
            </a:r>
            <a:r>
              <a:rPr lang="ru-RU" dirty="0"/>
              <a:t> и всегда обнаруживаются;</a:t>
            </a:r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отсутствие проблем с распространением ошибки. В случае искажения одного бита неправильно расшифровывается только он.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i="1" u="sng" dirty="0"/>
              <a:t>Недостатки синхронных потоков шифров:</a:t>
            </a:r>
            <a:endParaRPr lang="ru-RU" dirty="0"/>
          </a:p>
          <a:p>
            <a:br>
              <a:rPr lang="ru-RU" dirty="0"/>
            </a:br>
            <a:r>
              <a:rPr lang="ru-RU" dirty="0"/>
              <a:t>- возможность изменения определенных бит </a:t>
            </a:r>
            <a:r>
              <a:rPr lang="ru-RU" dirty="0" err="1"/>
              <a:t>шифротекста</a:t>
            </a:r>
            <a:r>
              <a:rPr lang="ru-RU" dirty="0"/>
              <a:t>. При наличии на руках открытого текста злоумышленник может скорректировать биты так, как ему необходимо.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680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14313"/>
            <a:ext cx="1357313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332656"/>
            <a:ext cx="87849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Самосинхронизирующиеся поточные шифры</a:t>
            </a:r>
          </a:p>
          <a:p>
            <a:r>
              <a:rPr lang="ru-RU" dirty="0"/>
              <a:t>вид асинхронных поточных шифров, где создание потока ключей возлагается на функцию самого ключа и установленного числа знаков шифрованного текста. Каждое сообщение начинается со случайного заголовка с конкретным числом (N) битов.</a:t>
            </a:r>
          </a:p>
          <a:p>
            <a:endParaRPr lang="ru-RU" i="1" u="sng" dirty="0"/>
          </a:p>
          <a:p>
            <a:r>
              <a:rPr lang="ru-RU" i="1" u="sng" dirty="0"/>
              <a:t>Преимущества самосинхронизирующиеся потоковых шифров:</a:t>
            </a:r>
          </a:p>
          <a:p>
            <a:pPr marL="285750" indent="-285750">
              <a:buFontTx/>
              <a:buChar char="-"/>
            </a:pPr>
            <a:r>
              <a:rPr lang="ru-RU" i="1" dirty="0"/>
              <a:t>размешивание статистики кодируемой информации. </a:t>
            </a:r>
          </a:p>
          <a:p>
            <a:r>
              <a:rPr lang="ru-RU" i="1" dirty="0"/>
              <a:t>Статистические свойства открытых данных распространяются на весь объем текста, ведь каждый знак действует на последующий шифротекст;</a:t>
            </a:r>
          </a:p>
          <a:p>
            <a:endParaRPr lang="ru-RU" i="1" dirty="0"/>
          </a:p>
          <a:p>
            <a:r>
              <a:rPr lang="ru-RU" i="1" dirty="0"/>
              <a:t>- устойчивость к атакам, основанным на избыточности открытых данных.</a:t>
            </a:r>
          </a:p>
          <a:p>
            <a:endParaRPr lang="ru-RU" i="1" dirty="0"/>
          </a:p>
          <a:p>
            <a:endParaRPr lang="ru-RU" i="1" u="sng" dirty="0"/>
          </a:p>
          <a:p>
            <a:r>
              <a:rPr lang="ru-RU" i="1" u="sng" dirty="0"/>
              <a:t>Недостатки самосинхронизирующиеся потоковых шифров:</a:t>
            </a:r>
          </a:p>
          <a:p>
            <a:pPr marL="285750" indent="-285750">
              <a:buFontTx/>
              <a:buChar char="-"/>
            </a:pPr>
            <a:r>
              <a:rPr lang="ru-RU" i="1" dirty="0"/>
              <a:t>чувствительность к вскрытию вторичной передачей;</a:t>
            </a:r>
          </a:p>
          <a:p>
            <a:endParaRPr lang="ru-RU" i="1" dirty="0"/>
          </a:p>
          <a:p>
            <a:r>
              <a:rPr lang="ru-RU" i="1" dirty="0"/>
              <a:t>- опасность распространения ошибок. Для каждого неправильного бита шифрованного текста предусмотрено N-</a:t>
            </a:r>
            <a:r>
              <a:rPr lang="ru-RU" i="1" dirty="0" err="1"/>
              <a:t>ное</a:t>
            </a:r>
            <a:r>
              <a:rPr lang="ru-RU" i="1" dirty="0"/>
              <a:t> число ошибок открытого текста.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20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white">
          <a:xfrm>
            <a:off x="1071563" y="642938"/>
            <a:ext cx="73914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Поточные шифры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3000" y="1772816"/>
            <a:ext cx="90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Зашифровать с помощью одноразового блокнота текст.</a:t>
            </a:r>
          </a:p>
          <a:p>
            <a:endParaRPr lang="ru-RU" dirty="0"/>
          </a:p>
          <a:p>
            <a:r>
              <a:rPr lang="ru-RU" dirty="0"/>
              <a:t>ШИФР с гаммой 01100101 10010111 01010110 10100101.</a:t>
            </a:r>
          </a:p>
          <a:p>
            <a:r>
              <a:rPr lang="ru-RU" dirty="0"/>
              <a:t>Использовать кодировку ASCII(</a:t>
            </a:r>
            <a:r>
              <a:rPr lang="ru-RU" dirty="0" err="1"/>
              <a:t>Cyrillic</a:t>
            </a:r>
            <a:r>
              <a:rPr lang="ru-RU" dirty="0"/>
              <a:t>).</a:t>
            </a:r>
          </a:p>
          <a:p>
            <a:r>
              <a:rPr lang="ru-RU" dirty="0"/>
              <a:t>Р е ш е н и е.</a:t>
            </a:r>
          </a:p>
          <a:p>
            <a:r>
              <a:rPr lang="ru-RU" dirty="0"/>
              <a:t>ШИФР=    11110110 10110111 10101010 11100001</a:t>
            </a:r>
          </a:p>
          <a:p>
            <a:r>
              <a:rPr lang="ru-RU" dirty="0"/>
              <a:t>	+ 01100101 10010111 01010110 10100101</a:t>
            </a:r>
          </a:p>
          <a:p>
            <a:r>
              <a:rPr lang="ru-RU" dirty="0"/>
              <a:t>	   10010011 00110000 11111100 01000100  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436" y="332656"/>
            <a:ext cx="7391400" cy="563563"/>
          </a:xfrm>
        </p:spPr>
        <p:txBody>
          <a:bodyPr/>
          <a:lstStyle/>
          <a:p>
            <a:pPr eaLnBrk="1" hangingPunct="1">
              <a:defRPr/>
            </a:pP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Поточные шифры</a:t>
            </a:r>
          </a:p>
        </p:txBody>
      </p:sp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263167" y="1268760"/>
            <a:ext cx="8643938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0" hangingPunct="0"/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Поточные шифры преобразуют открытый текст в шифротекст по одному биту за операцию. </a:t>
            </a:r>
            <a:r>
              <a:rPr lang="ru-RU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Генератор потока ключей 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(иногда называемый генератором с бегущим ключом) выдает поток битов: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..., </a:t>
            </a:r>
            <a:r>
              <a:rPr lang="en-US" sz="17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700" baseline="-30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Этот поток битов (иногда называемый бегущим ключом) и поток битов открытого текста,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7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подвергаются операции </a:t>
            </a:r>
            <a:r>
              <a:rPr lang="en-US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XOR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(сумма по модулю 2,  «исключающее ИЛИ»),  и в результате получается поток битов </a:t>
            </a:r>
            <a:r>
              <a:rPr lang="ru-RU" sz="17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шифротекста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58787"/>
              </p:ext>
            </p:extLst>
          </p:nvPr>
        </p:nvGraphicFramePr>
        <p:xfrm>
          <a:off x="3707904" y="3356992"/>
          <a:ext cx="135731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190440" progId="">
                  <p:embed/>
                </p:oleObj>
              </mc:Choice>
              <mc:Fallback>
                <p:oleObj name="Equation" r:id="rId2" imgW="609480" imgH="1904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356992"/>
                        <a:ext cx="1357313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Rectangle 5"/>
          <p:cNvSpPr>
            <a:spLocks noChangeArrowheads="1"/>
          </p:cNvSpPr>
          <p:nvPr/>
        </p:nvSpPr>
        <p:spPr bwMode="auto">
          <a:xfrm>
            <a:off x="263167" y="4129137"/>
            <a:ext cx="8501062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0" hangingPunct="0"/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При дешифровании, для восстановления битов открытого текста, операция </a:t>
            </a:r>
            <a:r>
              <a:rPr lang="en-US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XOR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выполняется над битами </a:t>
            </a:r>
            <a:r>
              <a:rPr lang="ru-RU" sz="17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шифротекста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и тем же самым потоком ключей:</a:t>
            </a:r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7409"/>
              </p:ext>
            </p:extLst>
          </p:nvPr>
        </p:nvGraphicFramePr>
        <p:xfrm>
          <a:off x="3851920" y="5085184"/>
          <a:ext cx="135731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190440" progId="">
                  <p:embed/>
                </p:oleObj>
              </mc:Choice>
              <mc:Fallback>
                <p:oleObj name="Equation" r:id="rId4" imgW="609480" imgH="1904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5085184"/>
                        <a:ext cx="1357313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9795" y="188640"/>
            <a:ext cx="7391400" cy="563563"/>
          </a:xfrm>
        </p:spPr>
        <p:txBody>
          <a:bodyPr/>
          <a:lstStyle/>
          <a:p>
            <a:pPr eaLnBrk="1" hangingPunct="1">
              <a:defRPr/>
            </a:pP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Поточные шифры</a:t>
            </a:r>
          </a:p>
        </p:txBody>
      </p:sp>
      <p:sp>
        <p:nvSpPr>
          <p:cNvPr id="74759" name="Rectangle 6"/>
          <p:cNvSpPr>
            <a:spLocks noChangeArrowheads="1"/>
          </p:cNvSpPr>
          <p:nvPr/>
        </p:nvSpPr>
        <p:spPr bwMode="auto">
          <a:xfrm>
            <a:off x="329834" y="895842"/>
            <a:ext cx="8643937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0" anchor="ctr">
            <a:spAutoFit/>
          </a:bodyPr>
          <a:lstStyle/>
          <a:p>
            <a:pPr algn="just"/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</a:t>
            </a:r>
            <a:r>
              <a:rPr lang="ru-RU" sz="17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Регистры сдвига с обратной связью</a:t>
            </a:r>
          </a:p>
          <a:p>
            <a:pPr algn="just" eaLnBrk="0" hangingPunct="0"/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Большинство реальных поточных шифров основано на регистрах сдвига с обратной связью. Регистр сдвига применяют для генерации ключевой последовательности. Регистр сдвига с обратной связью состоит из двух частей: регистра сдвига и функции обратной связи.  Регистр сдвига представляет собой последовательность битов. (Количество битов определяется длиной сдвигового регистра. Если длина равна </a:t>
            </a:r>
            <a:r>
              <a:rPr lang="en-US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битам, то регистр называется </a:t>
            </a:r>
            <a:r>
              <a:rPr lang="en-US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17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-битовым регистром сдвига.) Всякий раз, когда нужно извлечь бит, 'все биты регистра сдвига сдвигаются вправо на 1 позицию. Новый крайний левый бит является функцией всех остальных битов регистра.            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95536" y="3501008"/>
            <a:ext cx="8607646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На выходе регистра оказывается один, обычно младший, значащий бит. Периодом регистра называется длина получаемой последовательности до начала ее повторения.</a:t>
            </a:r>
          </a:p>
          <a:p>
            <a:pPr algn="just" eaLnBrk="0" hangingPunct="0"/>
            <a:r>
              <a:rPr lang="ru-RU" dirty="0">
                <a:latin typeface="Times New Roman" pitchFamily="18" charset="0"/>
                <a:cs typeface="Times New Roman" pitchFamily="18" charset="0"/>
              </a:rPr>
              <a:t>Простейшим видом регистра сдвига с обратной связью является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регистр сдвига с линейной обратной связью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(РСЛОС).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0987" y="5005561"/>
            <a:ext cx="5429250" cy="159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2806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813" y="1571625"/>
            <a:ext cx="5572125" cy="156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313" y="685800"/>
            <a:ext cx="8786812" cy="563563"/>
          </a:xfrm>
        </p:spPr>
        <p:txBody>
          <a:bodyPr/>
          <a:lstStyle/>
          <a:p>
            <a:pPr eaLnBrk="1" hangingPunct="1">
              <a:defRPr/>
            </a:pPr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Регистр сдвига с линейной обратной связью (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LFSR</a:t>
            </a:r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142875" y="2928938"/>
            <a:ext cx="8605838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0" hangingPunct="0"/>
            <a:r>
              <a:rPr lang="ru-RU" sz="2000">
                <a:latin typeface="Times New Roman" pitchFamily="18" charset="0"/>
                <a:cs typeface="Times New Roman" pitchFamily="18" charset="0"/>
              </a:rPr>
              <a:t>Выходной последовательностью будет строка младших значащих битов:</a:t>
            </a:r>
          </a:p>
          <a:p>
            <a:pPr algn="just" eaLnBrk="0" hangingPunct="0"/>
            <a:r>
              <a:rPr lang="ru-RU" sz="2000">
                <a:latin typeface="Times New Roman" pitchFamily="18" charset="0"/>
                <a:cs typeface="Times New Roman" pitchFamily="18" charset="0"/>
              </a:rPr>
              <a:t>                                                  111101011001000...</a:t>
            </a:r>
          </a:p>
          <a:p>
            <a:pPr algn="just" eaLnBrk="0" hangingPunct="0"/>
            <a:r>
              <a:rPr lang="ru-RU" sz="2000">
                <a:latin typeface="Times New Roman" pitchFamily="18" charset="0"/>
                <a:cs typeface="Times New Roman" pitchFamily="18" charset="0"/>
              </a:rPr>
              <a:t>РСЛОС (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-битовый) может находиться  в  одном  из  2</a:t>
            </a:r>
            <a:r>
              <a:rPr lang="en-US" sz="2000" baseline="30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— 1  внутренних  состояний.   Это означает, что теоретически такой регистр может генерировать псевдослучайную последовательность с периодом 2</a:t>
            </a:r>
            <a:r>
              <a:rPr lang="en-US" sz="2000" baseline="30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— 1 битов. (Число внутренних состояний и период равны 2</a:t>
            </a:r>
            <a:r>
              <a:rPr lang="en-US" sz="2000" baseline="30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— 1, потому что заполнение РСЛОС нулями приведет к тому, что сдвиговый регистр будет выдавать бесконечную последовательность нулей, что абсолютно бесполезно.)  Только при определенных отводных последовательностях РСЛОС циклически пройдет через все 2</a:t>
            </a:r>
            <a:r>
              <a:rPr lang="en-US" sz="2000" baseline="30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-1 внутренних состояний. Такие РСЛОС имеют максимальный период. Получившийся результат называется М-последовательностью.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white">
          <a:xfrm>
            <a:off x="1071563" y="642938"/>
            <a:ext cx="73914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Поточные шифры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1772816"/>
            <a:ext cx="87129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использования в криптографических целях генератор псевдослучайных чисел должен обладать следующими свойствами:</a:t>
            </a:r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период последовательности должен быть очень большой;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порождаемая последовательность должна быть "почти" неотличима от действительно случайной;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для того, чтобы только законный получатель мог расшифровать сообщение, следует при получении потока ключевых битов </a:t>
            </a:r>
            <a:r>
              <a:rPr lang="ru-RU" dirty="0" err="1"/>
              <a:t>ki</a:t>
            </a:r>
            <a:r>
              <a:rPr lang="ru-RU" dirty="0"/>
              <a:t> использовать и учитывать секретный ключ, причем вычисление числа ki+1 по известным предыдущим элементам последовательности </a:t>
            </a:r>
            <a:r>
              <a:rPr lang="ru-RU" dirty="0" err="1"/>
              <a:t>ki</a:t>
            </a:r>
            <a:r>
              <a:rPr lang="ru-RU" dirty="0"/>
              <a:t> без знания ключа должно быть трудной задачей.</a:t>
            </a:r>
          </a:p>
        </p:txBody>
      </p:sp>
    </p:spTree>
    <p:extLst>
      <p:ext uri="{BB962C8B-B14F-4D97-AF65-F5344CB8AC3E}">
        <p14:creationId xmlns:p14="http://schemas.microsoft.com/office/powerpoint/2010/main" val="326274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Шифр А5</a:t>
            </a:r>
          </a:p>
        </p:txBody>
      </p:sp>
      <p:pic>
        <p:nvPicPr>
          <p:cNvPr id="77826" name="Picture 4" descr="400px-__A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50" y="2357438"/>
            <a:ext cx="6643688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white">
          <a:xfrm>
            <a:off x="571500" y="1571625"/>
            <a:ext cx="82296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normAutofit fontScale="6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Используется в GSM сотовой связи.</a:t>
            </a:r>
            <a:br>
              <a:rPr lang="ru-RU" sz="3200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Рассмотрим схему работы регистров:</a:t>
            </a:r>
            <a:br>
              <a:rPr lang="ru-RU" sz="2000" b="1" kern="0" dirty="0">
                <a:latin typeface="+mj-lt"/>
                <a:ea typeface="+mj-ea"/>
                <a:cs typeface="+mj-cs"/>
              </a:rPr>
            </a:br>
            <a:endParaRPr lang="ru-RU" b="1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Шифр А5 (2)</a:t>
            </a:r>
            <a:endParaRPr lang="ru-RU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white">
          <a:xfrm>
            <a:off x="214313" y="1500188"/>
            <a:ext cx="8715375" cy="6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just">
              <a:defRPr/>
            </a:pPr>
            <a:r>
              <a:rPr lang="ru-RU" sz="2000" kern="0" dirty="0">
                <a:latin typeface="Times New Roman" pitchFamily="18" charset="0"/>
                <a:ea typeface="+mj-ea"/>
                <a:cs typeface="Times New Roman" pitchFamily="18" charset="0"/>
              </a:rPr>
              <a:t>Заполнение регистров осуществляется по специальному ключу специальной программой. Существует специальная схема заполнения всех трех регистров:</a:t>
            </a:r>
          </a:p>
        </p:txBody>
      </p:sp>
      <p:grpSp>
        <p:nvGrpSpPr>
          <p:cNvPr id="79875" name="Group 4"/>
          <p:cNvGrpSpPr>
            <a:grpSpLocks/>
          </p:cNvGrpSpPr>
          <p:nvPr/>
        </p:nvGrpSpPr>
        <p:grpSpPr bwMode="auto">
          <a:xfrm>
            <a:off x="500063" y="2143125"/>
            <a:ext cx="7920037" cy="2879725"/>
            <a:chOff x="510" y="3435"/>
            <a:chExt cx="9287" cy="3534"/>
          </a:xfrm>
        </p:grpSpPr>
        <p:sp>
          <p:nvSpPr>
            <p:cNvPr id="79877" name="Rectangle 5"/>
            <p:cNvSpPr>
              <a:spLocks noChangeArrowheads="1"/>
            </p:cNvSpPr>
            <p:nvPr/>
          </p:nvSpPr>
          <p:spPr bwMode="auto">
            <a:xfrm>
              <a:off x="3588" y="3777"/>
              <a:ext cx="1596" cy="51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C</a:t>
              </a:r>
              <a:r>
                <a:rPr lang="ru-RU" sz="1200" baseline="-25000"/>
                <a:t>e</a:t>
              </a:r>
              <a:endParaRPr lang="ru-RU"/>
            </a:p>
          </p:txBody>
        </p:sp>
        <p:sp>
          <p:nvSpPr>
            <p:cNvPr id="79878" name="Rectangle 6"/>
            <p:cNvSpPr>
              <a:spLocks noChangeArrowheads="1"/>
            </p:cNvSpPr>
            <p:nvPr/>
          </p:nvSpPr>
          <p:spPr bwMode="auto">
            <a:xfrm>
              <a:off x="4215" y="4746"/>
              <a:ext cx="1596" cy="51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C</a:t>
              </a:r>
              <a:r>
                <a:rPr lang="ru-RU" sz="1200" baseline="-25000"/>
                <a:t>e</a:t>
              </a:r>
              <a:endParaRPr lang="ru-RU"/>
            </a:p>
          </p:txBody>
        </p:sp>
        <p:sp>
          <p:nvSpPr>
            <p:cNvPr id="79879" name="Rectangle 7"/>
            <p:cNvSpPr>
              <a:spLocks noChangeArrowheads="1"/>
            </p:cNvSpPr>
            <p:nvPr/>
          </p:nvSpPr>
          <p:spPr bwMode="auto">
            <a:xfrm>
              <a:off x="4899" y="5772"/>
              <a:ext cx="1596" cy="51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C</a:t>
              </a:r>
              <a:r>
                <a:rPr lang="ru-RU" sz="1200" baseline="-25000"/>
                <a:t>e</a:t>
              </a:r>
              <a:endParaRPr lang="ru-RU"/>
            </a:p>
          </p:txBody>
        </p:sp>
        <p:sp>
          <p:nvSpPr>
            <p:cNvPr id="79880" name="Line 8"/>
            <p:cNvSpPr>
              <a:spLocks noChangeShapeType="1"/>
            </p:cNvSpPr>
            <p:nvPr/>
          </p:nvSpPr>
          <p:spPr bwMode="auto">
            <a:xfrm>
              <a:off x="5184" y="4005"/>
              <a:ext cx="27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1" name="Line 9"/>
            <p:cNvSpPr>
              <a:spLocks noChangeShapeType="1"/>
            </p:cNvSpPr>
            <p:nvPr/>
          </p:nvSpPr>
          <p:spPr bwMode="auto">
            <a:xfrm>
              <a:off x="6495" y="6057"/>
              <a:ext cx="1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2" name="Line 10"/>
            <p:cNvSpPr>
              <a:spLocks noChangeShapeType="1"/>
            </p:cNvSpPr>
            <p:nvPr/>
          </p:nvSpPr>
          <p:spPr bwMode="auto">
            <a:xfrm>
              <a:off x="5811" y="5031"/>
              <a:ext cx="19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3" name="Oval 11"/>
            <p:cNvSpPr>
              <a:spLocks noChangeArrowheads="1"/>
            </p:cNvSpPr>
            <p:nvPr/>
          </p:nvSpPr>
          <p:spPr bwMode="auto">
            <a:xfrm>
              <a:off x="7749" y="4860"/>
              <a:ext cx="399" cy="39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4" name="Line 12"/>
            <p:cNvSpPr>
              <a:spLocks noChangeShapeType="1"/>
            </p:cNvSpPr>
            <p:nvPr/>
          </p:nvSpPr>
          <p:spPr bwMode="auto">
            <a:xfrm>
              <a:off x="7977" y="4860"/>
              <a:ext cx="0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5" name="Line 13"/>
            <p:cNvSpPr>
              <a:spLocks noChangeShapeType="1"/>
            </p:cNvSpPr>
            <p:nvPr/>
          </p:nvSpPr>
          <p:spPr bwMode="auto">
            <a:xfrm>
              <a:off x="7749" y="5031"/>
              <a:ext cx="3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6" name="Line 14"/>
            <p:cNvSpPr>
              <a:spLocks noChangeShapeType="1"/>
            </p:cNvSpPr>
            <p:nvPr/>
          </p:nvSpPr>
          <p:spPr bwMode="auto">
            <a:xfrm>
              <a:off x="7977" y="4005"/>
              <a:ext cx="0" cy="8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7" name="Line 15"/>
            <p:cNvSpPr>
              <a:spLocks noChangeShapeType="1"/>
            </p:cNvSpPr>
            <p:nvPr/>
          </p:nvSpPr>
          <p:spPr bwMode="auto">
            <a:xfrm flipV="1">
              <a:off x="7977" y="5259"/>
              <a:ext cx="0" cy="7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8" name="Line 16"/>
            <p:cNvSpPr>
              <a:spLocks noChangeShapeType="1"/>
            </p:cNvSpPr>
            <p:nvPr/>
          </p:nvSpPr>
          <p:spPr bwMode="auto">
            <a:xfrm>
              <a:off x="8148" y="5031"/>
              <a:ext cx="13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89" name="Text Box 17"/>
            <p:cNvSpPr txBox="1">
              <a:spLocks noChangeArrowheads="1"/>
            </p:cNvSpPr>
            <p:nvPr/>
          </p:nvSpPr>
          <p:spPr bwMode="auto">
            <a:xfrm>
              <a:off x="9288" y="4461"/>
              <a:ext cx="509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90" name="Text Box 18"/>
            <p:cNvSpPr txBox="1">
              <a:spLocks noChangeArrowheads="1"/>
            </p:cNvSpPr>
            <p:nvPr/>
          </p:nvSpPr>
          <p:spPr bwMode="auto">
            <a:xfrm>
              <a:off x="5298" y="3435"/>
              <a:ext cx="684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R</a:t>
              </a:r>
              <a:r>
                <a:rPr lang="ru-RU" sz="1200" baseline="-25000"/>
                <a:t>1</a:t>
              </a:r>
              <a:endParaRPr lang="ru-RU"/>
            </a:p>
          </p:txBody>
        </p:sp>
        <p:sp>
          <p:nvSpPr>
            <p:cNvPr id="79891" name="Text Box 19"/>
            <p:cNvSpPr txBox="1">
              <a:spLocks noChangeArrowheads="1"/>
            </p:cNvSpPr>
            <p:nvPr/>
          </p:nvSpPr>
          <p:spPr bwMode="auto">
            <a:xfrm>
              <a:off x="6039" y="4461"/>
              <a:ext cx="684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R</a:t>
              </a:r>
              <a:r>
                <a:rPr lang="ru-RU" sz="1200" baseline="-25000"/>
                <a:t>2</a:t>
              </a:r>
              <a:endParaRPr lang="ru-RU"/>
            </a:p>
          </p:txBody>
        </p:sp>
        <p:sp>
          <p:nvSpPr>
            <p:cNvPr id="79892" name="Text Box 20"/>
            <p:cNvSpPr txBox="1">
              <a:spLocks noChangeArrowheads="1"/>
            </p:cNvSpPr>
            <p:nvPr/>
          </p:nvSpPr>
          <p:spPr bwMode="auto">
            <a:xfrm>
              <a:off x="6609" y="5487"/>
              <a:ext cx="684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R</a:t>
              </a:r>
              <a:r>
                <a:rPr lang="ru-RU" sz="1200" baseline="-25000"/>
                <a:t>3</a:t>
              </a:r>
              <a:endParaRPr lang="ru-RU"/>
            </a:p>
          </p:txBody>
        </p:sp>
        <p:sp>
          <p:nvSpPr>
            <p:cNvPr id="79893" name="Rectangle 21"/>
            <p:cNvSpPr>
              <a:spLocks noChangeArrowheads="1"/>
            </p:cNvSpPr>
            <p:nvPr/>
          </p:nvSpPr>
          <p:spPr bwMode="auto">
            <a:xfrm>
              <a:off x="1194" y="4803"/>
              <a:ext cx="1368" cy="96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Блок синхранизации</a:t>
              </a:r>
              <a:endParaRPr lang="ru-RU"/>
            </a:p>
          </p:txBody>
        </p:sp>
        <p:sp>
          <p:nvSpPr>
            <p:cNvPr id="79894" name="Line 22"/>
            <p:cNvSpPr>
              <a:spLocks noChangeShapeType="1"/>
            </p:cNvSpPr>
            <p:nvPr/>
          </p:nvSpPr>
          <p:spPr bwMode="auto">
            <a:xfrm>
              <a:off x="2562" y="4917"/>
              <a:ext cx="119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95" name="Line 23"/>
            <p:cNvSpPr>
              <a:spLocks noChangeShapeType="1"/>
            </p:cNvSpPr>
            <p:nvPr/>
          </p:nvSpPr>
          <p:spPr bwMode="auto">
            <a:xfrm flipV="1">
              <a:off x="3759" y="4290"/>
              <a:ext cx="0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96" name="Line 24"/>
            <p:cNvSpPr>
              <a:spLocks noChangeShapeType="1"/>
            </p:cNvSpPr>
            <p:nvPr/>
          </p:nvSpPr>
          <p:spPr bwMode="auto">
            <a:xfrm>
              <a:off x="2562" y="5544"/>
              <a:ext cx="18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97" name="Line 25"/>
            <p:cNvSpPr>
              <a:spLocks noChangeShapeType="1"/>
            </p:cNvSpPr>
            <p:nvPr/>
          </p:nvSpPr>
          <p:spPr bwMode="auto">
            <a:xfrm flipV="1">
              <a:off x="4443" y="5259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98" name="Line 26"/>
            <p:cNvSpPr>
              <a:spLocks noChangeShapeType="1"/>
            </p:cNvSpPr>
            <p:nvPr/>
          </p:nvSpPr>
          <p:spPr bwMode="auto">
            <a:xfrm>
              <a:off x="2562" y="5715"/>
              <a:ext cx="1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899" name="Line 27"/>
            <p:cNvSpPr>
              <a:spLocks noChangeShapeType="1"/>
            </p:cNvSpPr>
            <p:nvPr/>
          </p:nvSpPr>
          <p:spPr bwMode="auto">
            <a:xfrm>
              <a:off x="2733" y="5715"/>
              <a:ext cx="0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0" name="Line 28"/>
            <p:cNvSpPr>
              <a:spLocks noChangeShapeType="1"/>
            </p:cNvSpPr>
            <p:nvPr/>
          </p:nvSpPr>
          <p:spPr bwMode="auto">
            <a:xfrm>
              <a:off x="2733" y="6342"/>
              <a:ext cx="0" cy="2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1" name="Line 29"/>
            <p:cNvSpPr>
              <a:spLocks noChangeShapeType="1"/>
            </p:cNvSpPr>
            <p:nvPr/>
          </p:nvSpPr>
          <p:spPr bwMode="auto">
            <a:xfrm>
              <a:off x="2733" y="6570"/>
              <a:ext cx="23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2" name="Line 30"/>
            <p:cNvSpPr>
              <a:spLocks noChangeShapeType="1"/>
            </p:cNvSpPr>
            <p:nvPr/>
          </p:nvSpPr>
          <p:spPr bwMode="auto">
            <a:xfrm flipV="1">
              <a:off x="5070" y="628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3" name="Line 31"/>
            <p:cNvSpPr>
              <a:spLocks noChangeShapeType="1"/>
            </p:cNvSpPr>
            <p:nvPr/>
          </p:nvSpPr>
          <p:spPr bwMode="auto">
            <a:xfrm>
              <a:off x="4956" y="5259"/>
              <a:ext cx="0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4" name="Line 32"/>
            <p:cNvSpPr>
              <a:spLocks noChangeShapeType="1"/>
            </p:cNvSpPr>
            <p:nvPr/>
          </p:nvSpPr>
          <p:spPr bwMode="auto">
            <a:xfrm flipH="1">
              <a:off x="4557" y="5601"/>
              <a:ext cx="3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5" name="Line 33"/>
            <p:cNvSpPr>
              <a:spLocks noChangeShapeType="1"/>
            </p:cNvSpPr>
            <p:nvPr/>
          </p:nvSpPr>
          <p:spPr bwMode="auto">
            <a:xfrm>
              <a:off x="4557" y="5601"/>
              <a:ext cx="0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6" name="Line 34"/>
            <p:cNvSpPr>
              <a:spLocks noChangeShapeType="1"/>
            </p:cNvSpPr>
            <p:nvPr/>
          </p:nvSpPr>
          <p:spPr bwMode="auto">
            <a:xfrm flipH="1">
              <a:off x="909" y="6057"/>
              <a:ext cx="36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7" name="Line 35"/>
            <p:cNvSpPr>
              <a:spLocks noChangeShapeType="1"/>
            </p:cNvSpPr>
            <p:nvPr/>
          </p:nvSpPr>
          <p:spPr bwMode="auto">
            <a:xfrm flipV="1">
              <a:off x="909" y="55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8" name="Line 36"/>
            <p:cNvSpPr>
              <a:spLocks noChangeShapeType="1"/>
            </p:cNvSpPr>
            <p:nvPr/>
          </p:nvSpPr>
          <p:spPr bwMode="auto">
            <a:xfrm>
              <a:off x="909" y="5544"/>
              <a:ext cx="2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09" name="Line 37"/>
            <p:cNvSpPr>
              <a:spLocks noChangeShapeType="1"/>
            </p:cNvSpPr>
            <p:nvPr/>
          </p:nvSpPr>
          <p:spPr bwMode="auto">
            <a:xfrm>
              <a:off x="5640" y="6285"/>
              <a:ext cx="0" cy="6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0" name="Line 38"/>
            <p:cNvSpPr>
              <a:spLocks noChangeShapeType="1"/>
            </p:cNvSpPr>
            <p:nvPr/>
          </p:nvSpPr>
          <p:spPr bwMode="auto">
            <a:xfrm flipH="1">
              <a:off x="567" y="6969"/>
              <a:ext cx="50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1" name="Line 39"/>
            <p:cNvSpPr>
              <a:spLocks noChangeShapeType="1"/>
            </p:cNvSpPr>
            <p:nvPr/>
          </p:nvSpPr>
          <p:spPr bwMode="auto">
            <a:xfrm flipV="1">
              <a:off x="510" y="5316"/>
              <a:ext cx="0" cy="16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2" name="Line 40"/>
            <p:cNvSpPr>
              <a:spLocks noChangeShapeType="1"/>
            </p:cNvSpPr>
            <p:nvPr/>
          </p:nvSpPr>
          <p:spPr bwMode="auto">
            <a:xfrm>
              <a:off x="510" y="5259"/>
              <a:ext cx="6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3" name="Line 41"/>
            <p:cNvSpPr>
              <a:spLocks noChangeShapeType="1"/>
            </p:cNvSpPr>
            <p:nvPr/>
          </p:nvSpPr>
          <p:spPr bwMode="auto">
            <a:xfrm>
              <a:off x="4158" y="4290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4" name="Line 42"/>
            <p:cNvSpPr>
              <a:spLocks noChangeShapeType="1"/>
            </p:cNvSpPr>
            <p:nvPr/>
          </p:nvSpPr>
          <p:spPr bwMode="auto">
            <a:xfrm flipH="1">
              <a:off x="510" y="4575"/>
              <a:ext cx="36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5" name="Line 43"/>
            <p:cNvSpPr>
              <a:spLocks noChangeShapeType="1"/>
            </p:cNvSpPr>
            <p:nvPr/>
          </p:nvSpPr>
          <p:spPr bwMode="auto">
            <a:xfrm>
              <a:off x="510" y="4575"/>
              <a:ext cx="0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6" name="Line 44"/>
            <p:cNvSpPr>
              <a:spLocks noChangeShapeType="1"/>
            </p:cNvSpPr>
            <p:nvPr/>
          </p:nvSpPr>
          <p:spPr bwMode="auto">
            <a:xfrm>
              <a:off x="510" y="4917"/>
              <a:ext cx="6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9917" name="Text Box 45"/>
            <p:cNvSpPr txBox="1">
              <a:spLocks noChangeArrowheads="1"/>
            </p:cNvSpPr>
            <p:nvPr/>
          </p:nvSpPr>
          <p:spPr bwMode="auto">
            <a:xfrm>
              <a:off x="6096" y="6399"/>
              <a:ext cx="684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С</a:t>
              </a:r>
              <a:r>
                <a:rPr lang="ru-RU" sz="1200" baseline="-25000"/>
                <a:t>3</a:t>
              </a:r>
              <a:endParaRPr lang="ru-RU"/>
            </a:p>
          </p:txBody>
        </p:sp>
        <p:sp>
          <p:nvSpPr>
            <p:cNvPr id="79918" name="Text Box 46"/>
            <p:cNvSpPr txBox="1">
              <a:spLocks noChangeArrowheads="1"/>
            </p:cNvSpPr>
            <p:nvPr/>
          </p:nvSpPr>
          <p:spPr bwMode="auto">
            <a:xfrm>
              <a:off x="5868" y="5145"/>
              <a:ext cx="684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С</a:t>
              </a:r>
              <a:r>
                <a:rPr lang="ru-RU" sz="1200" baseline="-25000"/>
                <a:t>2</a:t>
              </a:r>
              <a:endParaRPr lang="ru-RU"/>
            </a:p>
          </p:txBody>
        </p:sp>
        <p:sp>
          <p:nvSpPr>
            <p:cNvPr id="79919" name="Text Box 47"/>
            <p:cNvSpPr txBox="1">
              <a:spLocks noChangeArrowheads="1"/>
            </p:cNvSpPr>
            <p:nvPr/>
          </p:nvSpPr>
          <p:spPr bwMode="auto">
            <a:xfrm>
              <a:off x="5298" y="4176"/>
              <a:ext cx="684" cy="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000"/>
                <a:t>С</a:t>
              </a:r>
              <a:r>
                <a:rPr lang="ru-RU" sz="1000" baseline="-25000"/>
                <a:t>1</a:t>
              </a:r>
              <a:endParaRPr lang="ru-RU"/>
            </a:p>
          </p:txBody>
        </p:sp>
      </p:grpSp>
      <p:sp>
        <p:nvSpPr>
          <p:cNvPr id="7987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52624" y="5157192"/>
            <a:ext cx="8461375" cy="1500188"/>
          </a:xfrm>
        </p:spPr>
        <p:txBody>
          <a:bodyPr/>
          <a:lstStyle/>
          <a:p>
            <a:pPr marL="0" indent="361950" algn="just" eaLnBrk="1" hangingPunct="1">
              <a:lnSpc>
                <a:spcPct val="80000"/>
              </a:lnSpc>
              <a:buFontTx/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Значения средних битов каждого из регистров являются входами блока синхронизации . Выходы блока синхронизации  управляют соответствующими регистрами, конкретно сдвигами. Каждый из регистров при получении битов ПСП может либо сдвигать информацию, либо не сдвигать. Этим и управляет блок синхронизации. Блок синхронизации работает таким образом, что каждый раз сдвигаем 2 или 3 регистра.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971600" y="116632"/>
            <a:ext cx="7391400" cy="563563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Скремблирование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908246" y="764704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Скремблирование — это обратимое преобразование цифрового потока без изменения скорости передачи с целью получения свойств, близких к свойствам случайной последовательности.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33" y="1769986"/>
            <a:ext cx="8784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синхронной передачи двоичный сигнал должен удовлетворять двум основным требованиям: </a:t>
            </a:r>
          </a:p>
          <a:p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частота смены символов (1, 0) должна обеспечивать надежное выделение тактовой частоты непосредственно из принимаемого сигнала; 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спектральная плотность мощности передаваемого сигнала должна быть, по возможности, постоянной и сосредоточенной в заданной области частот с целью снижения взаимного влияния каналов.</a:t>
            </a: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355309"/>
            <a:ext cx="73056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91680" y="6277663"/>
            <a:ext cx="676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Схема включения скремблера и </a:t>
            </a:r>
            <a:r>
              <a:rPr lang="ru-RU" dirty="0" err="1"/>
              <a:t>дескремблера</a:t>
            </a:r>
            <a:r>
              <a:rPr lang="ru-RU" dirty="0"/>
              <a:t> в канал связи</a:t>
            </a:r>
          </a:p>
        </p:txBody>
      </p:sp>
    </p:spTree>
    <p:extLst>
      <p:ext uri="{BB962C8B-B14F-4D97-AF65-F5344CB8AC3E}">
        <p14:creationId xmlns:p14="http://schemas.microsoft.com/office/powerpoint/2010/main" val="18391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3687EC-227E-E7E0-65C1-62E212313BC0}"/>
              </a:ext>
            </a:extLst>
          </p:cNvPr>
          <p:cNvSpPr txBox="1"/>
          <p:nvPr/>
        </p:nvSpPr>
        <p:spPr>
          <a:xfrm>
            <a:off x="107504" y="332656"/>
            <a:ext cx="87484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Скремблирование — это обратимое преобразование цифрового потока без изменения скорости передачи с целью получения свойств, близких к свойствам случайной</a:t>
            </a:r>
            <a:r>
              <a:rPr lang="en-US"/>
              <a:t> </a:t>
            </a:r>
            <a:r>
              <a:rPr lang="ru-RU"/>
              <a:t>последовательности</a:t>
            </a:r>
            <a:r>
              <a:rPr lang="ru-RU" dirty="0"/>
              <a:t>. Исходное сообщение можно</a:t>
            </a:r>
          </a:p>
          <a:p>
            <a:r>
              <a:rPr lang="ru-RU" dirty="0"/>
              <a:t>восстановить, применив обратный алгоритм. Применительно</a:t>
            </a:r>
          </a:p>
          <a:p>
            <a:r>
              <a:rPr lang="ru-RU" dirty="0"/>
              <a:t>К телекоммуникационным системам скремблирование повышает надежность синхронизации устройств, подключенных к линии связи, и уменьшает уровень помех, излучаемых на соседние линии многожильного кабеля. Есть и иная область применения скремблеров — защита передаваемой информации от несанкционированного доступа.</a:t>
            </a:r>
          </a:p>
          <a:p>
            <a:r>
              <a:rPr lang="ru-RU" dirty="0"/>
              <a:t>Для синхронной передачи двоичный сигнал должен удовлетворять двум</a:t>
            </a:r>
          </a:p>
          <a:p>
            <a:r>
              <a:rPr lang="ru-RU" dirty="0"/>
              <a:t>основным требованиям:</a:t>
            </a:r>
          </a:p>
          <a:p>
            <a:endParaRPr lang="ru-RU" dirty="0"/>
          </a:p>
          <a:p>
            <a:r>
              <a:rPr lang="ru-RU" dirty="0"/>
              <a:t>1. частота смены символов (1, 0) должна обеспечивать надежное</a:t>
            </a:r>
          </a:p>
          <a:p>
            <a:r>
              <a:rPr lang="ru-RU" dirty="0"/>
              <a:t>выделение тактовой частоты непосредственно из принимаемого сигнала;</a:t>
            </a:r>
          </a:p>
          <a:p>
            <a:r>
              <a:rPr lang="ru-RU" dirty="0"/>
              <a:t>2. спектральная плотность мощности передаваемого сигнала должна</a:t>
            </a:r>
          </a:p>
          <a:p>
            <a:r>
              <a:rPr lang="ru-RU" dirty="0"/>
              <a:t>быть, по возможности, постоянной и сосредоточенной в заданной области частот с целью снижения взаимного влияния каналов.</a:t>
            </a:r>
          </a:p>
          <a:p>
            <a:r>
              <a:rPr lang="ru-RU" dirty="0"/>
              <a:t>Скремблирование широко применяется во многих видах систем связи для</a:t>
            </a:r>
          </a:p>
          <a:p>
            <a:r>
              <a:rPr lang="ru-RU" dirty="0"/>
              <a:t>улучшения статистических</a:t>
            </a:r>
          </a:p>
          <a:p>
            <a:r>
              <a:rPr lang="ru-RU" dirty="0"/>
              <a:t>статистических свойств сигнала.</a:t>
            </a:r>
          </a:p>
        </p:txBody>
      </p:sp>
    </p:spTree>
    <p:extLst>
      <p:ext uri="{BB962C8B-B14F-4D97-AF65-F5344CB8AC3E}">
        <p14:creationId xmlns:p14="http://schemas.microsoft.com/office/powerpoint/2010/main" val="3389688547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169gl">
  <a:themeElements>
    <a:clrScheme name="Тема Office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Тема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Тема Office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cdb2004169gl</Template>
  <TotalTime>756</TotalTime>
  <Words>1367</Words>
  <Application>Microsoft Office PowerPoint</Application>
  <PresentationFormat>Экран (4:3)</PresentationFormat>
  <Paragraphs>119</Paragraphs>
  <Slides>15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Times New Roman</vt:lpstr>
      <vt:lpstr>Wingdings</vt:lpstr>
      <vt:lpstr>cdb2004169gl</vt:lpstr>
      <vt:lpstr>Image</vt:lpstr>
      <vt:lpstr>Equation</vt:lpstr>
      <vt:lpstr>Поточные шифры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Поточные шифры</vt:lpstr>
      <vt:lpstr>Поточные шифры</vt:lpstr>
      <vt:lpstr>Регистр сдвига с линейной обратной связью (LFSR)</vt:lpstr>
      <vt:lpstr>Презентация PowerPoint</vt:lpstr>
      <vt:lpstr>Шифр А5</vt:lpstr>
      <vt:lpstr>Шифр А5 (2)</vt:lpstr>
      <vt:lpstr>Скремблирование</vt:lpstr>
      <vt:lpstr>Презентация PowerPoint</vt:lpstr>
    </vt:vector>
  </TitlesOfParts>
  <Company>БИТ ТТИ ЮФУ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КРИПТОГРАФИЧЕСКИЕ МЕТОДЫ И СРЕДСТВА ОБЕСПЕЧЕНИЯ ИНФОРМАЦИОННОЙ БЕЗОПАСНОСТИ</dc:title>
  <dc:creator>Jekki</dc:creator>
  <cp:lastModifiedBy>Ковалец ПК</cp:lastModifiedBy>
  <cp:revision>60</cp:revision>
  <dcterms:created xsi:type="dcterms:W3CDTF">2010-06-07T10:18:35Z</dcterms:created>
  <dcterms:modified xsi:type="dcterms:W3CDTF">2025-12-10T12:25:49Z</dcterms:modified>
</cp:coreProperties>
</file>