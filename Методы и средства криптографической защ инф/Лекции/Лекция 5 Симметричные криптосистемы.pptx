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72" r:id="rId5"/>
    <p:sldId id="276" r:id="rId6"/>
    <p:sldId id="271" r:id="rId7"/>
    <p:sldId id="273" r:id="rId8"/>
    <p:sldId id="275" r:id="rId9"/>
    <p:sldId id="261" r:id="rId10"/>
    <p:sldId id="262" r:id="rId11"/>
    <p:sldId id="260" r:id="rId12"/>
    <p:sldId id="264" r:id="rId13"/>
    <p:sldId id="269" r:id="rId14"/>
  </p:sldIdLst>
  <p:sldSz cx="12192000" cy="6858000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-756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4B49BE8-2092-4407-B1E7-AB19CA09CC68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ru-RU" noProof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DA34CAC8-4FF5-4E76-979B-3683D8AFCD7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4429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 smtClean="0"/>
          </a:p>
        </p:txBody>
      </p:sp>
      <p:sp>
        <p:nvSpPr>
          <p:cNvPr id="2765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2A5F9785-758A-47C8-844B-C4EFEC886498}" type="slidenum">
              <a:rPr lang="ru-RU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13</a:t>
            </a:fld>
            <a:endParaRPr lang="ru-RU">
              <a:cs typeface="Arial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B8BF4E-5093-45E2-BE9F-4A03CEA77ADD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B80DE8-A04F-4F7E-B528-123E197D5BA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0357D2-E087-4D19-BE1C-1A746682D3A2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292084-29B3-46E2-9BE2-88B3670CB07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A8B97E-28D7-47D3-8BEB-4690006F2B18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15F393-2D8D-4A91-A7A5-BA628B2D198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3E418B-5D71-430A-A842-F40BCCE528D7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4B7B5B-9F2D-4C9A-A626-076DD8FB7D8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F72A6D-714B-410C-8B65-8D6E7AB4AAD4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38062E-6249-4893-A46C-8AE341A9B40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0B9F40-F93A-45E2-826C-541634B941B2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F5B2EE-7F89-42A3-961D-BD7C53A894B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D35056-90FB-4416-AC5F-AF3C1D047914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E9458F-501F-4B04-9796-7B1421126E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A3014D-4A48-4920-9A6D-A838EC417FA5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F7F5A9-83F0-4C65-8B09-920FE8C4BBC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C19836-F6D1-41A5-AB8B-73DDFD209BF4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3961CB-C2CA-4690-A38B-4EE5CBF7958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EEC98F-46C4-4E5B-94C4-F852844646B1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D5A835-AEDD-427C-90A3-5C64F2117BA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F7C32-F120-40DB-A96E-62F54D93108F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D8D5A8-C0AB-478F-B9FD-9B539C167DF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FAD9F40-CFC7-4E1E-9D33-0E03960EA65D}" type="datetimeFigureOut">
              <a:rPr lang="ru-RU"/>
              <a:pPr>
                <a:defRPr/>
              </a:pPr>
              <a:t>07.10.2021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CAF37C2-252D-44B3-A4B8-9D6774F3D82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541876"/>
            <a:ext cx="9144000" cy="1655762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4400" dirty="0">
                <a:solidFill>
                  <a:schemeClr val="accent1">
                    <a:lumMod val="50000"/>
                  </a:schemeClr>
                </a:solidFill>
              </a:rPr>
              <a:t>Симметричные </a:t>
            </a:r>
            <a:r>
              <a:rPr lang="ru-RU" sz="4400" dirty="0" smtClean="0">
                <a:solidFill>
                  <a:schemeClr val="accent1">
                    <a:lumMod val="50000"/>
                  </a:schemeClr>
                </a:solidFill>
              </a:rPr>
              <a:t>криптосистемы</a:t>
            </a:r>
            <a:endParaRPr lang="ru-RU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9"/>
          <p:cNvSpPr txBox="1">
            <a:spLocks noChangeArrowheads="1"/>
          </p:cNvSpPr>
          <p:nvPr/>
        </p:nvSpPr>
        <p:spPr bwMode="auto">
          <a:xfrm>
            <a:off x="242888" y="203200"/>
            <a:ext cx="11680825" cy="5800725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/>
          <a:p>
            <a:pPr eaLnBrk="0" hangingPunct="0"/>
            <a:endParaRPr lang="ru-RU" sz="2800" dirty="0"/>
          </a:p>
          <a:p>
            <a:pPr eaLnBrk="0" hangingPunct="0"/>
            <a:r>
              <a:rPr lang="ru-RU" sz="2800" dirty="0">
                <a:latin typeface="Calibri" pitchFamily="34" charset="0"/>
              </a:rPr>
              <a:t>Симметричное шифрование, которое еще называют традиционным шифрованием, или шифрованием с одним ключом, до изобретения шифрования с открытым ключом было единственным методом шифрования. </a:t>
            </a:r>
            <a:endParaRPr lang="ru-RU" sz="2800" dirty="0"/>
          </a:p>
          <a:p>
            <a:pPr eaLnBrk="0" hangingPunct="0"/>
            <a:endParaRPr lang="ru-RU" sz="2800" dirty="0"/>
          </a:p>
          <a:p>
            <a:pPr eaLnBrk="0" hangingPunct="0"/>
            <a:r>
              <a:rPr lang="ru-RU" sz="2800" dirty="0">
                <a:latin typeface="Calibri" pitchFamily="34" charset="0"/>
              </a:rPr>
              <a:t>Шифрование с секретным ключом впервые было описано в открытой литературе в</a:t>
            </a:r>
            <a:r>
              <a:rPr lang="ru-RU" sz="2800" dirty="0"/>
              <a:t> </a:t>
            </a:r>
            <a:r>
              <a:rPr lang="ru-RU" sz="2800" dirty="0">
                <a:latin typeface="Calibri" pitchFamily="34" charset="0"/>
              </a:rPr>
              <a:t>1976 г., когда в США был утвержден стандарт шифрования данных </a:t>
            </a:r>
            <a:r>
              <a:rPr lang="en-US" sz="2800" dirty="0">
                <a:latin typeface="Calibri" pitchFamily="34" charset="0"/>
              </a:rPr>
              <a:t>DES</a:t>
            </a:r>
            <a:r>
              <a:rPr lang="ru-RU" sz="2800" dirty="0">
                <a:latin typeface="Calibri" pitchFamily="34" charset="0"/>
              </a:rPr>
              <a:t> (</a:t>
            </a:r>
            <a:r>
              <a:rPr lang="en-US" sz="2800" dirty="0">
                <a:latin typeface="Calibri" pitchFamily="34" charset="0"/>
              </a:rPr>
              <a:t>Data</a:t>
            </a:r>
            <a:r>
              <a:rPr lang="ru-RU" sz="2800" dirty="0"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Encryption</a:t>
            </a:r>
            <a:r>
              <a:rPr lang="ru-RU" sz="2800" dirty="0">
                <a:latin typeface="Calibri" pitchFamily="34" charset="0"/>
              </a:rPr>
              <a:t> </a:t>
            </a:r>
            <a:r>
              <a:rPr lang="en-US" sz="2800" dirty="0">
                <a:latin typeface="Calibri" pitchFamily="34" charset="0"/>
              </a:rPr>
              <a:t>Standard</a:t>
            </a:r>
            <a:r>
              <a:rPr lang="ru-RU" sz="2800" dirty="0">
                <a:latin typeface="Calibri" pitchFamily="34" charset="0"/>
              </a:rPr>
              <a:t>). Этот стандарт использовался довольно длительное время (более 20 лет), пока в</a:t>
            </a:r>
            <a:r>
              <a:rPr lang="ru-RU" sz="2800" dirty="0"/>
              <a:t> </a:t>
            </a:r>
            <a:r>
              <a:rPr lang="ru-RU" sz="2800" dirty="0">
                <a:latin typeface="Calibri" pitchFamily="34" charset="0"/>
              </a:rPr>
              <a:t>2001 г. не был принят новый стандарт AES (</a:t>
            </a:r>
            <a:r>
              <a:rPr lang="ru-RU" sz="2800" dirty="0" err="1">
                <a:latin typeface="Calibri" pitchFamily="34" charset="0"/>
              </a:rPr>
              <a:t>Advanced</a:t>
            </a:r>
            <a:r>
              <a:rPr lang="ru-RU" sz="2800" dirty="0">
                <a:latin typeface="Calibri" pitchFamily="34" charset="0"/>
              </a:rPr>
              <a:t> </a:t>
            </a:r>
            <a:r>
              <a:rPr lang="ru-RU" sz="2800" dirty="0" err="1">
                <a:latin typeface="Calibri" pitchFamily="34" charset="0"/>
              </a:rPr>
              <a:t>Encryption</a:t>
            </a:r>
            <a:r>
              <a:rPr lang="ru-RU" sz="2800" dirty="0">
                <a:latin typeface="Calibri" pitchFamily="34" charset="0"/>
              </a:rPr>
              <a:t> </a:t>
            </a:r>
            <a:r>
              <a:rPr lang="ru-RU" sz="2800" dirty="0" err="1">
                <a:latin typeface="Calibri" pitchFamily="34" charset="0"/>
              </a:rPr>
              <a:t>Standard</a:t>
            </a:r>
            <a:r>
              <a:rPr lang="ru-RU" sz="2800" dirty="0">
                <a:latin typeface="Calibri" pitchFamily="34" charset="0"/>
              </a:rPr>
              <a:t>), в основу которого лег алгоритм шифрования Rijndael. </a:t>
            </a:r>
            <a:endParaRPr lang="ru-RU" altLang="ru-RU" sz="20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80000"/>
              </a:lnSpc>
            </a:pPr>
            <a:endParaRPr lang="ru-RU" altLang="ru-RU" sz="2400" b="1" dirty="0"/>
          </a:p>
          <a:p>
            <a:pPr>
              <a:lnSpc>
                <a:spcPct val="80000"/>
              </a:lnSpc>
            </a:pPr>
            <a:endParaRPr lang="ru-RU" alt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285750"/>
            <a:ext cx="12192000" cy="4351338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ru-RU" dirty="0" smtClean="0"/>
              <a:t>Для симметричных алгоритмов шифрования характерны следующие свойства: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- использование одного и того же алгоритма как для </a:t>
            </a:r>
            <a:r>
              <a:rPr lang="ru-RU" dirty="0" err="1" smtClean="0"/>
              <a:t>зашифрования</a:t>
            </a:r>
            <a:r>
              <a:rPr lang="ru-RU" dirty="0" smtClean="0"/>
              <a:t>, так и для </a:t>
            </a:r>
            <a:r>
              <a:rPr lang="ru-RU" dirty="0" err="1" smtClean="0"/>
              <a:t>расшифрования</a:t>
            </a:r>
            <a:r>
              <a:rPr lang="ru-RU" dirty="0" smtClean="0"/>
              <a:t> данных;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- использование одного ключа, который является секретным;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- шифрование информации небольшими порциями (блоками); как правило, размер блока кратен 32 битам и составляет 64, 128, 192 или 256 битов.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К современным алгоритмам симметричного шифрования относятся такие шифры, как DES, AES (Rijndael), RC5, ГОСТ 28147-89 и многие другие.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В настоящий момент выделяют два основных способа построения симметричных алгоритмов шифрования: схему Фейстеля и сеть на основе подстановок и перестановок (SPN – </a:t>
            </a:r>
            <a:r>
              <a:rPr lang="ru-RU" dirty="0" err="1" smtClean="0"/>
              <a:t>Substitution-PermutationNetwork</a:t>
            </a:r>
            <a:r>
              <a:rPr lang="ru-RU" dirty="0" smtClean="0"/>
              <a:t>). По схеме Фейстеля построены алгоритмы DES, RC5, ГОСТ 28147-89 и др. Самым ярким представителем использования сети SPN является стандарт AES.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Заголовок 1"/>
          <p:cNvSpPr>
            <a:spLocks noGrp="1"/>
          </p:cNvSpPr>
          <p:nvPr>
            <p:ph type="title"/>
          </p:nvPr>
        </p:nvSpPr>
        <p:spPr>
          <a:xfrm>
            <a:off x="974725" y="-388938"/>
            <a:ext cx="10515600" cy="1325563"/>
          </a:xfrm>
        </p:spPr>
        <p:txBody>
          <a:bodyPr/>
          <a:lstStyle/>
          <a:p>
            <a:pPr algn="ctr"/>
            <a:r>
              <a:rPr lang="ru-RU" b="1" smtClean="0">
                <a:solidFill>
                  <a:schemeClr val="accent1"/>
                </a:solidFill>
              </a:rPr>
              <a:t>Алгоритм блочного шифрования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1673" y="166254"/>
            <a:ext cx="11804072" cy="6539345"/>
          </a:xfrm>
        </p:spPr>
        <p:txBody>
          <a:bodyPr rtlCol="0">
            <a:normAutofit/>
          </a:bodyPr>
          <a:lstStyle/>
          <a:p>
            <a:pPr marL="0" indent="0"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/>
              <a:t> </a:t>
            </a:r>
          </a:p>
          <a:p>
            <a:pPr marL="0" indent="0" algn="just">
              <a:buNone/>
            </a:pPr>
            <a:r>
              <a:rPr lang="ru-RU" dirty="0"/>
              <a:t>В 1971 году Хорст </a:t>
            </a:r>
            <a:r>
              <a:rPr lang="ru-RU" dirty="0" err="1"/>
              <a:t>Фейстель</a:t>
            </a:r>
            <a:r>
              <a:rPr lang="ru-RU" dirty="0"/>
              <a:t> запатентовал два устройства, </a:t>
            </a:r>
            <a:r>
              <a:rPr lang="ru-RU" dirty="0" smtClean="0"/>
              <a:t>реализующих алгоритмы </a:t>
            </a:r>
            <a:r>
              <a:rPr lang="ru-RU" dirty="0"/>
              <a:t>блочного шифрования. Одно устройство </a:t>
            </a:r>
            <a:r>
              <a:rPr lang="ru-RU" dirty="0" smtClean="0"/>
              <a:t>получило название «сеть </a:t>
            </a:r>
            <a:r>
              <a:rPr lang="ru-RU" dirty="0"/>
              <a:t>Фейстеля», а другое – «SP-сеть</a:t>
            </a:r>
            <a:r>
              <a:rPr lang="ru-RU" dirty="0" smtClean="0"/>
              <a:t>».</a:t>
            </a:r>
          </a:p>
          <a:p>
            <a:pPr marL="0" indent="0">
              <a:buNone/>
            </a:pPr>
            <a:r>
              <a:rPr lang="ru-RU" dirty="0" smtClean="0"/>
              <a:t>Сетью </a:t>
            </a:r>
            <a:r>
              <a:rPr lang="ru-RU" dirty="0"/>
              <a:t>Фейстеля называется метод обратимых преобразований </a:t>
            </a:r>
            <a:r>
              <a:rPr lang="ru-RU" dirty="0" smtClean="0"/>
              <a:t>текста, при </a:t>
            </a:r>
            <a:r>
              <a:rPr lang="ru-RU" dirty="0"/>
              <a:t>котором значение, вычисленное от одной из частей текста, </a:t>
            </a:r>
            <a:r>
              <a:rPr lang="ru-RU" dirty="0" smtClean="0"/>
              <a:t>накладывается на </a:t>
            </a:r>
            <a:r>
              <a:rPr lang="ru-RU" dirty="0"/>
              <a:t>другие части. Часто структура сети выполняется таким образом, что </a:t>
            </a:r>
            <a:r>
              <a:rPr lang="ru-RU" dirty="0" smtClean="0"/>
              <a:t>для шифрования </a:t>
            </a:r>
            <a:r>
              <a:rPr lang="ru-RU" dirty="0"/>
              <a:t>и </a:t>
            </a:r>
            <a:r>
              <a:rPr lang="ru-RU" dirty="0" err="1" smtClean="0"/>
              <a:t>расшифрования</a:t>
            </a:r>
            <a:r>
              <a:rPr lang="ru-RU" dirty="0" smtClean="0"/>
              <a:t> </a:t>
            </a:r>
            <a:r>
              <a:rPr lang="ru-RU" dirty="0"/>
              <a:t>используется один и тот же алгоритм – </a:t>
            </a:r>
            <a:r>
              <a:rPr lang="ru-RU" dirty="0" smtClean="0"/>
              <a:t>различие </a:t>
            </a:r>
            <a:r>
              <a:rPr lang="ru-RU" dirty="0"/>
              <a:t>состоит только в порядке </a:t>
            </a:r>
            <a:r>
              <a:rPr lang="ru-RU" dirty="0" smtClean="0"/>
              <a:t>использования ключа</a:t>
            </a:r>
            <a:r>
              <a:rPr lang="ru-RU" dirty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При шифровании </a:t>
            </a:r>
            <a:r>
              <a:rPr lang="ru-RU" dirty="0" smtClean="0"/>
              <a:t>блок открытого </a:t>
            </a:r>
            <a:r>
              <a:rPr lang="ru-RU" dirty="0"/>
              <a:t>текста разбивается на две равные части: правую и левую. </a:t>
            </a:r>
            <a:r>
              <a:rPr lang="ru-RU" dirty="0"/>
              <a:t>Д</a:t>
            </a:r>
            <a:r>
              <a:rPr lang="ru-RU" dirty="0" smtClean="0"/>
              <a:t>лина </a:t>
            </a:r>
            <a:r>
              <a:rPr lang="ru-RU" dirty="0"/>
              <a:t>блока при этом должна быть четной. На каждом цикле одна из </a:t>
            </a:r>
            <a:r>
              <a:rPr lang="ru-RU" dirty="0" smtClean="0"/>
              <a:t>частей </a:t>
            </a:r>
            <a:r>
              <a:rPr lang="ru-RU" dirty="0"/>
              <a:t>подвергается преобразованию при помощи функции f и </a:t>
            </a:r>
            <a:r>
              <a:rPr lang="ru-RU" dirty="0" smtClean="0"/>
              <a:t>вспомогательного </a:t>
            </a:r>
            <a:r>
              <a:rPr lang="ru-RU" dirty="0"/>
              <a:t>ключа </a:t>
            </a:r>
            <a:r>
              <a:rPr lang="ru-RU" dirty="0" err="1"/>
              <a:t>ki</a:t>
            </a:r>
            <a:r>
              <a:rPr lang="ru-RU" dirty="0"/>
              <a:t>, полученного из исходного секретного ключа. Результат </a:t>
            </a:r>
            <a:r>
              <a:rPr lang="ru-RU" dirty="0" smtClean="0"/>
              <a:t>операции </a:t>
            </a:r>
            <a:r>
              <a:rPr lang="ru-RU" dirty="0"/>
              <a:t>суммируется по модулю 2 (операция XOR) с другой частью. Затем </a:t>
            </a:r>
            <a:r>
              <a:rPr lang="ru-RU" dirty="0" smtClean="0"/>
              <a:t>левая и </a:t>
            </a:r>
            <a:r>
              <a:rPr lang="ru-RU" dirty="0"/>
              <a:t>правая части меняются местами.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Заголовок 1"/>
          <p:cNvSpPr>
            <a:spLocks noGrp="1"/>
          </p:cNvSpPr>
          <p:nvPr>
            <p:ph type="title"/>
          </p:nvPr>
        </p:nvSpPr>
        <p:spPr>
          <a:xfrm>
            <a:off x="974725" y="-388938"/>
            <a:ext cx="10515600" cy="1325563"/>
          </a:xfrm>
        </p:spPr>
        <p:txBody>
          <a:bodyPr/>
          <a:lstStyle/>
          <a:p>
            <a:pPr algn="ctr"/>
            <a:r>
              <a:rPr lang="ru-RU" b="1" smtClean="0">
                <a:solidFill>
                  <a:schemeClr val="accent1"/>
                </a:solidFill>
              </a:rPr>
              <a:t>Алгоритм блочного шифрования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21673" y="166254"/>
            <a:ext cx="11804072" cy="6539345"/>
          </a:xfrm>
        </p:spPr>
        <p:txBody>
          <a:bodyPr rtlCol="0">
            <a:normAutofit fontScale="92500" lnSpcReduction="20000"/>
          </a:bodyPr>
          <a:lstStyle/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/>
              <a:t> 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 smtClean="0"/>
              <a:t>Схема Фейстеля, или сеть Фейстеля, была первоначально предложена при разработке алгоритма шифрования Люцифер (</a:t>
            </a:r>
            <a:r>
              <a:rPr lang="ru-RU" dirty="0" err="1" smtClean="0"/>
              <a:t>Lucifer</a:t>
            </a:r>
            <a:r>
              <a:rPr lang="ru-RU" dirty="0" smtClean="0"/>
              <a:t>), который во многом схож со стандартом DES. Схема оказалась настолько удачной, что по такому принципу конструировались практически все блочные шифры до появления алгоритма </a:t>
            </a:r>
            <a:r>
              <a:rPr lang="ru-RU" dirty="0" err="1" smtClean="0"/>
              <a:t>Rijndael</a:t>
            </a:r>
            <a:r>
              <a:rPr lang="ru-RU" dirty="0" smtClean="0"/>
              <a:t>, разработчики которого предложили использовать другой способ построения блочных шифров.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 smtClean="0"/>
              <a:t>В схеме Фейстеля при </a:t>
            </a:r>
            <a:r>
              <a:rPr lang="ru-RU" dirty="0" err="1" smtClean="0"/>
              <a:t>зашифровании</a:t>
            </a:r>
            <a:r>
              <a:rPr lang="ru-RU" dirty="0" smtClean="0"/>
              <a:t>, блок открытого текста разделяется на две равные части – правую и левую, при этом длина исходного блока данных должна быть четной. В каждом цикле одна из частей подвергается преобразованию при помощи функции F и </a:t>
            </a:r>
            <a:r>
              <a:rPr lang="ru-RU" dirty="0" err="1" smtClean="0"/>
              <a:t>подключа</a:t>
            </a:r>
            <a:r>
              <a:rPr lang="ru-RU" dirty="0" smtClean="0"/>
              <a:t> </a:t>
            </a:r>
            <a:r>
              <a:rPr lang="ru-RU" dirty="0" err="1" smtClean="0"/>
              <a:t>Кi</a:t>
            </a:r>
            <a:r>
              <a:rPr lang="ru-RU" dirty="0" smtClean="0"/>
              <a:t>, полученного из исходного секретного ключа К. Результат операции суммируется по модулю 2 (операция XOR) с другой частью. 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 smtClean="0"/>
              <a:t>Затем левая и правая части меняются местами. Общий вид одного цикла алгоритма шифрования, построенного по схеме Фейстеля, представлен на рис. Преобразования в каждом цикле одинаковы, но на последнем не выполняется перестановка. Процедура </a:t>
            </a:r>
            <a:r>
              <a:rPr lang="ru-RU" dirty="0" err="1" smtClean="0"/>
              <a:t>расшифрования</a:t>
            </a:r>
            <a:r>
              <a:rPr lang="ru-RU" dirty="0" smtClean="0"/>
              <a:t> аналогична процедуре </a:t>
            </a:r>
            <a:r>
              <a:rPr lang="ru-RU" dirty="0" err="1" smtClean="0"/>
              <a:t>зашифрования</a:t>
            </a:r>
            <a:r>
              <a:rPr lang="ru-RU" dirty="0" smtClean="0"/>
              <a:t> за тем исключением, что подключи </a:t>
            </a:r>
            <a:r>
              <a:rPr lang="ru-RU" dirty="0" err="1" smtClean="0"/>
              <a:t>ki</a:t>
            </a:r>
            <a:r>
              <a:rPr lang="ru-RU" dirty="0" smtClean="0"/>
              <a:t> выбираются в обратном порядке. Если же при </a:t>
            </a:r>
            <a:r>
              <a:rPr lang="ru-RU" dirty="0" err="1" smtClean="0"/>
              <a:t>зашифровании</a:t>
            </a:r>
            <a:r>
              <a:rPr lang="ru-RU" dirty="0" smtClean="0"/>
              <a:t> в последнем цикле была выполнена перестановка, то </a:t>
            </a:r>
            <a:r>
              <a:rPr lang="ru-RU" dirty="0" err="1" smtClean="0"/>
              <a:t>расшифрование</a:t>
            </a:r>
            <a:r>
              <a:rPr lang="ru-RU" dirty="0" smtClean="0"/>
              <a:t> следует начать с перестановки левой и правой частей блока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dirty="0" smtClean="0"/>
              <a:t>данных.</a:t>
            </a:r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dirty="0" smtClean="0"/>
          </a:p>
          <a:p>
            <a:pPr marL="0" indent="0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4593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Объект 2"/>
          <p:cNvSpPr>
            <a:spLocks noGrp="1"/>
          </p:cNvSpPr>
          <p:nvPr>
            <p:ph idx="1"/>
          </p:nvPr>
        </p:nvSpPr>
        <p:spPr>
          <a:xfrm>
            <a:off x="170762" y="400339"/>
            <a:ext cx="12192000" cy="1782763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ru-RU" dirty="0" smtClean="0"/>
              <a:t>Блочный алгоритм шифрования, использующий описанную конструкцию, является обратимым и гарантирует возможность восстановления входных данных функции F в каждом цикле. Сама функция F не обязательно должна быть обратимой. </a:t>
            </a:r>
          </a:p>
          <a:p>
            <a:pPr marL="0" indent="0">
              <a:buFont typeface="Arial" charset="0"/>
              <a:buNone/>
            </a:pPr>
            <a:endParaRPr lang="ru-RU" dirty="0" smtClean="0"/>
          </a:p>
        </p:txBody>
      </p:sp>
      <p:pic>
        <p:nvPicPr>
          <p:cNvPr id="29698" name="Рисунок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2415" y="2309988"/>
            <a:ext cx="3731601" cy="316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TextBox 4"/>
          <p:cNvSpPr txBox="1">
            <a:spLocks noChangeArrowheads="1"/>
          </p:cNvSpPr>
          <p:nvPr/>
        </p:nvSpPr>
        <p:spPr bwMode="auto">
          <a:xfrm>
            <a:off x="1034254" y="5844093"/>
            <a:ext cx="10465017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ru-RU" sz="2400" dirty="0">
                <a:latin typeface="+mn-lt"/>
                <a:cs typeface="+mn-cs"/>
              </a:rPr>
              <a:t>Рис. Один раунд алгоритма шифрования, построенный по схеме Фейстеля</a:t>
            </a:r>
          </a:p>
          <a:p>
            <a:endParaRPr lang="ru-RU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93965" y="110836"/>
            <a:ext cx="11831781" cy="1995055"/>
          </a:xfrm>
        </p:spPr>
        <p:txBody>
          <a:bodyPr rtlCol="0">
            <a:noAutofit/>
          </a:bodyPr>
          <a:lstStyle/>
          <a:p>
            <a:pPr marL="0" indent="0" algn="just" fontAlgn="auto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ru-RU" sz="2400" dirty="0"/>
              <a:t>Деление исходного шифра на две части может быть заменено делением на четыре, восемь частей и более. Такие алгоритмы шифрования называются производными от схемы Фейстеля. Некоторые современные шифры имеют такую структуру. На рис. показаны пример некоторых модификаций схемы Фейстеля. </a:t>
            </a:r>
          </a:p>
        </p:txBody>
      </p:sp>
      <p:pic>
        <p:nvPicPr>
          <p:cNvPr id="30722" name="Рисунок 3"/>
          <p:cNvPicPr>
            <a:picLocks noChangeAspect="1" noChangeArrowheads="1"/>
          </p:cNvPicPr>
          <p:nvPr/>
        </p:nvPicPr>
        <p:blipFill>
          <a:blip r:embed="rId2"/>
          <a:srcRect b="11188"/>
          <a:stretch>
            <a:fillRect/>
          </a:stretch>
        </p:blipFill>
        <p:spPr bwMode="auto">
          <a:xfrm>
            <a:off x="2814589" y="3144983"/>
            <a:ext cx="6370976" cy="3372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673" y="2479965"/>
            <a:ext cx="11738177" cy="1325563"/>
          </a:xfrm>
        </p:spPr>
        <p:txBody>
          <a:bodyPr/>
          <a:lstStyle/>
          <a:p>
            <a:pPr algn="just"/>
            <a:r>
              <a:rPr lang="ru-RU" sz="2400" dirty="0" smtClean="0">
                <a:latin typeface="+mn-lt"/>
                <a:ea typeface="+mn-ea"/>
                <a:cs typeface="+mn-cs"/>
              </a:rPr>
              <a:t/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>
                <a:latin typeface="+mn-lt"/>
                <a:ea typeface="+mn-ea"/>
                <a:cs typeface="+mn-cs"/>
              </a:rPr>
              <a:t>Разработчики алгоритма </a:t>
            </a:r>
            <a:r>
              <a:rPr lang="ru-RU" sz="2400" dirty="0" err="1">
                <a:latin typeface="+mn-lt"/>
                <a:ea typeface="+mn-ea"/>
                <a:cs typeface="+mn-cs"/>
              </a:rPr>
              <a:t>Rijndael</a:t>
            </a:r>
            <a:r>
              <a:rPr lang="ru-RU" sz="2400" dirty="0">
                <a:latin typeface="+mn-lt"/>
                <a:ea typeface="+mn-ea"/>
                <a:cs typeface="+mn-cs"/>
              </a:rPr>
              <a:t> ушли от общепринятой схемы Фейстеля и организовали свой шифр так, чтобы не разделять шифруемый текст на половинки, а выполнять все преобразования над цельным блоком данных. 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И использовали структуру SPN </a:t>
            </a:r>
            <a:r>
              <a:rPr lang="ru-RU" sz="2400" dirty="0">
                <a:latin typeface="+mn-lt"/>
                <a:ea typeface="+mn-ea"/>
                <a:cs typeface="+mn-cs"/>
              </a:rPr>
              <a:t>или SP-сеть или Сеть на основе подстановок и перестановок</a:t>
            </a:r>
            <a:r>
              <a:rPr lang="ru-RU" sz="2400" dirty="0">
                <a:latin typeface="+mn-lt"/>
                <a:ea typeface="+mn-ea"/>
                <a:cs typeface="+mn-cs"/>
              </a:rPr>
              <a:t>.</a:t>
            </a:r>
            <a:r>
              <a:rPr lang="ru-RU" sz="2400" dirty="0">
                <a:latin typeface="+mn-lt"/>
                <a:ea typeface="+mn-ea"/>
                <a:cs typeface="+mn-cs"/>
              </a:rPr>
              <a:t/>
            </a:r>
            <a:br>
              <a:rPr lang="ru-RU" sz="2400" dirty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>SP-сеть 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(</a:t>
            </a:r>
            <a:r>
              <a:rPr lang="ru-RU" sz="2400" dirty="0" err="1" smtClean="0">
                <a:latin typeface="+mn-lt"/>
                <a:ea typeface="+mn-ea"/>
                <a:cs typeface="+mn-cs"/>
              </a:rPr>
              <a:t>Substitution-Permutation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 </a:t>
            </a:r>
            <a:r>
              <a:rPr lang="ru-RU" sz="2400" dirty="0" err="1" smtClean="0">
                <a:latin typeface="+mn-lt"/>
                <a:ea typeface="+mn-ea"/>
                <a:cs typeface="+mn-cs"/>
              </a:rPr>
              <a:t>network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, подстановочно-</a:t>
            </a:r>
            <a:r>
              <a:rPr lang="ru-RU" sz="2400" dirty="0" err="1" smtClean="0">
                <a:latin typeface="+mn-lt"/>
                <a:ea typeface="+mn-ea"/>
                <a:cs typeface="+mn-cs"/>
              </a:rPr>
              <a:t>перестановоч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-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err="1" smtClean="0">
                <a:latin typeface="+mn-lt"/>
                <a:ea typeface="+mn-ea"/>
                <a:cs typeface="+mn-cs"/>
              </a:rPr>
              <a:t>ная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 сеть) — разновидность блочного шифра. В простейшем варианте пред-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err="1" smtClean="0">
                <a:latin typeface="+mn-lt"/>
                <a:ea typeface="+mn-ea"/>
                <a:cs typeface="+mn-cs"/>
              </a:rPr>
              <a:t>ставляет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 собой «сэндвич» из слоёв двух типов, используемых многократно по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>очереди. Первый тип слоя — P-слой, состоящий из P-блока большой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>разрядности, за ним идёт второй тип слоя — S-слой, представляющий собой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>большое количество S-блоков малой разрядности, потом опять P-слой и т. д.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>В 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настоящее время из алгоритмов на основе SP-сетей широко </a:t>
            </a:r>
            <a:r>
              <a:rPr lang="ru-RU" sz="2400" dirty="0" err="1" smtClean="0">
                <a:latin typeface="+mn-lt"/>
                <a:ea typeface="+mn-ea"/>
                <a:cs typeface="+mn-cs"/>
              </a:rPr>
              <a:t>использу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-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err="1" smtClean="0">
                <a:latin typeface="+mn-lt"/>
                <a:ea typeface="+mn-ea"/>
                <a:cs typeface="+mn-cs"/>
              </a:rPr>
              <a:t>ются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 AES и Кузнечик (ГОСТ Р 34.12-2015</a:t>
            </a:r>
            <a:r>
              <a:rPr lang="ru-RU" sz="2400" dirty="0" smtClean="0">
                <a:latin typeface="+mn-lt"/>
                <a:ea typeface="+mn-ea"/>
                <a:cs typeface="+mn-cs"/>
              </a:rPr>
              <a:t>)</a:t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/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/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 smtClean="0">
                <a:latin typeface="+mn-lt"/>
                <a:ea typeface="+mn-ea"/>
                <a:cs typeface="+mn-cs"/>
              </a:rPr>
              <a:t/>
            </a:r>
            <a:br>
              <a:rPr lang="ru-RU" sz="2400" dirty="0" smtClean="0">
                <a:latin typeface="+mn-lt"/>
                <a:ea typeface="+mn-ea"/>
                <a:cs typeface="+mn-cs"/>
              </a:rPr>
            </a:br>
            <a:r>
              <a:rPr lang="ru-RU" sz="2400" dirty="0">
                <a:latin typeface="+mn-lt"/>
                <a:ea typeface="+mn-ea"/>
                <a:cs typeface="+mn-cs"/>
              </a:rPr>
              <a:t/>
            </a:r>
            <a:br>
              <a:rPr lang="ru-RU" sz="2400" dirty="0">
                <a:latin typeface="+mn-lt"/>
                <a:ea typeface="+mn-ea"/>
                <a:cs typeface="+mn-cs"/>
              </a:rPr>
            </a:br>
            <a:r>
              <a:rPr lang="ru-RU" sz="1800" dirty="0"/>
              <a:t/>
            </a:r>
            <a:br>
              <a:rPr lang="ru-RU" sz="1800" dirty="0"/>
            </a:br>
            <a:r>
              <a:rPr lang="ru-RU" sz="1800" dirty="0" smtClean="0"/>
              <a:t/>
            </a:r>
            <a:br>
              <a:rPr lang="ru-RU" sz="1800" dirty="0" smtClean="0"/>
            </a:br>
            <a:r>
              <a:rPr lang="ru-RU" sz="1800" dirty="0" smtClean="0"/>
              <a:t/>
            </a:r>
            <a:br>
              <a:rPr lang="ru-RU" sz="1800" dirty="0" smtClean="0"/>
            </a:br>
            <a:endParaRPr lang="ru-RU" sz="1800" dirty="0">
              <a:latin typeface="+mn-lt"/>
              <a:ea typeface="+mn-ea"/>
              <a:cs typeface="+mn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2183" y="4211782"/>
            <a:ext cx="5056908" cy="2535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03700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/>
          <p:cNvSpPr>
            <a:spLocks noGrp="1" noChangeArrowheads="1"/>
          </p:cNvSpPr>
          <p:nvPr>
            <p:ph type="title"/>
          </p:nvPr>
        </p:nvSpPr>
        <p:spPr>
          <a:xfrm>
            <a:off x="677863" y="-160338"/>
            <a:ext cx="10515600" cy="1325563"/>
          </a:xfrm>
        </p:spPr>
        <p:txBody>
          <a:bodyPr/>
          <a:lstStyle/>
          <a:p>
            <a:pPr algn="ctr"/>
            <a:r>
              <a:rPr lang="ru-RU" b="1" smtClean="0">
                <a:solidFill>
                  <a:schemeClr val="accent1"/>
                </a:solidFill>
              </a:rPr>
              <a:t>Основы теории К.Шеннона</a:t>
            </a:r>
            <a:r>
              <a:rPr lang="ru-RU" altLang="ru-RU" b="1" smtClean="0">
                <a:solidFill>
                  <a:schemeClr val="accent1"/>
                </a:solidFill>
              </a:rPr>
              <a:t> 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799" y="1165224"/>
            <a:ext cx="11536363" cy="4681393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ru-RU" dirty="0" smtClean="0"/>
              <a:t>Шеннон рассмотрел модель, в которой источник сообщений порождает открытый текст X. Источник ключей генерирует ключ Z. Шифратор преобразовывает открытый текст X с помощью ключа </a:t>
            </a:r>
            <a:r>
              <a:rPr lang="en-US" dirty="0" smtClean="0"/>
              <a:t>Z</a:t>
            </a:r>
            <a:r>
              <a:rPr lang="ru-RU" dirty="0" smtClean="0"/>
              <a:t> в </a:t>
            </a:r>
            <a:r>
              <a:rPr lang="ru-RU" dirty="0" err="1" smtClean="0"/>
              <a:t>шифртекст</a:t>
            </a:r>
            <a:r>
              <a:rPr lang="ru-RU" dirty="0" smtClean="0"/>
              <a:t> Y:  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Y=</a:t>
            </a:r>
            <a:r>
              <a:rPr lang="ru-RU" dirty="0" err="1" smtClean="0"/>
              <a:t>Tz</a:t>
            </a:r>
            <a:r>
              <a:rPr lang="ru-RU" dirty="0" smtClean="0"/>
              <a:t>(X)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Дешифратор, получив зашифрованное сообщение Y, выполняет обратную операцию: 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> X=</a:t>
            </a:r>
            <a:r>
              <a:rPr lang="ru-RU" dirty="0" err="1" smtClean="0"/>
              <a:t>Tz</a:t>
            </a:r>
            <a:r>
              <a:rPr lang="ru-RU" dirty="0" smtClean="0"/>
              <a:t>(-1)(Y)</a:t>
            </a:r>
          </a:p>
          <a:p>
            <a:pPr marL="0" indent="0">
              <a:buFont typeface="Arial" charset="0"/>
              <a:buNone/>
            </a:pPr>
            <a:endParaRPr lang="ru-RU" dirty="0" smtClean="0"/>
          </a:p>
          <a:p>
            <a:pPr marL="0" indent="0">
              <a:buFont typeface="Arial" charset="0"/>
              <a:buNone/>
            </a:pPr>
            <a:r>
              <a:rPr lang="ru-RU" dirty="0" smtClean="0"/>
              <a:t>Модель секретной системы К. Шеннона приведена на рисунке </a:t>
            </a:r>
          </a:p>
          <a:p>
            <a:pPr marL="0" indent="0">
              <a:buFont typeface="Arial" charset="0"/>
              <a:buNone/>
            </a:pPr>
            <a:endParaRPr lang="ru-RU" dirty="0" smtClean="0"/>
          </a:p>
          <a:p>
            <a:pPr marL="0" indent="0">
              <a:buFont typeface="Arial" charset="0"/>
              <a:buNone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Рисунок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82563"/>
            <a:ext cx="10287000" cy="5372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434" name="Прямоугольник 3"/>
          <p:cNvSpPr>
            <a:spLocks noChangeArrowheads="1"/>
          </p:cNvSpPr>
          <p:nvPr/>
        </p:nvSpPr>
        <p:spPr bwMode="auto">
          <a:xfrm>
            <a:off x="3246438" y="5897563"/>
            <a:ext cx="6057900" cy="49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lnSpc>
                <a:spcPct val="115000"/>
              </a:lnSpc>
            </a:pP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Рисунок </a:t>
            </a:r>
            <a:r>
              <a:rPr lang="ru-RU" sz="24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- Модель </a:t>
            </a:r>
            <a:r>
              <a:rPr lang="ru-RU" sz="2400" dirty="0" err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К.Шеннона</a:t>
            </a:r>
            <a:endParaRPr lang="ru-RU" sz="2400" dirty="0">
              <a:latin typeface="Calibri" pitchFamily="34" charset="0"/>
              <a:ea typeface="Calibri" pitchFamily="34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0500" y="68263"/>
            <a:ext cx="12001500" cy="4229100"/>
          </a:xfrm>
        </p:spPr>
        <p:txBody>
          <a:bodyPr>
            <a:noAutofit/>
          </a:bodyPr>
          <a:lstStyle/>
          <a:p>
            <a:pPr marL="0" indent="0">
              <a:buFont typeface="Arial" charset="0"/>
              <a:buNone/>
            </a:pPr>
            <a:r>
              <a:rPr lang="ru-RU" dirty="0" smtClean="0"/>
              <a:t>Для определения теоретической секретности Шеннон сформулировал следующие вопросы:</a:t>
            </a:r>
          </a:p>
          <a:p>
            <a:pPr marL="0" indent="0"/>
            <a:r>
              <a:rPr lang="ru-RU" dirty="0" smtClean="0"/>
              <a:t>Насколько устойчива система, если </a:t>
            </a:r>
            <a:r>
              <a:rPr lang="ru-RU" dirty="0" err="1" smtClean="0"/>
              <a:t>криптоаналитик</a:t>
            </a:r>
            <a:r>
              <a:rPr lang="ru-RU" dirty="0" smtClean="0"/>
              <a:t> противника не ограничен временем и обладает всеми необходимыми средствами для анализа криптограмм?</a:t>
            </a:r>
          </a:p>
          <a:p>
            <a:pPr marL="0" indent="0"/>
            <a:r>
              <a:rPr lang="ru-RU" dirty="0" smtClean="0"/>
              <a:t>Имеет ли криптограмма единственное решение?</a:t>
            </a:r>
          </a:p>
          <a:p>
            <a:pPr marL="0" indent="0"/>
            <a:r>
              <a:rPr lang="ru-RU" dirty="0" smtClean="0"/>
              <a:t>Какой объем </a:t>
            </a:r>
            <a:r>
              <a:rPr lang="ru-RU" dirty="0" err="1" smtClean="0"/>
              <a:t>шифртекста</a:t>
            </a:r>
            <a:r>
              <a:rPr lang="ru-RU" dirty="0" smtClean="0"/>
              <a:t> необходимо перехватить </a:t>
            </a:r>
            <a:r>
              <a:rPr lang="ru-RU" dirty="0" err="1" smtClean="0"/>
              <a:t>криптоаналитику</a:t>
            </a:r>
            <a:r>
              <a:rPr lang="ru-RU" dirty="0" smtClean="0"/>
              <a:t>, чтобы решение стало единственным?</a:t>
            </a:r>
          </a:p>
          <a:p>
            <a:pPr marL="0" indent="0" algn="just">
              <a:lnSpc>
                <a:spcPct val="80000"/>
              </a:lnSpc>
            </a:pPr>
            <a:endParaRPr lang="ru-RU" altLang="ru-RU" b="1" i="1" dirty="0" smtClean="0">
              <a:solidFill>
                <a:schemeClr val="accent1"/>
              </a:solidFill>
            </a:endParaRPr>
          </a:p>
          <a:p>
            <a:pPr marL="0" indent="0" algn="just">
              <a:lnSpc>
                <a:spcPct val="80000"/>
              </a:lnSpc>
              <a:buFont typeface="Arial" charset="0"/>
              <a:buNone/>
            </a:pPr>
            <a:r>
              <a:rPr lang="ru-RU" dirty="0" smtClean="0"/>
              <a:t>Для ответа на эти вопросы Шеннон ввел понятие совершенной секретности с помощью следующего условия: </a:t>
            </a:r>
          </a:p>
          <a:p>
            <a:pPr marL="0" indent="0" algn="just">
              <a:lnSpc>
                <a:spcPct val="80000"/>
              </a:lnSpc>
              <a:buFont typeface="Arial" charset="0"/>
              <a:buNone/>
            </a:pPr>
            <a:r>
              <a:rPr lang="ru-RU" dirty="0" smtClean="0"/>
              <a:t>для всех зашифрованных сообщений</a:t>
            </a:r>
            <a:r>
              <a:rPr lang="ru-RU" dirty="0" smtClean="0">
                <a:latin typeface="Arial" charset="0"/>
              </a:rPr>
              <a:t>, </a:t>
            </a:r>
            <a:r>
              <a:rPr lang="ru-RU" dirty="0" smtClean="0"/>
              <a:t> апостериорные вероятности равны априорным вероятностям, то есть перехват зашифрованного сообщения не дает </a:t>
            </a:r>
            <a:r>
              <a:rPr lang="ru-RU" dirty="0" err="1" smtClean="0"/>
              <a:t>криптоаналитику</a:t>
            </a:r>
            <a:r>
              <a:rPr lang="ru-RU" dirty="0" smtClean="0"/>
              <a:t> противника никакой информации.</a:t>
            </a:r>
            <a:endParaRPr lang="ru-RU" altLang="ru-RU" b="1" i="1" dirty="0" smtClean="0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12131675" cy="4633913"/>
          </a:xfrm>
        </p:spPr>
        <p:txBody>
          <a:bodyPr/>
          <a:lstStyle/>
          <a:p>
            <a:pPr marL="0" indent="0">
              <a:buFont typeface="Arial" charset="0"/>
              <a:buNone/>
            </a:pPr>
            <a:r>
              <a:rPr lang="ru-RU" dirty="0" smtClean="0"/>
              <a:t>По теореме Бейеса </a:t>
            </a:r>
          </a:p>
          <a:p>
            <a:pPr marL="0" indent="0">
              <a:buFont typeface="Arial" charset="0"/>
              <a:buNone/>
            </a:pPr>
            <a:r>
              <a:rPr lang="ru-RU" dirty="0" err="1" smtClean="0"/>
              <a:t>Py</a:t>
            </a:r>
            <a:r>
              <a:rPr lang="ru-RU" dirty="0" smtClean="0"/>
              <a:t>(X)=P(X)</a:t>
            </a:r>
            <a:r>
              <a:rPr lang="ru-RU" dirty="0" err="1" smtClean="0"/>
              <a:t>Px</a:t>
            </a:r>
            <a:r>
              <a:rPr lang="ru-RU" dirty="0" smtClean="0"/>
              <a:t>(Y)/P(Y), </a:t>
            </a:r>
            <a:br>
              <a:rPr lang="ru-RU" dirty="0" smtClean="0"/>
            </a:br>
            <a:r>
              <a:rPr lang="ru-RU" dirty="0" smtClean="0"/>
              <a:t>где P(X) - априорная вероятность сообщения Х; 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Рx</a:t>
            </a:r>
            <a:r>
              <a:rPr lang="ru-RU" dirty="0" smtClean="0"/>
              <a:t>(Y)- условная вероятность криптограммы Y при условии, что выбрано сообщение X, то есть сумма вероятностей всех тех ключей, которые переводят сообщение X в криптограмму Y; 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P(Y) - вероятность получения криптограммы Y; </a:t>
            </a:r>
          </a:p>
          <a:p>
            <a:pPr marL="0" indent="0">
              <a:buFont typeface="Arial" charset="0"/>
              <a:buNone/>
            </a:pP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Рy</a:t>
            </a:r>
            <a:r>
              <a:rPr lang="ru-RU" dirty="0" smtClean="0"/>
              <a:t>(Х)- условная вероятность сообщения X при условии, что перехвачена криптограмма Y.</a:t>
            </a:r>
          </a:p>
          <a:p>
            <a:pPr marL="0" indent="0">
              <a:buFont typeface="Arial" charset="0"/>
              <a:buNone/>
            </a:pPr>
            <a:endParaRPr lang="ru-RU" dirty="0" smtClean="0"/>
          </a:p>
          <a:p>
            <a:pPr marL="0" indent="0">
              <a:buFont typeface="Arial" charset="0"/>
              <a:buNone/>
            </a:pPr>
            <a:r>
              <a:rPr lang="ru-RU" dirty="0" smtClean="0"/>
              <a:t>Для совершенной секретности величины </a:t>
            </a:r>
            <a:r>
              <a:rPr lang="ru-RU" dirty="0" err="1" smtClean="0"/>
              <a:t>Рy</a:t>
            </a:r>
            <a:r>
              <a:rPr lang="ru-RU" dirty="0" smtClean="0"/>
              <a:t>(Х) и Р(Х) должны быть равны для любых X и Y.</a:t>
            </a:r>
          </a:p>
          <a:p>
            <a:pPr marL="0" indent="0">
              <a:buFont typeface="Arial" charset="0"/>
              <a:buNone/>
            </a:pPr>
            <a:endParaRPr lang="ru-RU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7818" y="138545"/>
            <a:ext cx="11857038" cy="7295429"/>
          </a:xfrm>
        </p:spPr>
        <p:txBody>
          <a:bodyPr>
            <a:normAutofit/>
          </a:bodyPr>
          <a:lstStyle/>
          <a:p>
            <a:pPr marL="0" indent="0">
              <a:lnSpc>
                <a:spcPct val="70000"/>
              </a:lnSpc>
              <a:buFont typeface="Arial" charset="0"/>
              <a:buNone/>
            </a:pPr>
            <a:endParaRPr lang="ru-RU" sz="2200" b="1" i="1" dirty="0" smtClean="0"/>
          </a:p>
          <a:p>
            <a:pPr marL="0" indent="0">
              <a:lnSpc>
                <a:spcPct val="70000"/>
              </a:lnSpc>
              <a:buFont typeface="Arial" charset="0"/>
              <a:buNone/>
            </a:pPr>
            <a:r>
              <a:rPr lang="ru-RU" dirty="0" smtClean="0"/>
              <a:t>Для определения практической секретности Шеннон сформулировал вопрос: </a:t>
            </a:r>
          </a:p>
          <a:p>
            <a:pPr marL="0" indent="0">
              <a:lnSpc>
                <a:spcPct val="70000"/>
              </a:lnSpc>
              <a:buFont typeface="Arial" charset="0"/>
              <a:buNone/>
            </a:pPr>
            <a:r>
              <a:rPr lang="ru-RU" dirty="0" smtClean="0"/>
              <a:t>надежна ли секретная система, если </a:t>
            </a:r>
            <a:r>
              <a:rPr lang="ru-RU" dirty="0" err="1" smtClean="0"/>
              <a:t>криптоаналитик</a:t>
            </a:r>
            <a:r>
              <a:rPr lang="ru-RU" dirty="0" smtClean="0"/>
              <a:t> противника располагает ограниченным временем и ограниченными возможностями для анализа </a:t>
            </a:r>
            <a:r>
              <a:rPr lang="ru-RU" dirty="0" err="1" smtClean="0"/>
              <a:t>шифртекста</a:t>
            </a:r>
            <a:r>
              <a:rPr lang="ru-RU" dirty="0" smtClean="0"/>
              <a:t>?  </a:t>
            </a:r>
          </a:p>
          <a:p>
            <a:pPr marL="0" indent="0">
              <a:lnSpc>
                <a:spcPct val="70000"/>
              </a:lnSpc>
              <a:buFont typeface="Arial" charset="0"/>
              <a:buNone/>
            </a:pPr>
            <a:endParaRPr lang="ru-RU" dirty="0" smtClean="0"/>
          </a:p>
          <a:p>
            <a:pPr marL="0" indent="0">
              <a:lnSpc>
                <a:spcPct val="70000"/>
              </a:lnSpc>
              <a:buFont typeface="Arial" charset="0"/>
              <a:buNone/>
            </a:pPr>
            <a:r>
              <a:rPr lang="ru-RU" dirty="0" smtClean="0"/>
              <a:t>Шеннон назвал рабочей характеристикой системы средний объем работы W(N), необходимый для определения ключа, если криптограмма содержит N букв. Из этого определения следует, что для создания хорошего шифра необходимо максимизировать минимальный объем работы, который должен проделать </a:t>
            </a:r>
            <a:r>
              <a:rPr lang="ru-RU" dirty="0" err="1" smtClean="0"/>
              <a:t>криптоаналитик</a:t>
            </a:r>
            <a:r>
              <a:rPr lang="ru-RU" dirty="0" smtClean="0"/>
              <a:t> противника для нахождения решения.	</a:t>
            </a:r>
          </a:p>
          <a:p>
            <a:pPr marL="0" indent="0">
              <a:lnSpc>
                <a:spcPct val="70000"/>
              </a:lnSpc>
              <a:buFont typeface="Arial" charset="0"/>
              <a:buNone/>
            </a:pPr>
            <a:endParaRPr lang="ru-RU" dirty="0" smtClean="0"/>
          </a:p>
          <a:p>
            <a:pPr marL="0" indent="0">
              <a:lnSpc>
                <a:spcPct val="70000"/>
              </a:lnSpc>
              <a:buFont typeface="Arial" charset="0"/>
              <a:buNone/>
            </a:pPr>
            <a:r>
              <a:rPr lang="ru-RU" dirty="0" smtClean="0"/>
              <a:t>Для противодействия методам статистического анализа криптограмм Шеннон предложил использовать два метода: рассеивание и перемешивание. В настоящее время известно большое число методов криптографического закрытия данных.</a:t>
            </a:r>
          </a:p>
          <a:p>
            <a:pPr marL="0" indent="0">
              <a:lnSpc>
                <a:spcPct val="70000"/>
              </a:lnSpc>
              <a:buFont typeface="Arial" charset="0"/>
              <a:buNone/>
            </a:pPr>
            <a:r>
              <a:rPr lang="ru-RU" sz="2400" dirty="0" smtClean="0"/>
              <a:t> </a:t>
            </a:r>
          </a:p>
          <a:p>
            <a:pPr marL="0" indent="0">
              <a:lnSpc>
                <a:spcPct val="70000"/>
              </a:lnSpc>
            </a:pPr>
            <a:endParaRPr lang="ru-RU" sz="22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738</TotalTime>
  <Words>517</Words>
  <Application>Microsoft Office PowerPoint</Application>
  <PresentationFormat>Произвольный</PresentationFormat>
  <Paragraphs>57</Paragraphs>
  <Slides>13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Презентация PowerPoint</vt:lpstr>
      <vt:lpstr>Презентация PowerPoint</vt:lpstr>
      <vt:lpstr>Презентация PowerPoint</vt:lpstr>
      <vt:lpstr>Алгоритм блочного шифрования</vt:lpstr>
      <vt:lpstr>Алгоритм блочного шифрования</vt:lpstr>
      <vt:lpstr>Презентация PowerPoint</vt:lpstr>
      <vt:lpstr>Презентация PowerPoint</vt:lpstr>
      <vt:lpstr> Разработчики алгоритма Rijndael ушли от общепринятой схемы Фейстеля и организовали свой шифр так, чтобы не разделять шифруемый текст на половинки, а выполнять все преобразования над цельным блоком данных. И использовали структуру SPN или SP-сеть или Сеть на основе подстановок и перестановок. SP-сеть (Substitution-Permutation network, подстановочно-перестановоч- ная сеть) — разновидность блочного шифра. В простейшем варианте пред- ставляет собой «сэндвич» из слоёв двух типов, используемых многократно по очереди. Первый тип слоя — P-слой, состоящий из P-блока большой разрядности, за ним идёт второй тип слоя — S-слой, представляющий собой большое количество S-блоков малой разрядности, потом опять P-слой и т. д. В настоящее время из алгоритмов на основе SP-сетей широко использу- ются AES и Кузнечик (ГОСТ Р 34.12-2015)        </vt:lpstr>
      <vt:lpstr>Основы теории К.Шеннона 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diakov.net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№ 2</dc:title>
  <dc:creator>RePack by Diakov</dc:creator>
  <cp:lastModifiedBy>admin</cp:lastModifiedBy>
  <cp:revision>28</cp:revision>
  <dcterms:created xsi:type="dcterms:W3CDTF">2016-08-26T08:24:06Z</dcterms:created>
  <dcterms:modified xsi:type="dcterms:W3CDTF">2021-10-07T16:49:57Z</dcterms:modified>
</cp:coreProperties>
</file>